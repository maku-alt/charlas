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5" d="100"/>
          <a:sy n="155" d="100"/>
        </p:scale>
        <p:origin x="4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3CCD570C-8492-4BD9-844B-E9C0CE2D26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7D4B35-B637-4918-8762-6E40A804E2E7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1714500" cy="571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D4258C-E68D-4ED7-BEB6-2213854332B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COMPARTIENDO CONOCIMIENTO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1E7D1D-59DB-4ECF-B5F4-A4F28B02084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6096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Harness Engineering</a:t>
            </a:r>
          </a:p>
          <a:p>
            <a:pPr algn="l">
              <a:def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para equipos de</a:t>
            </a:r>
          </a:p>
          <a:p>
            <a:pPr algn="l">
              <a:def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Data Science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ED14BC-C81F-4EE6-87C2-277C124EAC0E}"/>
              </a:ext>
            </a:extLst>
          </p:cNvPr>
          <p:cNvSpPr>
            <a:spLocks noGrp="1"/>
          </p:cNvSpPr>
          <p:nvPr/>
        </p:nvSpPr>
        <p:spPr>
          <a:xfrm>
            <a:off x="552450" y="3619500"/>
            <a:ext cx="5619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Como pasar de chatear con agentes a operar un sistema confiable para SQL, Python, memoria, revision y verificacion.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C15ED2E-6BB0-4671-B9DD-C2C1912AB8C1}"/>
              </a:ext>
            </a:extLst>
          </p:cNvPr>
          <p:cNvSpPr>
            <a:spLocks noGrp="1"/>
          </p:cNvSpPr>
          <p:nvPr/>
        </p:nvSpPr>
        <p:spPr>
          <a:xfrm>
            <a:off x="7239000" y="876300"/>
            <a:ext cx="4191000" cy="4953000"/>
          </a:xfrm>
          <a:prstGeom prst="rect">
            <a:avLst/>
          </a:prstGeom>
          <a:solidFill>
            <a:srgbClr val="16324F"/>
          </a:solidFill>
          <a:ln w="11430">
            <a:solidFill>
              <a:srgbClr val="35536E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430B7B-BFD9-4D86-AB79-283374F13FA8}"/>
              </a:ext>
            </a:extLst>
          </p:cNvPr>
          <p:cNvSpPr>
            <a:spLocks noGrp="1"/>
          </p:cNvSpPr>
          <p:nvPr/>
        </p:nvSpPr>
        <p:spPr>
          <a:xfrm>
            <a:off x="7581900" y="12001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TESIS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08DB3FD-D7FD-4B5E-80B6-4BDAF47BEAAF}"/>
              </a:ext>
            </a:extLst>
          </p:cNvPr>
          <p:cNvSpPr>
            <a:spLocks noGrp="1"/>
          </p:cNvSpPr>
          <p:nvPr/>
        </p:nvSpPr>
        <p:spPr>
          <a:xfrm>
            <a:off x="7581900" y="1619250"/>
            <a:ext cx="3333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La ventaja real no viene solo del modelo.</a:t>
            </a:r>
          </a:p>
          <a:p>
            <a:pPr algn="l">
              <a:defRPr sz="20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Viene del arnes que controla contexto, tools, memoria y verificacion.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F00475E-FA27-4954-9122-AE927878206A}"/>
              </a:ext>
            </a:extLst>
          </p:cNvPr>
          <p:cNvSpPr>
            <a:spLocks noGrp="1"/>
          </p:cNvSpPr>
          <p:nvPr/>
        </p:nvSpPr>
        <p:spPr>
          <a:xfrm>
            <a:off x="7581900" y="3467100"/>
            <a:ext cx="800100" cy="2667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F191140-187A-4E2F-8246-18798333FB9B}"/>
              </a:ext>
            </a:extLst>
          </p:cNvPr>
          <p:cNvSpPr>
            <a:spLocks noGrp="1"/>
          </p:cNvSpPr>
          <p:nvPr/>
        </p:nvSpPr>
        <p:spPr>
          <a:xfrm>
            <a:off x="7677150" y="3533775"/>
            <a:ext cx="609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MODELO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6E6C05-7499-4968-BEDA-A47565E2E01D}"/>
              </a:ext>
            </a:extLst>
          </p:cNvPr>
          <p:cNvSpPr>
            <a:spLocks noGrp="1"/>
          </p:cNvSpPr>
          <p:nvPr/>
        </p:nvSpPr>
        <p:spPr>
          <a:xfrm>
            <a:off x="8534400" y="35052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motor probabilistico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C22651-AE65-46D2-86CF-DEC528D41F55}"/>
              </a:ext>
            </a:extLst>
          </p:cNvPr>
          <p:cNvSpPr>
            <a:spLocks noGrp="1"/>
          </p:cNvSpPr>
          <p:nvPr/>
        </p:nvSpPr>
        <p:spPr>
          <a:xfrm>
            <a:off x="7581900" y="4019550"/>
            <a:ext cx="800100" cy="2667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C1EAED-8A48-423F-8A18-2A14877F36A6}"/>
              </a:ext>
            </a:extLst>
          </p:cNvPr>
          <p:cNvSpPr>
            <a:spLocks noGrp="1"/>
          </p:cNvSpPr>
          <p:nvPr/>
        </p:nvSpPr>
        <p:spPr>
          <a:xfrm>
            <a:off x="7677150" y="4086225"/>
            <a:ext cx="609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CONTEXTO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DE8CC21-BFE9-439D-9302-B2372B5583B5}"/>
              </a:ext>
            </a:extLst>
          </p:cNvPr>
          <p:cNvSpPr>
            <a:spLocks noGrp="1"/>
          </p:cNvSpPr>
          <p:nvPr/>
        </p:nvSpPr>
        <p:spPr>
          <a:xfrm>
            <a:off x="8534400" y="40576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combustible operativo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D25583C-F0FB-4423-8F84-2ACD46EFE522}"/>
              </a:ext>
            </a:extLst>
          </p:cNvPr>
          <p:cNvSpPr>
            <a:spLocks noGrp="1"/>
          </p:cNvSpPr>
          <p:nvPr/>
        </p:nvSpPr>
        <p:spPr>
          <a:xfrm>
            <a:off x="7581900" y="4572000"/>
            <a:ext cx="800100" cy="2667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CE69A7-7616-4E63-BA24-5C55884B87B8}"/>
              </a:ext>
            </a:extLst>
          </p:cNvPr>
          <p:cNvSpPr>
            <a:spLocks noGrp="1"/>
          </p:cNvSpPr>
          <p:nvPr/>
        </p:nvSpPr>
        <p:spPr>
          <a:xfrm>
            <a:off x="7677150" y="4638675"/>
            <a:ext cx="609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REPO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97BFB28-EC51-4997-8D48-74DAEE5A0F41}"/>
              </a:ext>
            </a:extLst>
          </p:cNvPr>
          <p:cNvSpPr>
            <a:spLocks noGrp="1"/>
          </p:cNvSpPr>
          <p:nvPr/>
        </p:nvSpPr>
        <p:spPr>
          <a:xfrm>
            <a:off x="8534400" y="4610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sistema de trabajo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620A598-1E4E-4477-9FA8-9DC76437D263}"/>
              </a:ext>
            </a:extLst>
          </p:cNvPr>
          <p:cNvSpPr>
            <a:spLocks noGrp="1"/>
          </p:cNvSpPr>
          <p:nvPr/>
        </p:nvSpPr>
        <p:spPr>
          <a:xfrm>
            <a:off x="7581900" y="5124450"/>
            <a:ext cx="800100" cy="2667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97EBFA7-8D28-4867-BA66-A32D4F92B343}"/>
              </a:ext>
            </a:extLst>
          </p:cNvPr>
          <p:cNvSpPr>
            <a:spLocks noGrp="1"/>
          </p:cNvSpPr>
          <p:nvPr/>
        </p:nvSpPr>
        <p:spPr>
          <a:xfrm>
            <a:off x="7677150" y="5191125"/>
            <a:ext cx="609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CHECKS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7EED378-5BAF-45E9-AFD8-42CFFE45F7E8}"/>
              </a:ext>
            </a:extLst>
          </p:cNvPr>
          <p:cNvSpPr>
            <a:spLocks noGrp="1"/>
          </p:cNvSpPr>
          <p:nvPr/>
        </p:nvSpPr>
        <p:spPr>
          <a:xfrm>
            <a:off x="8534400" y="516255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evidencia, no opinion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D78C6F9-6747-4C31-8795-3C666B03DC68}"/>
              </a:ext>
            </a:extLst>
          </p:cNvPr>
          <p:cNvSpPr>
            <a:spLocks noGrp="1"/>
          </p:cNvSpPr>
          <p:nvPr/>
        </p:nvSpPr>
        <p:spPr>
          <a:xfrm>
            <a:off x="552450" y="5848350"/>
            <a:ext cx="619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3C8B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C8B3"/>
                </a:solidFill>
                <a:latin typeface="Aptos"/>
                <a:ea typeface="Aptos"/>
                <a:cs typeface="Aptos"/>
              </a:rPr>
              <a:t>No estamos montando un chatbot. Estamos disenando un sistema alrededor del modelo.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3CBD902-64C3-4473-AFDC-F17A911CB8C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Basado en ambos transcripts, el repo ejemplo y el flujo real descrito por el usuario.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91ADDAE-36CB-498D-8918-8AE1D69120A9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0483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16E37654-63FC-4CDF-B529-84C93C7DE7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 w="0">
            <a:solidFill>
              <a:srgbClr val="F4F0E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7DB2C5-C680-4337-8DBC-1CEB55EEB02A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C75C2A"/>
          </a:solidFill>
          <a:ln w="0">
            <a:solidFill>
              <a:srgbClr val="C75C2A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5972C3-1061-429C-8A3B-36C16A77CD3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EL MITO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7D92CA-AD4F-4978-AECC-765AC8CE12F6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problema no es que falte un modelo mejor. El problema es operar sin arnes.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5FE014-F699-4D6E-A977-3C065730A2B7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5143500" cy="34290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DB14DC6-F63B-4CA6-B4D1-DD2867BFEDD2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 que solemos pensar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67D94C1-9DF7-44DF-A0D8-88A011F60DC2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133350" cy="1333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57353E-5C1E-4534-B41B-C0AD83DCFFD9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419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el agente falla, necesitamos un modelo mas potente.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E5AFA18-854E-402A-9E39-07A899883524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133350" cy="1333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EB795CA-F728-4EC8-B124-38E8185F7619}"/>
              </a:ext>
            </a:extLst>
          </p:cNvPr>
          <p:cNvSpPr>
            <a:spLocks noGrp="1"/>
          </p:cNvSpPr>
          <p:nvPr/>
        </p:nvSpPr>
        <p:spPr>
          <a:xfrm>
            <a:off x="1085850" y="3371850"/>
            <a:ext cx="419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no entiende, metemos mas contexto.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3C46E7C-50B2-4806-9A57-CD3CCAFF30CC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33350" cy="1333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C9E00E-563A-4BCC-9770-6E88F98D9C2D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419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aun asi falla, agregamos mas tools y wrappers.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6B4674E-7B87-4A48-9CB5-6830E411E43B}"/>
              </a:ext>
            </a:extLst>
          </p:cNvPr>
          <p:cNvSpPr>
            <a:spLocks noGrp="1"/>
          </p:cNvSpPr>
          <p:nvPr/>
        </p:nvSpPr>
        <p:spPr>
          <a:xfrm>
            <a:off x="800100" y="4743450"/>
            <a:ext cx="133350" cy="1333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09B2034-9BFC-4557-9EDD-B5815145B972}"/>
              </a:ext>
            </a:extLst>
          </p:cNvPr>
          <p:cNvSpPr>
            <a:spLocks noGrp="1"/>
          </p:cNvSpPr>
          <p:nvPr/>
        </p:nvSpPr>
        <p:spPr>
          <a:xfrm>
            <a:off x="1085850" y="4667250"/>
            <a:ext cx="4191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 produce algo convincente, asumimos que ya esta hecho.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AFC8F36-8436-4116-A242-6F2778CABB93}"/>
              </a:ext>
            </a:extLst>
          </p:cNvPr>
          <p:cNvSpPr>
            <a:spLocks noGrp="1"/>
          </p:cNvSpPr>
          <p:nvPr/>
        </p:nvSpPr>
        <p:spPr>
          <a:xfrm>
            <a:off x="6000750" y="2076450"/>
            <a:ext cx="5619750" cy="34290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1E6DD68-33CA-449F-86BD-8944CE8291E6}"/>
              </a:ext>
            </a:extLst>
          </p:cNvPr>
          <p:cNvSpPr>
            <a:spLocks noGrp="1"/>
          </p:cNvSpPr>
          <p:nvPr/>
        </p:nvSpPr>
        <p:spPr>
          <a:xfrm>
            <a:off x="6229350" y="2305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 que muestran los videos y el repo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F9A7C3D-9D33-4201-A689-4974A85993ED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133350" cy="133350"/>
          </a:xfrm>
          <a:prstGeom prst="rect">
            <a:avLst/>
          </a:prstGeom>
          <a:solidFill>
            <a:srgbClr val="2D6A4F"/>
          </a:solidFill>
          <a:ln w="0">
            <a:solidFill>
              <a:srgbClr val="2D6A4F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D07226E-1D9C-420E-8690-F4A5BB4F8975}"/>
              </a:ext>
            </a:extLst>
          </p:cNvPr>
          <p:cNvSpPr>
            <a:spLocks noGrp="1"/>
          </p:cNvSpPr>
          <p:nvPr/>
        </p:nvSpPr>
        <p:spPr>
          <a:xfrm>
            <a:off x="6534150" y="27241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salto de productividad viene de mejores entornos de ejecucion.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F827B57-9C99-4E5E-864F-F00DAAC4EC24}"/>
              </a:ext>
            </a:extLst>
          </p:cNvPr>
          <p:cNvSpPr>
            <a:spLocks noGrp="1"/>
          </p:cNvSpPr>
          <p:nvPr/>
        </p:nvSpPr>
        <p:spPr>
          <a:xfrm>
            <a:off x="6248400" y="3448050"/>
            <a:ext cx="133350" cy="133350"/>
          </a:xfrm>
          <a:prstGeom prst="rect">
            <a:avLst/>
          </a:prstGeom>
          <a:solidFill>
            <a:srgbClr val="2D6A4F"/>
          </a:solidFill>
          <a:ln w="0">
            <a:solidFill>
              <a:srgbClr val="2D6A4F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CE09BF5-9975-46D5-85E8-DA9F08EC549C}"/>
              </a:ext>
            </a:extLst>
          </p:cNvPr>
          <p:cNvSpPr>
            <a:spLocks noGrp="1"/>
          </p:cNvSpPr>
          <p:nvPr/>
        </p:nvSpPr>
        <p:spPr>
          <a:xfrm>
            <a:off x="6534150" y="33718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Mas contexto no arregla una mala gestion del contexto.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29EFA0E-5FCE-4792-A44B-A18BFEE1D10D}"/>
              </a:ext>
            </a:extLst>
          </p:cNvPr>
          <p:cNvSpPr>
            <a:spLocks noGrp="1"/>
          </p:cNvSpPr>
          <p:nvPr/>
        </p:nvSpPr>
        <p:spPr>
          <a:xfrm>
            <a:off x="6248400" y="4095750"/>
            <a:ext cx="133350" cy="133350"/>
          </a:xfrm>
          <a:prstGeom prst="rect">
            <a:avLst/>
          </a:prstGeom>
          <a:solidFill>
            <a:srgbClr val="2D6A4F"/>
          </a:solidFill>
          <a:ln w="0">
            <a:solidFill>
              <a:srgbClr val="2D6A4F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DC12708-BFC1-4762-8D2D-3DFDA14A1DA0}"/>
              </a:ext>
            </a:extLst>
          </p:cNvPr>
          <p:cNvSpPr>
            <a:spLocks noGrp="1"/>
          </p:cNvSpPr>
          <p:nvPr/>
        </p:nvSpPr>
        <p:spPr>
          <a:xfrm>
            <a:off x="6534150" y="40195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Demasiada tool especializada puede degradar rendimiento y costo.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D49806-CF3A-4DAB-82F2-CA69737C73F1}"/>
              </a:ext>
            </a:extLst>
          </p:cNvPr>
          <p:cNvSpPr>
            <a:spLocks noGrp="1"/>
          </p:cNvSpPr>
          <p:nvPr/>
        </p:nvSpPr>
        <p:spPr>
          <a:xfrm>
            <a:off x="6248400" y="4743450"/>
            <a:ext cx="133350" cy="133350"/>
          </a:xfrm>
          <a:prstGeom prst="rect">
            <a:avLst/>
          </a:prstGeom>
          <a:solidFill>
            <a:srgbClr val="2D6A4F"/>
          </a:solidFill>
          <a:ln w="0">
            <a:solidFill>
              <a:srgbClr val="2D6A4F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C9F7EF8-537A-48E0-AAAE-3663617A60FF}"/>
              </a:ext>
            </a:extLst>
          </p:cNvPr>
          <p:cNvSpPr>
            <a:spLocks noGrp="1"/>
          </p:cNvSpPr>
          <p:nvPr/>
        </p:nvSpPr>
        <p:spPr>
          <a:xfrm>
            <a:off x="6534150" y="4667250"/>
            <a:ext cx="457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 agente no debe decir que termino; debe demostrarlo.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53BF7BB-2FFC-4D57-8A69-D04F8210A15F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11068050" cy="4953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A15A67E-7A9E-40CD-9F4B-C08F298EC56A}"/>
              </a:ext>
            </a:extLst>
          </p:cNvPr>
          <p:cNvSpPr>
            <a:spLocks noGrp="1"/>
          </p:cNvSpPr>
          <p:nvPr/>
        </p:nvSpPr>
        <p:spPr>
          <a:xfrm>
            <a:off x="800100" y="6019800"/>
            <a:ext cx="1066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Para data science, el cambio real es pasar de prompts aislados a sistemas reproducibles.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AA42EA8-F040-4CE1-99B3-B541A55CB798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Sintesis de los dos videos: modelo vs arnes.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5379BBA-D320-4536-B049-AEC0D7553021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857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B22CB3FF-02BB-4D65-A5FD-3A688EAF1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 w="0">
            <a:solidFill>
              <a:srgbClr val="F4F0E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589457-899A-41A2-8C6D-AA50FB3EDA0B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2D6A4F"/>
          </a:solidFill>
          <a:ln w="0">
            <a:solidFill>
              <a:srgbClr val="2D6A4F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0ECAE16-C312-454B-8378-6239ECFF63D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QUE ES EL HARNES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CDB89FC-4874-410E-8118-EADD32360CE7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El arnes encapsula al modelo para volverlo reemplazable, auditable y util.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914B43-DA7C-4A35-908B-10D137E542B3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2286000" cy="2572092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95B5E8-A967-43BC-9F41-E0D514A9E897}"/>
              </a:ext>
            </a:extLst>
          </p:cNvPr>
          <p:cNvSpPr>
            <a:spLocks noGrp="1"/>
          </p:cNvSpPr>
          <p:nvPr/>
        </p:nvSpPr>
        <p:spPr>
          <a:xfrm>
            <a:off x="990600" y="27051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LLM / AGENT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E444002-0D2A-4A34-A848-AC627920BBD4}"/>
              </a:ext>
            </a:extLst>
          </p:cNvPr>
          <p:cNvSpPr>
            <a:spLocks noGrp="1"/>
          </p:cNvSpPr>
          <p:nvPr/>
        </p:nvSpPr>
        <p:spPr>
          <a:xfrm>
            <a:off x="971550" y="3276600"/>
            <a:ext cx="1752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Motor </a:t>
            </a:r>
            <a:r>
              <a:rPr sz="1650" b="0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probabilistico</a:t>
            </a:r>
            <a:r>
              <a:rPr sz="1650" b="0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ctr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Rapido para </a:t>
            </a:r>
            <a:r>
              <a:rPr sz="1650" b="0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generar</a:t>
            </a:r>
            <a:r>
              <a:rPr sz="1650" b="0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ctr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Debil</a:t>
            </a:r>
            <a:r>
              <a:rPr sz="1650" b="0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 para </a:t>
            </a:r>
            <a:r>
              <a:rPr sz="1650" b="0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operar</a:t>
            </a:r>
            <a:r>
              <a:rPr sz="1650" b="0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 solo.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7CED0E-8B48-4B8E-94E3-4607956A41B9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2286000" cy="990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89C496E-D6B0-4033-8271-D585513F36BE}"/>
              </a:ext>
            </a:extLst>
          </p:cNvPr>
          <p:cNvSpPr>
            <a:spLocks noGrp="1"/>
          </p:cNvSpPr>
          <p:nvPr/>
        </p:nvSpPr>
        <p:spPr>
          <a:xfrm>
            <a:off x="3867150" y="2133600"/>
            <a:ext cx="666750" cy="2286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0FA0007-ADC4-4DF2-8856-46B1015AC608}"/>
              </a:ext>
            </a:extLst>
          </p:cNvPr>
          <p:cNvSpPr>
            <a:spLocks noGrp="1"/>
          </p:cNvSpPr>
          <p:nvPr/>
        </p:nvSpPr>
        <p:spPr>
          <a:xfrm>
            <a:off x="3924300" y="218122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CTX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6FEC0B8-5486-49B3-8EDF-688DB9B17A6C}"/>
              </a:ext>
            </a:extLst>
          </p:cNvPr>
          <p:cNvSpPr>
            <a:spLocks noGrp="1"/>
          </p:cNvSpPr>
          <p:nvPr/>
        </p:nvSpPr>
        <p:spPr>
          <a:xfrm>
            <a:off x="3867150" y="24574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6657921-6B2C-4391-9277-73691A38310D}"/>
              </a:ext>
            </a:extLst>
          </p:cNvPr>
          <p:cNvSpPr>
            <a:spLocks noGrp="1"/>
          </p:cNvSpPr>
          <p:nvPr/>
        </p:nvSpPr>
        <p:spPr>
          <a:xfrm>
            <a:off x="3867150" y="268605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Objetivo, reglas, docs, specs y tareas.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D833E26-6555-4BE7-93E4-9AE6FC15874B}"/>
              </a:ext>
            </a:extLst>
          </p:cNvPr>
          <p:cNvSpPr>
            <a:spLocks noGrp="1"/>
          </p:cNvSpPr>
          <p:nvPr/>
        </p:nvSpPr>
        <p:spPr>
          <a:xfrm>
            <a:off x="6343650" y="2000250"/>
            <a:ext cx="2286000" cy="990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6C02D1A-E354-4CE6-8F06-6453C33452A5}"/>
              </a:ext>
            </a:extLst>
          </p:cNvPr>
          <p:cNvSpPr>
            <a:spLocks noGrp="1"/>
          </p:cNvSpPr>
          <p:nvPr/>
        </p:nvSpPr>
        <p:spPr>
          <a:xfrm>
            <a:off x="6496050" y="2133600"/>
            <a:ext cx="666750" cy="2286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0591946-A9DB-4658-9ECF-A4A15341ACEB}"/>
              </a:ext>
            </a:extLst>
          </p:cNvPr>
          <p:cNvSpPr>
            <a:spLocks noGrp="1"/>
          </p:cNvSpPr>
          <p:nvPr/>
        </p:nvSpPr>
        <p:spPr>
          <a:xfrm>
            <a:off x="6553200" y="218122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TOOLS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DEA36F-0BD3-4F57-BF4F-BF41C602EE6F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F48A2C5-2C91-4A1D-8ABB-33926332171E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Busqueda, lectura, tests, navegador.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BB27320-5E62-408F-90CF-7D49FB6E8285}"/>
              </a:ext>
            </a:extLst>
          </p:cNvPr>
          <p:cNvSpPr>
            <a:spLocks noGrp="1"/>
          </p:cNvSpPr>
          <p:nvPr/>
        </p:nvSpPr>
        <p:spPr>
          <a:xfrm>
            <a:off x="8972550" y="2000250"/>
            <a:ext cx="2286000" cy="990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F3CBDFB-E1FD-4207-9EBF-B8BE937183AB}"/>
              </a:ext>
            </a:extLst>
          </p:cNvPr>
          <p:cNvSpPr>
            <a:spLocks noGrp="1"/>
          </p:cNvSpPr>
          <p:nvPr/>
        </p:nvSpPr>
        <p:spPr>
          <a:xfrm>
            <a:off x="9124950" y="2133600"/>
            <a:ext cx="666750" cy="2286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0D0F313-EC81-4D2F-AA4D-43155151C10B}"/>
              </a:ext>
            </a:extLst>
          </p:cNvPr>
          <p:cNvSpPr>
            <a:spLocks noGrp="1"/>
          </p:cNvSpPr>
          <p:nvPr/>
        </p:nvSpPr>
        <p:spPr>
          <a:xfrm>
            <a:off x="9182100" y="218122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MEM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C17438-FBA1-4B51-87BC-8F2C1A6FD08E}"/>
              </a:ext>
            </a:extLst>
          </p:cNvPr>
          <p:cNvSpPr>
            <a:spLocks noGrp="1"/>
          </p:cNvSpPr>
          <p:nvPr/>
        </p:nvSpPr>
        <p:spPr>
          <a:xfrm>
            <a:off x="9124950" y="245745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Memoria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0D93894-7CC3-487B-8C72-626AD04F9DD1}"/>
              </a:ext>
            </a:extLst>
          </p:cNvPr>
          <p:cNvSpPr>
            <a:spLocks noGrp="1"/>
          </p:cNvSpPr>
          <p:nvPr/>
        </p:nvSpPr>
        <p:spPr>
          <a:xfrm>
            <a:off x="9124950" y="268605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Estado fuera del chat y progreso persistente.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FBDE951-5186-47AA-85A8-F713F5B98541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2286000" cy="990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20FDF4D-E927-4A56-9898-6082C04D2F7A}"/>
              </a:ext>
            </a:extLst>
          </p:cNvPr>
          <p:cNvSpPr>
            <a:spLocks noGrp="1"/>
          </p:cNvSpPr>
          <p:nvPr/>
        </p:nvSpPr>
        <p:spPr>
          <a:xfrm>
            <a:off x="5181600" y="3562350"/>
            <a:ext cx="666750" cy="2286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4CD8F58-7966-459A-891B-B683B4D6DFD0}"/>
              </a:ext>
            </a:extLst>
          </p:cNvPr>
          <p:cNvSpPr>
            <a:spLocks noGrp="1"/>
          </p:cNvSpPr>
          <p:nvPr/>
        </p:nvSpPr>
        <p:spPr>
          <a:xfrm>
            <a:off x="5238750" y="360997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VERIFY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CD09E09-F17E-454A-B90E-9FB5A972BBFA}"/>
              </a:ext>
            </a:extLst>
          </p:cNvPr>
          <p:cNvSpPr>
            <a:spLocks noGrp="1"/>
          </p:cNvSpPr>
          <p:nvPr/>
        </p:nvSpPr>
        <p:spPr>
          <a:xfrm>
            <a:off x="5181600" y="38862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Verificacion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8B05808-352D-40C8-8CEB-FBC0CFC851D0}"/>
              </a:ext>
            </a:extLst>
          </p:cNvPr>
          <p:cNvSpPr>
            <a:spLocks noGrp="1"/>
          </p:cNvSpPr>
          <p:nvPr/>
        </p:nvSpPr>
        <p:spPr>
          <a:xfrm>
            <a:off x="5181600" y="411480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Reviewer, evals, tests y evidencia.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F2518C7-5618-4B1F-81B7-D9573652D95B}"/>
              </a:ext>
            </a:extLst>
          </p:cNvPr>
          <p:cNvSpPr>
            <a:spLocks noGrp="1"/>
          </p:cNvSpPr>
          <p:nvPr/>
        </p:nvSpPr>
        <p:spPr>
          <a:xfrm>
            <a:off x="7658100" y="3429000"/>
            <a:ext cx="2286000" cy="990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38F6592-A913-4FEF-9922-FC9019B02946}"/>
              </a:ext>
            </a:extLst>
          </p:cNvPr>
          <p:cNvSpPr>
            <a:spLocks noGrp="1"/>
          </p:cNvSpPr>
          <p:nvPr/>
        </p:nvSpPr>
        <p:spPr>
          <a:xfrm>
            <a:off x="7810500" y="3562350"/>
            <a:ext cx="666750" cy="2286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2B6E46E-8CFE-4C41-8382-E38D54F29123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2A43"/>
                </a:solidFill>
                <a:latin typeface="Aptos Mono"/>
                <a:ea typeface="Aptos Mono"/>
                <a:cs typeface="Aptos Mono"/>
              </a:rPr>
              <a:t>ORCH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EADF7E4-4E8D-40EC-9DF1-3B31F85E55F9}"/>
              </a:ext>
            </a:extLst>
          </p:cNvPr>
          <p:cNvSpPr>
            <a:spLocks noGrp="1"/>
          </p:cNvSpPr>
          <p:nvPr/>
        </p:nvSpPr>
        <p:spPr>
          <a:xfrm>
            <a:off x="7810500" y="3886200"/>
            <a:ext cx="1981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Orquestacion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8E173D8-D6E8-4FED-A61A-CCD30F7545E2}"/>
              </a:ext>
            </a:extLst>
          </p:cNvPr>
          <p:cNvSpPr>
            <a:spLocks noGrp="1"/>
          </p:cNvSpPr>
          <p:nvPr/>
        </p:nvSpPr>
        <p:spPr>
          <a:xfrm>
            <a:off x="7810500" y="4114800"/>
            <a:ext cx="1981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Roles, handoffs y subagentes con scope minimo.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2B2CB06B-DB0C-4316-9BDA-E2998499F576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1028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Un buen arnes te deja cambiar el cerebro sin rehacer el sistema.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96A6D54-649A-4903-B574-A092E442E8DF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Idea central del video en espanol: mejores entornos de ejecucion pesan mas que mejores modelos aislados.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99219A3-E3D3-4CE2-9600-409EA14F98B5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26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 36">
            <a:extLst>
              <a:ext uri="{FF2B5EF4-FFF2-40B4-BE49-F238E27FC236}">
                <a16:creationId xmlns:a16="http://schemas.microsoft.com/office/drawing/2014/main" id="{E7F032F7-4B6A-4A46-9B4C-CF22BF3BD9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941DE8B-9BDA-487E-99A7-AE901941D9EB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C75C2A"/>
          </a:solidFill>
          <a:ln w="0">
            <a:solidFill>
              <a:srgbClr val="C75C2A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F99474-2EA0-4956-AB5E-0A2545A716A3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CONTEXT DEVELOPMENT LIFECYCLE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9B4668-9744-4A5A-856D-ED11761BBE12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Si el contexto es el nuevo codigo, tambien necesita ciclo de vida.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D27AAB-F4EA-4691-B3FF-7768F50BF0A1}"/>
              </a:ext>
            </a:extLst>
          </p:cNvPr>
          <p:cNvSpPr>
            <a:spLocks noGrp="1"/>
          </p:cNvSpPr>
          <p:nvPr/>
        </p:nvSpPr>
        <p:spPr>
          <a:xfrm>
            <a:off x="647700" y="2533650"/>
            <a:ext cx="1866900" cy="17716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66F2F8-14FB-490A-9B67-F498036DE971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CB1CE56-6792-4D23-93A0-4E7B2E42DBDA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Generate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EEEFC4-2322-43C0-AF38-DA676224B77E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152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Prompts, AGENTS.md, skills, docs, tasks y specs.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96730DA-25E4-42CE-B0AE-4052AC124A92}"/>
              </a:ext>
            </a:extLst>
          </p:cNvPr>
          <p:cNvSpPr>
            <a:spLocks noGrp="1"/>
          </p:cNvSpPr>
          <p:nvPr/>
        </p:nvSpPr>
        <p:spPr>
          <a:xfrm>
            <a:off x="2895600" y="2533650"/>
            <a:ext cx="1866900" cy="17716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EDFC9F5-2564-456E-9084-B84AE8C794FB}"/>
              </a:ext>
            </a:extLst>
          </p:cNvPr>
          <p:cNvSpPr>
            <a:spLocks noGrp="1"/>
          </p:cNvSpPr>
          <p:nvPr/>
        </p:nvSpPr>
        <p:spPr>
          <a:xfrm>
            <a:off x="3067050" y="27432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5CF220-11B4-4129-8BAD-503D412012CB}"/>
              </a:ext>
            </a:extLst>
          </p:cNvPr>
          <p:cNvSpPr>
            <a:spLocks noGrp="1"/>
          </p:cNvSpPr>
          <p:nvPr/>
        </p:nvSpPr>
        <p:spPr>
          <a:xfrm>
            <a:off x="3067050" y="31242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D51F862-548A-4A83-9130-EA2B7DF7AA57}"/>
              </a:ext>
            </a:extLst>
          </p:cNvPr>
          <p:cNvSpPr>
            <a:spLocks noGrp="1"/>
          </p:cNvSpPr>
          <p:nvPr/>
        </p:nvSpPr>
        <p:spPr>
          <a:xfrm>
            <a:off x="3067050" y="3638550"/>
            <a:ext cx="152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Evals, reviewer, tests y escenarios repetibles.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33A3BF3-6D94-49DA-94B4-9AF75B32F7CF}"/>
              </a:ext>
            </a:extLst>
          </p:cNvPr>
          <p:cNvSpPr>
            <a:spLocks noGrp="1"/>
          </p:cNvSpPr>
          <p:nvPr/>
        </p:nvSpPr>
        <p:spPr>
          <a:xfrm>
            <a:off x="5143500" y="2533650"/>
            <a:ext cx="1866900" cy="17716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759D7D8-A01B-4EA6-8E2A-D4395C9BFEE5}"/>
              </a:ext>
            </a:extLst>
          </p:cNvPr>
          <p:cNvSpPr>
            <a:spLocks noGrp="1"/>
          </p:cNvSpPr>
          <p:nvPr/>
        </p:nvSpPr>
        <p:spPr>
          <a:xfrm>
            <a:off x="5314950" y="27432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09ED9D2-7AFA-4CAF-860A-C90B9847F0EF}"/>
              </a:ext>
            </a:extLst>
          </p:cNvPr>
          <p:cNvSpPr>
            <a:spLocks noGrp="1"/>
          </p:cNvSpPr>
          <p:nvPr/>
        </p:nvSpPr>
        <p:spPr>
          <a:xfrm>
            <a:off x="5314950" y="31242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Distribute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0E3AC0B-8A6E-4360-A6D6-FBDB0655A9A9}"/>
              </a:ext>
            </a:extLst>
          </p:cNvPr>
          <p:cNvSpPr>
            <a:spLocks noGrp="1"/>
          </p:cNvSpPr>
          <p:nvPr/>
        </p:nvSpPr>
        <p:spPr>
          <a:xfrm>
            <a:off x="5314950" y="3638550"/>
            <a:ext cx="152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Repo, paquetes, versionado y reuso por equipo.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6E32951-66E7-41B3-9ECC-AA5465AA1198}"/>
              </a:ext>
            </a:extLst>
          </p:cNvPr>
          <p:cNvSpPr>
            <a:spLocks noGrp="1"/>
          </p:cNvSpPr>
          <p:nvPr/>
        </p:nvSpPr>
        <p:spPr>
          <a:xfrm>
            <a:off x="7391400" y="2533650"/>
            <a:ext cx="1866900" cy="17716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B426D4D-3E14-46F0-916A-1F7B54ED9402}"/>
              </a:ext>
            </a:extLst>
          </p:cNvPr>
          <p:cNvSpPr>
            <a:spLocks noGrp="1"/>
          </p:cNvSpPr>
          <p:nvPr/>
        </p:nvSpPr>
        <p:spPr>
          <a:xfrm>
            <a:off x="7562850" y="27432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E87E199-43FF-473A-937B-9641B0916BEA}"/>
              </a:ext>
            </a:extLst>
          </p:cNvPr>
          <p:cNvSpPr>
            <a:spLocks noGrp="1"/>
          </p:cNvSpPr>
          <p:nvPr/>
        </p:nvSpPr>
        <p:spPr>
          <a:xfrm>
            <a:off x="7562850" y="31242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Observe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8609B74-79E9-4107-9318-3E493839212C}"/>
              </a:ext>
            </a:extLst>
          </p:cNvPr>
          <p:cNvSpPr>
            <a:spLocks noGrp="1"/>
          </p:cNvSpPr>
          <p:nvPr/>
        </p:nvSpPr>
        <p:spPr>
          <a:xfrm>
            <a:off x="7562850" y="3638550"/>
            <a:ext cx="152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Logs, PR feedback, fallas reales y trazas.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BBB57BE-7AA0-4010-A963-09EB40B342BC}"/>
              </a:ext>
            </a:extLst>
          </p:cNvPr>
          <p:cNvSpPr>
            <a:spLocks noGrp="1"/>
          </p:cNvSpPr>
          <p:nvPr/>
        </p:nvSpPr>
        <p:spPr>
          <a:xfrm>
            <a:off x="9639300" y="2533650"/>
            <a:ext cx="1866900" cy="17716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A267FB4-AF75-484A-8B20-F917979583D8}"/>
              </a:ext>
            </a:extLst>
          </p:cNvPr>
          <p:cNvSpPr>
            <a:spLocks noGrp="1"/>
          </p:cNvSpPr>
          <p:nvPr/>
        </p:nvSpPr>
        <p:spPr>
          <a:xfrm>
            <a:off x="9810750" y="27432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AC7F3D6-5B02-4266-B0D6-189260ADEF8F}"/>
              </a:ext>
            </a:extLst>
          </p:cNvPr>
          <p:cNvSpPr>
            <a:spLocks noGrp="1"/>
          </p:cNvSpPr>
          <p:nvPr/>
        </p:nvSpPr>
        <p:spPr>
          <a:xfrm>
            <a:off x="9810750" y="31242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Adapt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A398225-19FB-446E-9B9A-1F44FE5EACAE}"/>
              </a:ext>
            </a:extLst>
          </p:cNvPr>
          <p:cNvSpPr>
            <a:spLocks noGrp="1"/>
          </p:cNvSpPr>
          <p:nvPr/>
        </p:nvSpPr>
        <p:spPr>
          <a:xfrm>
            <a:off x="9810750" y="3638550"/>
            <a:ext cx="152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Ajustar reglas, checks, memoria y prompts.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8142D0E-08FA-4B44-B7EC-E3A90682D65A}"/>
              </a:ext>
            </a:extLst>
          </p:cNvPr>
          <p:cNvSpPr>
            <a:spLocks noGrp="1"/>
          </p:cNvSpPr>
          <p:nvPr/>
        </p:nvSpPr>
        <p:spPr>
          <a:xfrm>
            <a:off x="2514600" y="3352800"/>
            <a:ext cx="304800" cy="571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B9466BA-A1CF-4913-B0B1-4CE8BF8BF255}"/>
              </a:ext>
            </a:extLst>
          </p:cNvPr>
          <p:cNvSpPr>
            <a:spLocks noGrp="1"/>
          </p:cNvSpPr>
          <p:nvPr/>
        </p:nvSpPr>
        <p:spPr>
          <a:xfrm>
            <a:off x="2743200" y="3257550"/>
            <a:ext cx="76200" cy="2476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E9A0681-A81E-474E-B1BF-F54089790811}"/>
              </a:ext>
            </a:extLst>
          </p:cNvPr>
          <p:cNvSpPr>
            <a:spLocks noGrp="1"/>
          </p:cNvSpPr>
          <p:nvPr/>
        </p:nvSpPr>
        <p:spPr>
          <a:xfrm>
            <a:off x="4762500" y="3352800"/>
            <a:ext cx="304800" cy="571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18F77EB-6183-45EA-BD22-FDB52913D26B}"/>
              </a:ext>
            </a:extLst>
          </p:cNvPr>
          <p:cNvSpPr>
            <a:spLocks noGrp="1"/>
          </p:cNvSpPr>
          <p:nvPr/>
        </p:nvSpPr>
        <p:spPr>
          <a:xfrm>
            <a:off x="4991100" y="3257550"/>
            <a:ext cx="76200" cy="2476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A2FFFA0-C26B-431D-86C1-ACE358504BB4}"/>
              </a:ext>
            </a:extLst>
          </p:cNvPr>
          <p:cNvSpPr>
            <a:spLocks noGrp="1"/>
          </p:cNvSpPr>
          <p:nvPr/>
        </p:nvSpPr>
        <p:spPr>
          <a:xfrm>
            <a:off x="7010400" y="3352800"/>
            <a:ext cx="304800" cy="571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4B47BFD-C8FA-4C90-880A-D7729DD1D8F8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76200" cy="2476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3167226-FAD7-4ABF-A223-C3CFF49E5E55}"/>
              </a:ext>
            </a:extLst>
          </p:cNvPr>
          <p:cNvSpPr>
            <a:spLocks noGrp="1"/>
          </p:cNvSpPr>
          <p:nvPr/>
        </p:nvSpPr>
        <p:spPr>
          <a:xfrm>
            <a:off x="9258300" y="3352800"/>
            <a:ext cx="304800" cy="571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6C08EA-3FCA-4E5B-81F2-88A0709724AC}"/>
              </a:ext>
            </a:extLst>
          </p:cNvPr>
          <p:cNvSpPr>
            <a:spLocks noGrp="1"/>
          </p:cNvSpPr>
          <p:nvPr/>
        </p:nvSpPr>
        <p:spPr>
          <a:xfrm>
            <a:off x="9486900" y="3257550"/>
            <a:ext cx="76200" cy="2476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6BE46EC-757D-44F2-BE54-BC7C3A52D71E}"/>
              </a:ext>
            </a:extLst>
          </p:cNvPr>
          <p:cNvSpPr>
            <a:spLocks noGrp="1"/>
          </p:cNvSpPr>
          <p:nvPr/>
        </p:nvSpPr>
        <p:spPr>
          <a:xfrm>
            <a:off x="647700" y="4857750"/>
            <a:ext cx="10858500" cy="895350"/>
          </a:xfrm>
          <a:prstGeom prst="rect">
            <a:avLst/>
          </a:prstGeom>
          <a:solidFill>
            <a:srgbClr val="E7E0D3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6842175-4932-4DAD-B1B4-2E98C895DA03}"/>
              </a:ext>
            </a:extLst>
          </p:cNvPr>
          <p:cNvSpPr>
            <a:spLocks noGrp="1"/>
          </p:cNvSpPr>
          <p:nvPr/>
        </p:nvSpPr>
        <p:spPr>
          <a:xfrm>
            <a:off x="895350" y="5105400"/>
            <a:ext cx="1028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Mensaje para el equipo: si un problema se repite en PRs o logs, no lo discutas diez veces. Mejora el contexto.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00E9FAA-F586-490E-BCF3-A3F72D9C8CF2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Inspirado en la charla de Patrick Debois sobre context lifecycle.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5756A93-D69C-45A7-A637-CB6A8301FD97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01742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F3794B52-62FC-4174-AACC-A7A411AFA0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 w="0">
            <a:solidFill>
              <a:srgbClr val="F4F0E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D45DE02-6F89-449C-854D-6BFD39F9ACF7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5DF902-CB4B-4264-AFF6-5B91E2F4D5B0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PARADOJA CENTRAL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07C1332-60DD-42EC-A65E-2B1FC9821EF5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Mas tools no implica mejores agentes. Muchas veces implica mas degradacion.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5943732-1291-4BB6-AAA0-0A399EA26F6F}"/>
              </a:ext>
            </a:extLst>
          </p:cNvPr>
          <p:cNvSpPr>
            <a:spLocks noGrp="1"/>
          </p:cNvSpPr>
          <p:nvPr/>
        </p:nvSpPr>
        <p:spPr>
          <a:xfrm>
            <a:off x="552450" y="2019300"/>
            <a:ext cx="2571750" cy="1752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1EEF8D-4E9F-4EEC-8C9B-A8D2FBB84B98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FB7D8A7-C21A-4A8D-815E-9AA17F5C8655}"/>
              </a:ext>
            </a:extLst>
          </p:cNvPr>
          <p:cNvSpPr>
            <a:spLocks noGrp="1"/>
          </p:cNvSpPr>
          <p:nvPr/>
        </p:nvSpPr>
        <p:spPr>
          <a:xfrm>
            <a:off x="1200150" y="21907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Sobrecarga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928DFD-9C60-432A-A9DE-42049563CD68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MCPs, wrappers, tools hiperespecializadas y demasiadas reglas parecen potencia, pero tambien agregan ruido.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76B80A-C679-4DB0-A927-84653FAC3CB4}"/>
              </a:ext>
            </a:extLst>
          </p:cNvPr>
          <p:cNvSpPr>
            <a:spLocks noGrp="1"/>
          </p:cNvSpPr>
          <p:nvPr/>
        </p:nvSpPr>
        <p:spPr>
          <a:xfrm>
            <a:off x="3390900" y="2019300"/>
            <a:ext cx="2571750" cy="1752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957AE10-367D-4C10-BC67-31B553BC945E}"/>
              </a:ext>
            </a:extLst>
          </p:cNvPr>
          <p:cNvSpPr>
            <a:spLocks noGrp="1"/>
          </p:cNvSpPr>
          <p:nvPr/>
        </p:nvSpPr>
        <p:spPr>
          <a:xfrm>
            <a:off x="3581400" y="21717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276B6B-E40C-44D2-8004-4A1DD9CAE872}"/>
              </a:ext>
            </a:extLst>
          </p:cNvPr>
          <p:cNvSpPr>
            <a:spLocks noGrp="1"/>
          </p:cNvSpPr>
          <p:nvPr/>
        </p:nvSpPr>
        <p:spPr>
          <a:xfrm>
            <a:off x="4038600" y="21907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Hallazgo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EB0DDF-A0D8-4150-B3CE-F7B5EDC3FB3A}"/>
              </a:ext>
            </a:extLst>
          </p:cNvPr>
          <p:cNvSpPr>
            <a:spLocks noGrp="1"/>
          </p:cNvSpPr>
          <p:nvPr/>
        </p:nvSpPr>
        <p:spPr>
          <a:xfrm>
            <a:off x="3581400" y="2590800"/>
            <a:ext cx="2190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video en espanol enfatiza que simplificar el entorno puede mejorar robustez, velocidad y costo.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FE08AB7-21BD-49FF-A64D-8F0D8047C63A}"/>
              </a:ext>
            </a:extLst>
          </p:cNvPr>
          <p:cNvSpPr>
            <a:spLocks noGrp="1"/>
          </p:cNvSpPr>
          <p:nvPr/>
        </p:nvSpPr>
        <p:spPr>
          <a:xfrm>
            <a:off x="6229350" y="2019300"/>
            <a:ext cx="2571750" cy="1752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06F0A71-3CF9-4596-922B-16C4A42C0D73}"/>
              </a:ext>
            </a:extLst>
          </p:cNvPr>
          <p:cNvSpPr>
            <a:spLocks noGrp="1"/>
          </p:cNvSpPr>
          <p:nvPr/>
        </p:nvSpPr>
        <p:spPr>
          <a:xfrm>
            <a:off x="6419850" y="21717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375BD9-2C98-4EB3-BF77-272691F4CD6D}"/>
              </a:ext>
            </a:extLst>
          </p:cNvPr>
          <p:cNvSpPr>
            <a:spLocks noGrp="1"/>
          </p:cNvSpPr>
          <p:nvPr/>
        </p:nvSpPr>
        <p:spPr>
          <a:xfrm>
            <a:off x="6877050" y="21907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Patron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551767-F29F-4F77-952C-E5829918B207}"/>
              </a:ext>
            </a:extLst>
          </p:cNvPr>
          <p:cNvSpPr>
            <a:spLocks noGrp="1"/>
          </p:cNvSpPr>
          <p:nvPr/>
        </p:nvSpPr>
        <p:spPr>
          <a:xfrm>
            <a:off x="6419850" y="2590800"/>
            <a:ext cx="2190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Set minimo y generalista: buscar, leer, listar, testear, abrir navegador y dejar evidencia estructurada.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6A2878D-EBD0-4C35-A58C-BDE0251A2AB9}"/>
              </a:ext>
            </a:extLst>
          </p:cNvPr>
          <p:cNvSpPr>
            <a:spLocks noGrp="1"/>
          </p:cNvSpPr>
          <p:nvPr/>
        </p:nvSpPr>
        <p:spPr>
          <a:xfrm>
            <a:off x="9067800" y="2019300"/>
            <a:ext cx="2571750" cy="17526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485B4B2-10FF-438C-854C-7273896680B0}"/>
              </a:ext>
            </a:extLst>
          </p:cNvPr>
          <p:cNvSpPr>
            <a:spLocks noGrp="1"/>
          </p:cNvSpPr>
          <p:nvPr/>
        </p:nvSpPr>
        <p:spPr>
          <a:xfrm>
            <a:off x="9258300" y="21717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566DE87-E492-408C-8589-B22B399A1F00}"/>
              </a:ext>
            </a:extLst>
          </p:cNvPr>
          <p:cNvSpPr>
            <a:spLocks noGrp="1"/>
          </p:cNvSpPr>
          <p:nvPr/>
        </p:nvSpPr>
        <p:spPr>
          <a:xfrm>
            <a:off x="9715500" y="21907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Cifra citada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FF49D86-56C7-4DCA-AFBE-CE148EED8787}"/>
              </a:ext>
            </a:extLst>
          </p:cNvPr>
          <p:cNvSpPr>
            <a:spLocks noGrp="1"/>
          </p:cNvSpPr>
          <p:nvPr/>
        </p:nvSpPr>
        <p:spPr>
          <a:xfrm>
            <a:off x="9258300" y="2590800"/>
            <a:ext cx="2190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 menciona un caso con mas de 3x velocidad y 37% menos tokens al simplificar tools.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42097CA-3DA2-42DB-97D8-1185035649FC}"/>
              </a:ext>
            </a:extLst>
          </p:cNvPr>
          <p:cNvSpPr>
            <a:spLocks noGrp="1"/>
          </p:cNvSpPr>
          <p:nvPr/>
        </p:nvSpPr>
        <p:spPr>
          <a:xfrm>
            <a:off x="552450" y="4267200"/>
            <a:ext cx="11087100" cy="20955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BC4C002-C8F7-4A1E-B1D9-500ED938D800}"/>
              </a:ext>
            </a:extLst>
          </p:cNvPr>
          <p:cNvSpPr>
            <a:spLocks noGrp="1"/>
          </p:cNvSpPr>
          <p:nvPr/>
        </p:nvSpPr>
        <p:spPr>
          <a:xfrm>
            <a:off x="819150" y="45148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Traduccion a data science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93EBAC0-7123-42CD-930C-124182CC4969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4476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Menos magia de wrapper.</a:t>
            </a:r>
          </a:p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Mas SQL auditable, mas tests, mas logs,</a:t>
            </a:r>
          </a:p>
          <a:p>
            <a:pPr algn="l">
              <a:def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mas outputs y memoria en disco.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B90132C-E3F0-428B-95D0-ECC1A8BCAE46}"/>
              </a:ext>
            </a:extLst>
          </p:cNvPr>
          <p:cNvSpPr>
            <a:spLocks noGrp="1"/>
          </p:cNvSpPr>
          <p:nvPr/>
        </p:nvSpPr>
        <p:spPr>
          <a:xfrm>
            <a:off x="5924550" y="4533900"/>
            <a:ext cx="5334000" cy="1123950"/>
          </a:xfrm>
          <a:prstGeom prst="rect">
            <a:avLst/>
          </a:prstGeom>
          <a:solidFill>
            <a:srgbClr val="1F3B59"/>
          </a:solidFill>
          <a:ln w="11430">
            <a:solidFill>
              <a:srgbClr val="35536E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E0D83E3-7F45-47E6-9FEB-A1BC8028D42A}"/>
              </a:ext>
            </a:extLst>
          </p:cNvPr>
          <p:cNvSpPr>
            <a:spLocks noGrp="1"/>
          </p:cNvSpPr>
          <p:nvPr/>
        </p:nvSpPr>
        <p:spPr>
          <a:xfrm>
            <a:off x="6172200" y="4838700"/>
            <a:ext cx="485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E2EC"/>
                </a:solidFill>
                <a:latin typeface="Aptos"/>
                <a:ea typeface="Aptos"/>
                <a:cs typeface="Aptos"/>
              </a:rPr>
              <a:t>Anti-pattern: pensar que mas complejidad operativa equivale a mas inteligencia del agente.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214CBD5-4FF7-4A90-9C20-88DD14C70CC4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Fuente: transcript q9Vaoz0hd0U sobre simplificacion de tools.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7269643-012D-43B6-9032-F5F38A0309E6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59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404E499E-A52E-4F33-8F9D-6D3E641DA4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26BDAD-F579-45EF-A959-3503C195DB46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342655-CFFD-4E21-B377-60E87F5DBE1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rPr>
              <a:t>CUELLO DE BOTELLA REAL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0B22538-6F94-48C8-890D-58E38C9AD767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Contexto largo no salva nada por si solo. Sin memoria externa, el agente se degrada.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EE8D37B-A8C6-4F3F-A06F-F483B6B1A5C8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3333750" cy="3143250"/>
          </a:xfrm>
          <a:prstGeom prst="rect">
            <a:avLst/>
          </a:prstGeom>
          <a:solidFill>
            <a:srgbClr val="F8F4EC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A38DB8-308D-48FE-A6FE-396DC6ED7E76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19442F-44F2-4F11-BADB-65A98811B50D}"/>
              </a:ext>
            </a:extLst>
          </p:cNvPr>
          <p:cNvSpPr>
            <a:spLocks noGrp="1"/>
          </p:cNvSpPr>
          <p:nvPr/>
        </p:nvSpPr>
        <p:spPr>
          <a:xfrm>
            <a:off x="781050" y="2724150"/>
            <a:ext cx="276225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Sesiones largas, demasiados archivos, demasiadas decisiones y mucho estado implicito en el chat.</a:t>
            </a:r>
          </a:p>
          <a:p>
            <a:endParaRPr sz="1650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El modelo se degrada antes de llenar la ventana.</a:t>
            </a:r>
          </a:p>
          <a:p>
            <a:endParaRPr sz="1650" b="0">
              <a:solidFill>
                <a:srgbClr val="475569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Confiar en 'mas contexto' es una falsa solucion.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FBA69B-9689-42DB-8BD7-83A17028E7DF}"/>
              </a:ext>
            </a:extLst>
          </p:cNvPr>
          <p:cNvSpPr>
            <a:spLocks noGrp="1"/>
          </p:cNvSpPr>
          <p:nvPr/>
        </p:nvSpPr>
        <p:spPr>
          <a:xfrm>
            <a:off x="4171950" y="2076450"/>
            <a:ext cx="3333750" cy="3143250"/>
          </a:xfrm>
          <a:prstGeom prst="rect">
            <a:avLst/>
          </a:prstGeom>
          <a:solidFill>
            <a:srgbClr val="102A43"/>
          </a:solidFill>
          <a:ln w="11430">
            <a:solidFill>
              <a:srgbClr val="35536E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DEA5D3-ED17-4975-9B6C-2121BE52B20F}"/>
              </a:ext>
            </a:extLst>
          </p:cNvPr>
          <p:cNvSpPr>
            <a:spLocks noGrp="1"/>
          </p:cNvSpPr>
          <p:nvPr/>
        </p:nvSpPr>
        <p:spPr>
          <a:xfrm>
            <a:off x="4400550" y="2305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Patron de escala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32F40F-DE77-4856-B3D9-0C0CBFCFC277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278130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Sacar memoria fuera del chat:</a:t>
            </a:r>
          </a:p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progress/, tasks, history, reportes, outputs, DB local.</a:t>
            </a:r>
          </a:p>
          <a:p>
            <a:endParaRPr sz="1650" b="0">
              <a:solidFill>
                <a:srgbClr val="D9E2EC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Cada subagente recibe solo el contexto que necesita.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5E8980C-B026-487C-B012-DC9BF1CB3246}"/>
              </a:ext>
            </a:extLst>
          </p:cNvPr>
          <p:cNvSpPr>
            <a:spLocks noGrp="1"/>
          </p:cNvSpPr>
          <p:nvPr/>
        </p:nvSpPr>
        <p:spPr>
          <a:xfrm>
            <a:off x="7791450" y="2076450"/>
            <a:ext cx="3829050" cy="314325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053C5BE-4976-4A46-9168-9C3E68EB7669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Traduccion a tu flujo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74BEAB1-1AB4-4E7C-A6D6-B5CB247BB087}"/>
              </a:ext>
            </a:extLst>
          </p:cNvPr>
          <p:cNvSpPr>
            <a:spLocks noGrp="1"/>
          </p:cNvSpPr>
          <p:nvPr/>
        </p:nvSpPr>
        <p:spPr>
          <a:xfrm>
            <a:off x="8039100" y="285750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2F49298-172D-4385-8360-3D60F9DFFA18}"/>
              </a:ext>
            </a:extLst>
          </p:cNvPr>
          <p:cNvSpPr>
            <a:spLocks noGrp="1"/>
          </p:cNvSpPr>
          <p:nvPr/>
        </p:nvSpPr>
        <p:spPr>
          <a:xfrm>
            <a:off x="8324850" y="28003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Leader: entiende el objetivo.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42EF6FF-CA0A-442B-B589-16BDF4557F42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E01FD12-CEA6-4B3A-AB77-C55A0B4D9DAC}"/>
              </a:ext>
            </a:extLst>
          </p:cNvPr>
          <p:cNvSpPr>
            <a:spLocks noGrp="1"/>
          </p:cNvSpPr>
          <p:nvPr/>
        </p:nvSpPr>
        <p:spPr>
          <a:xfrm>
            <a:off x="8324850" y="33147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SQL agent: explora tablas y arma borrador.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E99CA44-57DA-4204-B262-4C686810890F}"/>
              </a:ext>
            </a:extLst>
          </p:cNvPr>
          <p:cNvSpPr>
            <a:spLocks noGrp="1"/>
          </p:cNvSpPr>
          <p:nvPr/>
        </p:nvSpPr>
        <p:spPr>
          <a:xfrm>
            <a:off x="8039100" y="388620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102B5DE-FFF9-4378-8562-F6827CFC4A47}"/>
              </a:ext>
            </a:extLst>
          </p:cNvPr>
          <p:cNvSpPr>
            <a:spLocks noGrp="1"/>
          </p:cNvSpPr>
          <p:nvPr/>
        </p:nvSpPr>
        <p:spPr>
          <a:xfrm>
            <a:off x="8324850" y="382905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Reviewer: cuestiona supuestos y leakage.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E05A843-4B23-4AC8-B0AC-F900EACE1FFD}"/>
              </a:ext>
            </a:extLst>
          </p:cNvPr>
          <p:cNvSpPr>
            <a:spLocks noGrp="1"/>
          </p:cNvSpPr>
          <p:nvPr/>
        </p:nvSpPr>
        <p:spPr>
          <a:xfrm>
            <a:off x="8039100" y="440055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663992D-5A5A-46E5-A59A-D4248748CE12}"/>
              </a:ext>
            </a:extLst>
          </p:cNvPr>
          <p:cNvSpPr>
            <a:spLocks noGrp="1"/>
          </p:cNvSpPr>
          <p:nvPr/>
        </p:nvSpPr>
        <p:spPr>
          <a:xfrm>
            <a:off x="8324850" y="43434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Commenter: deja hallazgos y trazabilidad.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E8EFB4C-3158-454C-8ECA-8B63C3900EF7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11068050" cy="457200"/>
          </a:xfrm>
          <a:prstGeom prst="rect">
            <a:avLst/>
          </a:prstGeom>
          <a:solidFill>
            <a:srgbClr val="E7E0D3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0237CC-B884-4DFE-B9B5-D7ABE7CFDD5C}"/>
              </a:ext>
            </a:extLst>
          </p:cNvPr>
          <p:cNvSpPr>
            <a:spLocks noGrp="1"/>
          </p:cNvSpPr>
          <p:nvPr/>
        </p:nvSpPr>
        <p:spPr>
          <a:xfrm>
            <a:off x="781050" y="5734050"/>
            <a:ext cx="1066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No hay escala sin memoria externa, handoffs claros y contexto minimo por rol.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56D64D-7E83-40C2-B700-F89BD4FAF15F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Fuente: transcript q9Vaoz0hd0U sobre degradacion de contexto y subagentes.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A20989B-AFF9-44E1-A232-4BF7ACAD589B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473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8AC18A06-A422-42CD-90FF-B89A382580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 w="0">
            <a:solidFill>
              <a:srgbClr val="F4F0E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BC785C9-6192-4C26-934D-4DD94AF0EE6F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2D6A4F"/>
          </a:solidFill>
          <a:ln w="0">
            <a:solidFill>
              <a:srgbClr val="2D6A4F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BA486E2-7C27-4EA4-8CF3-8C216CF1C27E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CASO PRACTICO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812FDA-B641-458D-9715-C58C24A7857A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Cuando el repo se vuelve sistema operativo del agente, la IA deja de ser improvisacion.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76068FC-2897-472A-AB7F-DB5A30A54200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2571750" cy="16764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D0CFA9-4961-4EF4-A38A-F54D62D6DDD2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ED1B934-77C4-4C1F-B487-5C2325D8BECE}"/>
              </a:ext>
            </a:extLst>
          </p:cNvPr>
          <p:cNvSpPr>
            <a:spLocks noGrp="1"/>
          </p:cNvSpPr>
          <p:nvPr/>
        </p:nvSpPr>
        <p:spPr>
          <a:xfrm>
            <a:off x="1200150" y="2266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AGENTS.md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E0A2B9D-9401-4A8C-BAF3-3FA4625A3198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2190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Define protocolo de entrada, mapa del repo, reglas y docs obligatorias antes de actuar.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393011E-2F81-4D4D-94CF-12D07CD609B4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571750" cy="16764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AA562BB-AD86-4645-8B6C-BDDF96D0F27A}"/>
              </a:ext>
            </a:extLst>
          </p:cNvPr>
          <p:cNvSpPr>
            <a:spLocks noGrp="1"/>
          </p:cNvSpPr>
          <p:nvPr/>
        </p:nvSpPr>
        <p:spPr>
          <a:xfrm>
            <a:off x="3581400" y="22479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C577A71-AF4E-4710-B2E4-B5E63890C916}"/>
              </a:ext>
            </a:extLst>
          </p:cNvPr>
          <p:cNvSpPr>
            <a:spLocks noGrp="1"/>
          </p:cNvSpPr>
          <p:nvPr/>
        </p:nvSpPr>
        <p:spPr>
          <a:xfrm>
            <a:off x="4038600" y="2266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feature_list / tasks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F0E3A3D-6EFC-4390-A4C8-1675C8ABD678}"/>
              </a:ext>
            </a:extLst>
          </p:cNvPr>
          <p:cNvSpPr>
            <a:spLocks noGrp="1"/>
          </p:cNvSpPr>
          <p:nvPr/>
        </p:nvSpPr>
        <p:spPr>
          <a:xfrm>
            <a:off x="3581400" y="2667000"/>
            <a:ext cx="2190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Estructura el trabajo en unidades pequenas, auditable y con acceptance criteria.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EF007C6-94A0-4CE6-AB8B-F8D922964B6A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2571750" cy="16764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67C1051-11A5-4DBD-9AB5-61CCE00147A0}"/>
              </a:ext>
            </a:extLst>
          </p:cNvPr>
          <p:cNvSpPr>
            <a:spLocks noGrp="1"/>
          </p:cNvSpPr>
          <p:nvPr/>
        </p:nvSpPr>
        <p:spPr>
          <a:xfrm>
            <a:off x="6419850" y="22479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A1F6AE8-B91B-4473-850E-600CC2625EFE}"/>
              </a:ext>
            </a:extLst>
          </p:cNvPr>
          <p:cNvSpPr>
            <a:spLocks noGrp="1"/>
          </p:cNvSpPr>
          <p:nvPr/>
        </p:nvSpPr>
        <p:spPr>
          <a:xfrm>
            <a:off x="6877050" y="2266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progress / history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29896D4-E80D-49E4-8F01-34FF986BBADA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2190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Saca memoria del chat y evita el telefono descompuesto entre sesiones y subagentes.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DBAFA43-6530-4BAE-8157-D30822482EAD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2571750" cy="16764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2BDC786-D251-4CA4-B014-1AA4A36AAB01}"/>
              </a:ext>
            </a:extLst>
          </p:cNvPr>
          <p:cNvSpPr>
            <a:spLocks noGrp="1"/>
          </p:cNvSpPr>
          <p:nvPr/>
        </p:nvSpPr>
        <p:spPr>
          <a:xfrm>
            <a:off x="9258300" y="2247900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2D6A4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A2776A6-46CF-4236-A8FD-63247B09CD5F}"/>
              </a:ext>
            </a:extLst>
          </p:cNvPr>
          <p:cNvSpPr>
            <a:spLocks noGrp="1"/>
          </p:cNvSpPr>
          <p:nvPr/>
        </p:nvSpPr>
        <p:spPr>
          <a:xfrm>
            <a:off x="9715500" y="2266950"/>
            <a:ext cx="1733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reviewer + init.sh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DA24921-2213-4541-A6CF-B8F58B69EEB4}"/>
              </a:ext>
            </a:extLst>
          </p:cNvPr>
          <p:cNvSpPr>
            <a:spLocks noGrp="1"/>
          </p:cNvSpPr>
          <p:nvPr/>
        </p:nvSpPr>
        <p:spPr>
          <a:xfrm>
            <a:off x="9258300" y="2667000"/>
            <a:ext cx="2190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 definicion de done depende de evidencia ejecutable, no del discurso del agente.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74DF6CA-F737-4822-912D-FDA5B27BD6F0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5155374" cy="213360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CD7C90A-D3CB-412E-8466-B1332A65D91A}"/>
              </a:ext>
            </a:extLst>
          </p:cNvPr>
          <p:cNvSpPr>
            <a:spLocks noGrp="1"/>
          </p:cNvSpPr>
          <p:nvPr/>
        </p:nvSpPr>
        <p:spPr>
          <a:xfrm>
            <a:off x="800100" y="44958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3C8B3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3C8B3"/>
                </a:solidFill>
                <a:latin typeface="Aptos Mono"/>
                <a:ea typeface="Aptos Mono"/>
                <a:cs typeface="Aptos Mono"/>
              </a:rPr>
              <a:t>Aplicado a tu equipo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C0059A7-6E0C-4858-97F4-67C52911F80C}"/>
              </a:ext>
            </a:extLst>
          </p:cNvPr>
          <p:cNvSpPr>
            <a:spLocks noGrp="1"/>
          </p:cNvSpPr>
          <p:nvPr/>
        </p:nvSpPr>
        <p:spPr>
          <a:xfrm>
            <a:off x="800100" y="4857750"/>
            <a:ext cx="44767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SQL agent + reviewer + commenter</a:t>
            </a:r>
          </a:p>
          <a:p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es </a:t>
            </a:r>
            <a:r>
              <a:rPr sz="1800" b="1" dirty="0" err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exactamente</a:t>
            </a: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 la forma </a:t>
            </a:r>
            <a:r>
              <a:rPr sz="1800" b="1" dirty="0" err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correcta</a:t>
            </a: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1800" b="1" dirty="0" err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empezar</a:t>
            </a: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:</a:t>
            </a:r>
          </a:p>
          <a:p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roles simples, </a:t>
            </a:r>
            <a:r>
              <a:rPr sz="1800" b="1" dirty="0" err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contexto</a:t>
            </a: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1800" b="1" dirty="0" err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corto</a:t>
            </a:r>
            <a:endParaRPr sz="1800" b="1" dirty="0">
              <a:solidFill>
                <a:srgbClr val="FFFDF8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80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y </a:t>
            </a:r>
            <a:r>
              <a:rPr sz="1800" b="1" dirty="0" err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trazabilidad</a:t>
            </a:r>
            <a:r>
              <a:rPr sz="1800" b="1" dirty="0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43515F6-CB68-4B2F-8C7E-1150CB5CEBF6}"/>
              </a:ext>
            </a:extLst>
          </p:cNvPr>
          <p:cNvSpPr>
            <a:spLocks noGrp="1"/>
          </p:cNvSpPr>
          <p:nvPr/>
        </p:nvSpPr>
        <p:spPr>
          <a:xfrm>
            <a:off x="6019800" y="4248149"/>
            <a:ext cx="5576268" cy="2133599"/>
          </a:xfrm>
          <a:prstGeom prst="rect">
            <a:avLst/>
          </a:prstGeom>
          <a:solidFill>
            <a:srgbClr val="FFFDF8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6D6327F-F177-4969-945E-E90B47B387C5}"/>
              </a:ext>
            </a:extLst>
          </p:cNvPr>
          <p:cNvSpPr>
            <a:spLocks noGrp="1"/>
          </p:cNvSpPr>
          <p:nvPr/>
        </p:nvSpPr>
        <p:spPr>
          <a:xfrm>
            <a:off x="6267450" y="44958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Regla de oro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4C5EFCE-BFBD-43B4-A1B1-EB3420A452E7}"/>
              </a:ext>
            </a:extLst>
          </p:cNvPr>
          <p:cNvSpPr>
            <a:spLocks noGrp="1"/>
          </p:cNvSpPr>
          <p:nvPr/>
        </p:nvSpPr>
        <p:spPr>
          <a:xfrm>
            <a:off x="6267450" y="4857750"/>
            <a:ext cx="4953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Empieza simple: protocolo, memoria externa y checks.</a:t>
            </a:r>
          </a:p>
          <a:p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Optimiza el modelo despues, no antes.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483F4D1-045A-4AAF-847A-7A0F23B833B2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Basado en betta-tech/ejemplo-harness-subagentes y en el flujo del usuario.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9FE3A23-545B-46DD-A848-AC8B82354E89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2805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03D1A113-60EC-4AB4-8006-F3653D9B1E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241982-4126-4C29-B8B1-3E68EFC009CF}"/>
              </a:ext>
            </a:extLst>
          </p:cNvPr>
          <p:cNvSpPr>
            <a:spLocks noGrp="1"/>
          </p:cNvSpPr>
          <p:nvPr/>
        </p:nvSpPr>
        <p:spPr>
          <a:xfrm>
            <a:off x="514350" y="438150"/>
            <a:ext cx="1809750" cy="57150"/>
          </a:xfrm>
          <a:prstGeom prst="rect">
            <a:avLst/>
          </a:prstGeom>
          <a:solidFill>
            <a:srgbClr val="B42318"/>
          </a:solidFill>
          <a:ln w="0">
            <a:solidFill>
              <a:srgbClr val="B42318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0C24B3-DC7D-438D-9115-F7CC44FFB6F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B42318"/>
                </a:solidFill>
                <a:latin typeface="Aptos Mono"/>
                <a:ea typeface="Aptos Mono"/>
                <a:cs typeface="Aptos Mono"/>
              </a:rPr>
              <a:t>MEDIR Y PROTEGER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4FF42D-976D-4CFB-A6B2-482260565E4C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Si el contexto es un activo del equipo, hay que medirlo y protegerlo como cualquier sistema serio.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74589D-6769-491E-ACB2-C08E77B02722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5143500" cy="3162300"/>
          </a:xfrm>
          <a:prstGeom prst="rect">
            <a:avLst/>
          </a:prstGeom>
          <a:solidFill>
            <a:srgbClr val="102A43"/>
          </a:solidFill>
          <a:ln w="11430">
            <a:solidFill>
              <a:srgbClr val="35536E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49D4BB-67F2-44B7-9200-AD70FDEC664B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Metricas minimas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AAE472B-D937-49A9-96AD-AF84EF7E50D9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37177C1-6CFA-4804-A918-89F227BD70FF}"/>
              </a:ext>
            </a:extLst>
          </p:cNvPr>
          <p:cNvSpPr>
            <a:spLocks noGrp="1"/>
          </p:cNvSpPr>
          <p:nvPr/>
        </p:nvSpPr>
        <p:spPr>
          <a:xfrm>
            <a:off x="1104900" y="28384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Eval pass rate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851622-D7B1-4250-9CB2-CE54017675A2}"/>
              </a:ext>
            </a:extLst>
          </p:cNvPr>
          <p:cNvSpPr>
            <a:spLocks noGrp="1"/>
          </p:cNvSpPr>
          <p:nvPr/>
        </p:nvSpPr>
        <p:spPr>
          <a:xfrm>
            <a:off x="819150" y="340995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081A9A-6DA3-4D34-B095-84FF284E4403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Variabilidad entre runs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8016E3-706D-4B1A-AE4F-6B4C93A44DFF}"/>
              </a:ext>
            </a:extLst>
          </p:cNvPr>
          <p:cNvSpPr>
            <a:spLocks noGrp="1"/>
          </p:cNvSpPr>
          <p:nvPr/>
        </p:nvSpPr>
        <p:spPr>
          <a:xfrm>
            <a:off x="819150" y="392430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9C6D734-723A-4741-B11A-03E1F0928A5B}"/>
              </a:ext>
            </a:extLst>
          </p:cNvPr>
          <p:cNvSpPr>
            <a:spLocks noGrp="1"/>
          </p:cNvSpPr>
          <p:nvPr/>
        </p:nvSpPr>
        <p:spPr>
          <a:xfrm>
            <a:off x="1104900" y="386715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Errores repetidos convertidos en checks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1C26DCA-93B5-4D98-9BFD-0953275187E6}"/>
              </a:ext>
            </a:extLst>
          </p:cNvPr>
          <p:cNvSpPr>
            <a:spLocks noGrp="1"/>
          </p:cNvSpPr>
          <p:nvPr/>
        </p:nvSpPr>
        <p:spPr>
          <a:xfrm>
            <a:off x="819150" y="4438650"/>
            <a:ext cx="114300" cy="114300"/>
          </a:xfrm>
          <a:prstGeom prst="rect">
            <a:avLst/>
          </a:prstGeom>
          <a:solidFill>
            <a:srgbClr val="E07A3F"/>
          </a:solidFill>
          <a:ln w="0">
            <a:solidFill>
              <a:srgbClr val="E07A3F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98D3B9A-6944-4E5F-8DEF-0EE40BD0D352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4095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Fallas detectadas por reviewer vs produccion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F73F430-6AF4-4C15-9054-0FBC4E5AED78}"/>
              </a:ext>
            </a:extLst>
          </p:cNvPr>
          <p:cNvSpPr>
            <a:spLocks noGrp="1"/>
          </p:cNvSpPr>
          <p:nvPr/>
        </p:nvSpPr>
        <p:spPr>
          <a:xfrm>
            <a:off x="6000750" y="2152650"/>
            <a:ext cx="5619750" cy="3162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DD3C2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88B1A96-5606-4F4B-8B13-BD0E4E7FA66E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Anti-patterns y controles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974B9F-8019-4932-B67A-34EFE7154048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Prompt YOLO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87676C-D67B-481F-ABDC-2CB2AE54437B}"/>
              </a:ext>
            </a:extLst>
          </p:cNvPr>
          <p:cNvSpPr>
            <a:spLocks noGrp="1"/>
          </p:cNvSpPr>
          <p:nvPr/>
        </p:nvSpPr>
        <p:spPr>
          <a:xfrm>
            <a:off x="8572500" y="2800350"/>
            <a:ext cx="2647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Cambiar instrucciones sin medir impacto.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14ED427-7981-4B03-A258-CED5B17B4302}"/>
              </a:ext>
            </a:extLst>
          </p:cNvPr>
          <p:cNvSpPr>
            <a:spLocks noGrp="1"/>
          </p:cNvSpPr>
          <p:nvPr/>
        </p:nvSpPr>
        <p:spPr>
          <a:xfrm>
            <a:off x="6248400" y="33909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Context copy-paste ops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907FDC8-75A0-4A86-B5C6-3001D84AD5E0}"/>
              </a:ext>
            </a:extLst>
          </p:cNvPr>
          <p:cNvSpPr>
            <a:spLocks noGrp="1"/>
          </p:cNvSpPr>
          <p:nvPr/>
        </p:nvSpPr>
        <p:spPr>
          <a:xfrm>
            <a:off x="8572500" y="3390900"/>
            <a:ext cx="2647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Compartir skills sin versionado ni calidad minima.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C0983B6-4548-40D7-8B0E-5538D13A4545}"/>
              </a:ext>
            </a:extLst>
          </p:cNvPr>
          <p:cNvSpPr>
            <a:spLocks noGrp="1"/>
          </p:cNvSpPr>
          <p:nvPr/>
        </p:nvSpPr>
        <p:spPr>
          <a:xfrm>
            <a:off x="6248400" y="398145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Filtro de contexto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BD81272-39D9-4535-9326-065C62695DA2}"/>
              </a:ext>
            </a:extLst>
          </p:cNvPr>
          <p:cNvSpPr>
            <a:spLocks noGrp="1"/>
          </p:cNvSpPr>
          <p:nvPr/>
        </p:nvSpPr>
        <p:spPr>
          <a:xfrm>
            <a:off x="8572500" y="3981450"/>
            <a:ext cx="2647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todo archivo o skill merece confianza ciega.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3423A0A-74EC-4840-8631-EA779C412D6B}"/>
              </a:ext>
            </a:extLst>
          </p:cNvPr>
          <p:cNvSpPr>
            <a:spLocks noGrp="1"/>
          </p:cNvSpPr>
          <p:nvPr/>
        </p:nvSpPr>
        <p:spPr>
          <a:xfrm>
            <a:off x="6248400" y="45720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Provenance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CAB0E8E-0E1D-4A97-9E96-514C1030E313}"/>
              </a:ext>
            </a:extLst>
          </p:cNvPr>
          <p:cNvSpPr>
            <a:spLocks noGrp="1"/>
          </p:cNvSpPr>
          <p:nvPr/>
        </p:nvSpPr>
        <p:spPr>
          <a:xfrm>
            <a:off x="8572500" y="4572000"/>
            <a:ext cx="2647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Saber que paquete, regla o skill produjo cada decision.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88C25C3-73A4-4F99-8943-F09BF7EE548F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11068050" cy="438150"/>
          </a:xfrm>
          <a:prstGeom prst="rect">
            <a:avLst/>
          </a:prstGeom>
          <a:solidFill>
            <a:srgbClr val="E7E0D3"/>
          </a:solidFill>
          <a:ln w="9525">
            <a:solidFill>
              <a:srgbClr val="DDD3C2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124933E-FD1A-4C2A-A7D7-EE7738138A89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66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Para data scientists esto es natural: trata el contexto como tratarias un sistema probabilistico bajo evaluacion.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557D3AD-EF88-4362-828D-6875D272DFA0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1047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Fuente principal: charla de Patrick Debois sobre contexto, evals y observabilidad.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25E2BCD-9E15-41DD-8EC4-6AA1E7D1425E}"/>
              </a:ext>
            </a:extLst>
          </p:cNvPr>
          <p:cNvSpPr>
            <a:spLocks noGrp="1"/>
          </p:cNvSpPr>
          <p:nvPr/>
        </p:nvSpPr>
        <p:spPr>
          <a:xfrm>
            <a:off x="11334750" y="6496050"/>
            <a:ext cx="38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75C2A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7380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6B2ED9F-C6A3-4E63-A3B3-1DF20DAEC2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25607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1048</Words>
  <Application>Microsoft Office PowerPoint</Application>
  <DocSecurity>0</DocSecurity>
  <PresentationFormat>Panorámica</PresentationFormat>
  <Paragraphs>163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Mono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Victor Reyes</cp:lastModifiedBy>
  <cp:revision>1</cp:revision>
  <dcterms:created xsi:type="dcterms:W3CDTF">2026-05-05T06:17:46Z</dcterms:created>
  <dcterms:modified xsi:type="dcterms:W3CDTF">2026-05-05T06:25:38Z</dcterms:modified>
</cp:coreProperties>
</file>