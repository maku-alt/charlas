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a674d49b1964f49" /><Relationship Type="http://schemas.openxmlformats.org/officeDocument/2006/relationships/extended-properties" Target="/docProps/app.xml" Id="R957679acf3994241" /><Relationship Type="http://schemas.openxmlformats.org/officeDocument/2006/relationships/officeDocument" Target="/ppt/presentation.xml" Id="R9fdfe31ee0c245c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dcb443a6acc40b7"/>
  </p:sldMasterIdLst>
  <p:notesMasterIdLst>
    <p:notesMasterId xmlns:r="http://schemas.openxmlformats.org/officeDocument/2006/relationships" r:id="R6c2fd97a69e04fd0"/>
  </p:notesMasterIdLst>
  <p:sldIdLst>
    <p:sldId xmlns:r="http://schemas.openxmlformats.org/officeDocument/2006/relationships" id="256" r:id="R022c88654062457f"/>
    <p:sldId xmlns:r="http://schemas.openxmlformats.org/officeDocument/2006/relationships" id="257" r:id="Rdcf08432bd9947ea"/>
    <p:sldId xmlns:r="http://schemas.openxmlformats.org/officeDocument/2006/relationships" id="258" r:id="R56a85e24db5e4563"/>
    <p:sldId xmlns:r="http://schemas.openxmlformats.org/officeDocument/2006/relationships" id="259" r:id="R051eab8319b24c17"/>
    <p:sldId xmlns:r="http://schemas.openxmlformats.org/officeDocument/2006/relationships" id="260" r:id="R96b99acfc6234155"/>
    <p:sldId xmlns:r="http://schemas.openxmlformats.org/officeDocument/2006/relationships" id="261" r:id="R55bd51e756304838"/>
    <p:sldId xmlns:r="http://schemas.openxmlformats.org/officeDocument/2006/relationships" id="262" r:id="R50233740070244ea"/>
    <p:sldId xmlns:r="http://schemas.openxmlformats.org/officeDocument/2006/relationships" id="263" r:id="R9220c4f0c6df4780"/>
    <p:sldId xmlns:r="http://schemas.openxmlformats.org/officeDocument/2006/relationships" id="264" r:id="R99402f1018644dd6"/>
    <p:sldId xmlns:r="http://schemas.openxmlformats.org/officeDocument/2006/relationships" id="265" r:id="R752195a87e1f4f56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4a97d6d85244226" /><Relationship Type="http://schemas.openxmlformats.org/officeDocument/2006/relationships/slideMaster" Target="/ppt/slideMasters/slideMaster1.xml" Id="Redcb443a6acc40b7" /><Relationship Type="http://schemas.openxmlformats.org/officeDocument/2006/relationships/notesMaster" Target="/ppt/notesMasters/notesMaster1.xml" Id="R6c2fd97a69e04fd0" /><Relationship Type="http://schemas.openxmlformats.org/officeDocument/2006/relationships/presProps" Target="/ppt/presProps.xml" Id="R898d4f9b615241ae" /><Relationship Type="http://schemas.openxmlformats.org/officeDocument/2006/relationships/viewProps" Target="/ppt/viewProps.xml" Id="R3144179348cc4295" /><Relationship Type="http://schemas.openxmlformats.org/officeDocument/2006/relationships/tableStyles" Target="/ppt/tableStyles.xml" Id="Rffe3da41acf042a4" /><Relationship Type="http://schemas.openxmlformats.org/officeDocument/2006/relationships/slide" Target="/ppt/slides/slide1.xml" Id="R022c88654062457f" /><Relationship Type="http://schemas.openxmlformats.org/officeDocument/2006/relationships/slide" Target="/ppt/slides/slide2.xml" Id="Rdcf08432bd9947ea" /><Relationship Type="http://schemas.openxmlformats.org/officeDocument/2006/relationships/slide" Target="/ppt/slides/slide3.xml" Id="R56a85e24db5e4563" /><Relationship Type="http://schemas.openxmlformats.org/officeDocument/2006/relationships/slide" Target="/ppt/slides/slide4.xml" Id="R051eab8319b24c17" /><Relationship Type="http://schemas.openxmlformats.org/officeDocument/2006/relationships/slide" Target="/ppt/slides/slide5.xml" Id="R96b99acfc6234155" /><Relationship Type="http://schemas.openxmlformats.org/officeDocument/2006/relationships/slide" Target="/ppt/slides/slide6.xml" Id="R55bd51e756304838" /><Relationship Type="http://schemas.openxmlformats.org/officeDocument/2006/relationships/slide" Target="/ppt/slides/slide7.xml" Id="R50233740070244ea" /><Relationship Type="http://schemas.openxmlformats.org/officeDocument/2006/relationships/slide" Target="/ppt/slides/slide8.xml" Id="R9220c4f0c6df4780" /><Relationship Type="http://schemas.openxmlformats.org/officeDocument/2006/relationships/slide" Target="/ppt/slides/slide9.xml" Id="R99402f1018644dd6" /><Relationship Type="http://schemas.openxmlformats.org/officeDocument/2006/relationships/slide" Target="/ppt/slides/slide10.xml" Id="R752195a87e1f4f5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3eeb3ddc17e48e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8fcc4f568024ce9" /><Relationship Type="http://schemas.openxmlformats.org/officeDocument/2006/relationships/notesMaster" Target="/ppt/notesMasters/notesMaster1.xml" Id="R9eebaf7ce1564bd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fd9c8d5aad24941" /><Relationship Type="http://schemas.openxmlformats.org/officeDocument/2006/relationships/notesMaster" Target="/ppt/notesMasters/notesMaster1.xml" Id="R7ee1a0eb455547f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311563662c140de" /><Relationship Type="http://schemas.openxmlformats.org/officeDocument/2006/relationships/notesMaster" Target="/ppt/notesMasters/notesMaster1.xml" Id="R71c0c14f64b74b6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71dc968c0694601" /><Relationship Type="http://schemas.openxmlformats.org/officeDocument/2006/relationships/notesMaster" Target="/ppt/notesMasters/notesMaster1.xml" Id="Rc1db680080d244f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3847860ed8bf4801" /><Relationship Type="http://schemas.openxmlformats.org/officeDocument/2006/relationships/notesMaster" Target="/ppt/notesMasters/notesMaster1.xml" Id="R9ea31e6d5a65410c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a5d0ebddfe0b4c31" /><Relationship Type="http://schemas.openxmlformats.org/officeDocument/2006/relationships/notesMaster" Target="/ppt/notesMasters/notesMaster1.xml" Id="Ra4ecf7cc8da646e7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e200975698354884" /><Relationship Type="http://schemas.openxmlformats.org/officeDocument/2006/relationships/notesMaster" Target="/ppt/notesMasters/notesMaster1.xml" Id="Rac63754bb5284f87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eb984661979c41cc" /><Relationship Type="http://schemas.openxmlformats.org/officeDocument/2006/relationships/notesMaster" Target="/ppt/notesMasters/notesMaster1.xml" Id="Rb963cf0cef6c4630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5f6334dcc8ff4ddc" /><Relationship Type="http://schemas.openxmlformats.org/officeDocument/2006/relationships/notesMaster" Target="/ppt/notesMasters/notesMaster1.xml" Id="R481db12d05794aeb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060d15f0a27e42d2" /><Relationship Type="http://schemas.openxmlformats.org/officeDocument/2006/relationships/notesMaster" Target="/ppt/notesMasters/notesMaster1.xml" Id="R28bb0246dd20437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f93984e83b14b9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a0e9fd3c246436d" /><Relationship Type="http://schemas.openxmlformats.org/officeDocument/2006/relationships/slideLayout" Target="/ppt/slideLayouts/slideLayout1.xml" Id="Re300cf2434ce4df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300cf2434ce4df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742f8b3d3ba4407" /><Relationship Type="http://schemas.openxmlformats.org/officeDocument/2006/relationships/notesSlide" Target="/ppt/notesSlides/notesSlide1.xml" Id="R4982bbe161c4486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c8121ed8ae64838" /><Relationship Type="http://schemas.openxmlformats.org/officeDocument/2006/relationships/notesSlide" Target="/ppt/notesSlides/notesSlide2.xml" Id="R090e8f712751406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490a731ee1f48ef" /><Relationship Type="http://schemas.openxmlformats.org/officeDocument/2006/relationships/notesSlide" Target="/ppt/notesSlides/notesSlide3.xml" Id="R8dc8b53fe697458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5a83b7efe49433c" /><Relationship Type="http://schemas.openxmlformats.org/officeDocument/2006/relationships/notesSlide" Target="/ppt/notesSlides/notesSlide4.xml" Id="R95d512eeba0140dd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edb6b9b857348d0" /><Relationship Type="http://schemas.openxmlformats.org/officeDocument/2006/relationships/notesSlide" Target="/ppt/notesSlides/notesSlide5.xml" Id="Rb8d27077042a431e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3db1d56fd844970" /><Relationship Type="http://schemas.openxmlformats.org/officeDocument/2006/relationships/notesSlide" Target="/ppt/notesSlides/notesSlide6.xml" Id="R8b9306dc69324ba5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58d82c18d6047f8" /><Relationship Type="http://schemas.openxmlformats.org/officeDocument/2006/relationships/notesSlide" Target="/ppt/notesSlides/notesSlide7.xml" Id="R061958c559af41e1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5dd1b4808fa46e3" /><Relationship Type="http://schemas.openxmlformats.org/officeDocument/2006/relationships/notesSlide" Target="/ppt/notesSlides/notesSlide8.xml" Id="R38b5bfc5920c40e6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e07627919b64813" /><Relationship Type="http://schemas.openxmlformats.org/officeDocument/2006/relationships/notesSlide" Target="/ppt/notesSlides/notesSlide9.xml" Id="R93bafeadae7546ec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bc690464e6d4e70" /><Relationship Type="http://schemas.openxmlformats.org/officeDocument/2006/relationships/image" Target="/ppt/media/image.png" Id="R1780c12863d842bb" /><Relationship Type="http://schemas.openxmlformats.org/officeDocument/2006/relationships/notesSlide" Target="/ppt/notesSlides/notesSlide10.xml" Id="R28edbd15b9a94fc5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84DD0A1-12B5-4270-B53D-EB8C3354D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A43"/>
          </a:solidFill>
          <a:ln xmlns:a="http://schemas.openxmlformats.org/drawingml/2006/main" w="0">
            <a:solidFill>
              <a:srgbClr val="102A43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137F8ED-5594-4E4D-8CAF-4B6E068FB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52450"/>
            <a:ext cx="17335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7A3F"/>
          </a:solidFill>
          <a:ln xmlns:a="http://schemas.openxmlformats.org/drawingml/2006/main" w="0">
            <a:solidFill>
              <a:srgbClr val="E07A3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6DD8107-EC12-4F24-A094-923C843E2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81050"/>
            <a:ext cx="3048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3C8B3"/>
                </a:solidFill>
                <a:latin typeface="Aptos Mono"/>
                <a:ea typeface="Aptos Mono"/>
                <a:cs typeface="Aptos Mono"/>
              </a:defRPr>
            </a:pPr>
            <a:r>
              <a:rPr sz="1125" b="1">
                <a:solidFill>
                  <a:srgbClr val="F3C8B3"/>
                </a:solidFill>
                <a:latin typeface="Aptos Mono"/>
                <a:ea typeface="Aptos Mono"/>
                <a:cs typeface="Aptos Mono"/>
              </a:rPr>
              <a:t>COMPARTIENDO CONOCIMIENTO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FD166D7-654B-4192-9DB0-458A1C695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00150"/>
            <a:ext cx="609600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FFFDF8"/>
                </a:solidFill>
                <a:latin typeface="Aptos Display"/>
                <a:ea typeface="Aptos Display"/>
                <a:cs typeface="Aptos Display"/>
              </a:defRPr>
            </a:pPr>
            <a:r>
              <a:rPr sz="3750" b="1">
                <a:solidFill>
                  <a:srgbClr val="FFFDF8"/>
                </a:solidFill>
                <a:latin typeface="Aptos Display"/>
                <a:ea typeface="Aptos Display"/>
                <a:cs typeface="Aptos Display"/>
              </a:rPr>
              <a:t>Wiki LLM con</a:t>
            </a:r>
          </a:p>
          <a:p xmlns:a="http://schemas.openxmlformats.org/drawingml/2006/main">
            <a:pPr algn="l">
              <a:defRPr sz="3750" b="1">
                <a:solidFill>
                  <a:srgbClr val="FFFDF8"/>
                </a:solidFill>
                <a:latin typeface="Aptos Display"/>
                <a:ea typeface="Aptos Display"/>
                <a:cs typeface="Aptos Display"/>
              </a:defRPr>
            </a:pPr>
            <a:r>
              <a:rPr sz="3750" b="1">
                <a:solidFill>
                  <a:srgbClr val="FFFDF8"/>
                </a:solidFill>
                <a:latin typeface="Aptos Display"/>
                <a:ea typeface="Aptos Display"/>
                <a:cs typeface="Aptos Display"/>
              </a:rPr>
              <a:t>Obsidian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2B37448-46ED-4C8B-B73E-3D3945145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143250"/>
            <a:ext cx="59055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D9E2EC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D9E2EC"/>
                </a:solidFill>
                <a:latin typeface="Aptos"/>
                <a:ea typeface="Aptos"/>
                <a:cs typeface="Aptos"/>
              </a:rPr>
              <a:t>Como pasar de reconsultar markdowns en cada turno a mantener una memoria compilada, enlazada y reusable para agentes y repos tecnicos.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EF594EA-9C0A-4C91-888E-C60EA7EDC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876300"/>
            <a:ext cx="4324350" cy="493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324F"/>
          </a:solidFill>
          <a:ln xmlns:a="http://schemas.openxmlformats.org/drawingml/2006/main" w="11430">
            <a:solidFill>
              <a:srgbClr val="35536E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826074D-2E97-4F60-ABC3-1685C0BEB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1200150"/>
            <a:ext cx="1714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3C8B3"/>
                </a:solidFill>
                <a:latin typeface="Aptos Mono"/>
                <a:ea typeface="Aptos Mono"/>
                <a:cs typeface="Aptos Mono"/>
              </a:defRPr>
            </a:pPr>
            <a:r>
              <a:rPr sz="1125" b="1">
                <a:solidFill>
                  <a:srgbClr val="F3C8B3"/>
                </a:solidFill>
                <a:latin typeface="Aptos Mono"/>
                <a:ea typeface="Aptos Mono"/>
                <a:cs typeface="Aptos Mono"/>
              </a:rPr>
              <a:t>TESIS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D0F82DE-108D-49EA-B5B6-36C110BFF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1619250"/>
            <a:ext cx="3448050" cy="1962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FFDF8"/>
                </a:solidFill>
                <a:latin typeface="Aptos Display"/>
                <a:ea typeface="Aptos Display"/>
                <a:cs typeface="Aptos Display"/>
              </a:defRPr>
            </a:pPr>
            <a:r>
              <a:rPr sz="1875" b="1">
                <a:solidFill>
                  <a:srgbClr val="FFFDF8"/>
                </a:solidFill>
                <a:latin typeface="Aptos Display"/>
                <a:ea typeface="Aptos Display"/>
                <a:cs typeface="Aptos Display"/>
              </a:rPr>
              <a:t>La mejor memoria para un agente no es un dump infinito de contexto.</a:t>
            </a:r>
          </a:p>
          <a:p xmlns:a="http://schemas.openxmlformats.org/drawingml/2006/main">
            <a:pPr algn="l">
              <a:defRPr sz="1875" b="1">
                <a:solidFill>
                  <a:srgbClr val="FFFDF8"/>
                </a:solidFill>
                <a:latin typeface="Aptos Display"/>
                <a:ea typeface="Aptos Display"/>
                <a:cs typeface="Aptos Display"/>
              </a:defRPr>
            </a:pPr>
            <a:r>
              <a:rPr sz="1875" b="1">
                <a:solidFill>
                  <a:srgbClr val="FFFDF8"/>
                </a:solidFill>
                <a:latin typeface="Aptos Display"/>
                <a:ea typeface="Aptos Display"/>
                <a:cs typeface="Aptos Display"/>
              </a:rPr>
              <a:t>Es una capa compilada de conocimiento que conserva decisiones, relaciones y respuestas reutilizables.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2838173-5493-4196-AB64-D0746A36B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4095750"/>
            <a:ext cx="8382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7A3F"/>
          </a:solidFill>
          <a:ln xmlns:a="http://schemas.openxmlformats.org/drawingml/2006/main" w="0">
            <a:solidFill>
              <a:srgbClr val="E07A3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032AAC5-9AAF-4566-939C-1DE78C627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4162425"/>
            <a:ext cx="6477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02A43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102A43"/>
                </a:solidFill>
                <a:latin typeface="Aptos Mono"/>
                <a:ea typeface="Aptos Mono"/>
                <a:cs typeface="Aptos Mono"/>
              </a:rPr>
              <a:t>RAW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4031D03-A842-4E1C-A88F-2B7234138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4133850"/>
            <a:ext cx="23241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D9E2EC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D9E2EC"/>
                </a:solidFill>
                <a:latin typeface="Aptos"/>
                <a:ea typeface="Aptos"/>
                <a:cs typeface="Aptos"/>
              </a:rPr>
              <a:t>fuentes crudas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5288B35-ED6C-4450-AB7B-41CDC57E6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4610100"/>
            <a:ext cx="8382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7A3F"/>
          </a:solidFill>
          <a:ln xmlns:a="http://schemas.openxmlformats.org/drawingml/2006/main" w="0">
            <a:solidFill>
              <a:srgbClr val="E07A3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9ED23C4-A5CA-46A7-B2E4-A62C46251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4676775"/>
            <a:ext cx="6477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02A43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102A43"/>
                </a:solidFill>
                <a:latin typeface="Aptos Mono"/>
                <a:ea typeface="Aptos Mono"/>
                <a:cs typeface="Aptos Mono"/>
              </a:rPr>
              <a:t>COMPILE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FD9F431-B930-48A0-8438-BFB38ECD9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4648200"/>
            <a:ext cx="23241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D9E2EC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D9E2EC"/>
                </a:solidFill>
                <a:latin typeface="Aptos"/>
                <a:ea typeface="Aptos"/>
                <a:cs typeface="Aptos"/>
              </a:rPr>
              <a:t>sintesis durable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806E4B1-6018-4E1D-862C-063154204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5124450"/>
            <a:ext cx="8382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7A3F"/>
          </a:solidFill>
          <a:ln xmlns:a="http://schemas.openxmlformats.org/drawingml/2006/main" w="0">
            <a:solidFill>
              <a:srgbClr val="E07A3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74B1D3F-611E-42DA-83CC-CE67659CE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5191125"/>
            <a:ext cx="6477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02A43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102A43"/>
                </a:solidFill>
                <a:latin typeface="Aptos Mono"/>
                <a:ea typeface="Aptos Mono"/>
                <a:cs typeface="Aptos Mono"/>
              </a:rPr>
              <a:t>QUERY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6F4CCAA-C80C-4A0F-8267-63291E86D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5162550"/>
            <a:ext cx="23241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D9E2EC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D9E2EC"/>
                </a:solidFill>
                <a:latin typeface="Aptos"/>
                <a:ea typeface="Aptos"/>
                <a:cs typeface="Aptos"/>
              </a:rPr>
              <a:t>respuesta con memoria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86E18E5-94F6-428F-AC29-9F89C491E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5638800"/>
            <a:ext cx="8382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7A3F"/>
          </a:solidFill>
          <a:ln xmlns:a="http://schemas.openxmlformats.org/drawingml/2006/main" w="0">
            <a:solidFill>
              <a:srgbClr val="E07A3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08BD603-55D9-4BA4-BC43-7E22F1684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5705475"/>
            <a:ext cx="6477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02A43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102A43"/>
                </a:solidFill>
                <a:latin typeface="Aptos Mono"/>
                <a:ea typeface="Aptos Mono"/>
                <a:cs typeface="Aptos Mono"/>
              </a:rPr>
              <a:t>DRIFT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078D59A-4212-491B-94D1-9F13E762F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5676900"/>
            <a:ext cx="23241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D9E2EC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D9E2EC"/>
                </a:solidFill>
                <a:latin typeface="Aptos"/>
                <a:ea typeface="Aptos"/>
                <a:cs typeface="Aptos"/>
              </a:rPr>
              <a:t>mantenimiento deliberado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93F9E00-DBDB-4518-B292-D0DA7B26D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791200"/>
            <a:ext cx="6096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3C8B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3C8B3"/>
                </a:solidFill>
                <a:latin typeface="Aptos"/>
                <a:ea typeface="Aptos"/>
                <a:cs typeface="Aptos"/>
              </a:rPr>
              <a:t>Obsidian importa menos por la marca que por sus primitivas correctas: markdown local, links, propiedades y continuidad.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E3092CE-C583-40BE-8898-3259BFBBC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34150"/>
            <a:ext cx="10477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B7280"/>
                </a:solidFill>
                <a:latin typeface="Aptos"/>
                <a:ea typeface="Aptos"/>
                <a:cs typeface="Aptos"/>
              </a:rPr>
              <a:t>Sintesis del research, el demo del repo charlas y las fuentes validadas en notes/research.md.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5A54765-D016-496F-8457-E116D1C4B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96050"/>
            <a:ext cx="381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C75C2A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C75C2A"/>
                </a:solidFill>
                <a:latin typeface="Aptos Mono"/>
                <a:ea typeface="Aptos Mono"/>
                <a:cs typeface="Aptos Mono"/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196451751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83BBD7F-5AD4-41F7-9027-8976F2278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0E8"/>
          </a:solidFill>
          <a:ln xmlns:a="http://schemas.openxmlformats.org/drawingml/2006/main" w="0">
            <a:solidFill>
              <a:srgbClr val="F4F0E8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B344972-E5F8-4725-9D12-76C3836CC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38150"/>
            <a:ext cx="18097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5C2A"/>
          </a:solidFill>
          <a:ln xmlns:a="http://schemas.openxmlformats.org/drawingml/2006/main" w="0">
            <a:solidFill>
              <a:srgbClr val="C75C2A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46519FA-8565-4D48-952A-693A5F6D0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90550"/>
            <a:ext cx="3429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C75C2A"/>
                </a:solidFill>
                <a:latin typeface="Aptos Mono"/>
                <a:ea typeface="Aptos Mono"/>
                <a:cs typeface="Aptos Mono"/>
              </a:defRPr>
            </a:pPr>
            <a:r>
              <a:rPr sz="1200" b="1">
                <a:solidFill>
                  <a:srgbClr val="C75C2A"/>
                </a:solidFill>
                <a:latin typeface="Aptos Mono"/>
                <a:ea typeface="Aptos Mono"/>
                <a:cs typeface="Aptos Mono"/>
              </a:rPr>
              <a:t>PATRON ACTUAL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6562269-31AE-458C-B313-98084DED5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95350"/>
            <a:ext cx="876300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F172A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0F172A"/>
                </a:solidFill>
                <a:latin typeface="Aptos Display"/>
                <a:ea typeface="Aptos Display"/>
                <a:cs typeface="Aptos Display"/>
              </a:rPr>
              <a:t>La mayoria de stacks con documentos siguen resolviendo cada pregunta como si fuera la primera vez.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14EDA31-56A6-4AA6-AEB1-5A5118940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076450"/>
            <a:ext cx="5143500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11430">
            <a:solidFill>
              <a:srgbClr val="DDD3C2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67BEDC7-FC8A-4216-B067-8C1FAD36C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305050"/>
            <a:ext cx="2095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RAG por consulta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856D06F-311C-4C82-8C99-CA425B7F6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867025"/>
            <a:ext cx="133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7A3F"/>
          </a:solidFill>
          <a:ln xmlns:a="http://schemas.openxmlformats.org/drawingml/2006/main" w="0">
            <a:solidFill>
              <a:srgbClr val="E07A3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FC2733A-B6DD-4B11-ABD5-645BB27E4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781300"/>
            <a:ext cx="4095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se buscan chunks relevantes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DDA7FEB-CCA7-41F7-8D1B-0A864A6DA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476625"/>
            <a:ext cx="133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7A3F"/>
          </a:solidFill>
          <a:ln xmlns:a="http://schemas.openxmlformats.org/drawingml/2006/main" w="0">
            <a:solidFill>
              <a:srgbClr val="E07A3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8FC14CD-1E82-49EF-8508-DD634410D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390900"/>
            <a:ext cx="4095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se mezclan con el prompt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6BDE413-3372-45E3-BEA1-E7424A8CF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086225"/>
            <a:ext cx="133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7A3F"/>
          </a:solidFill>
          <a:ln xmlns:a="http://schemas.openxmlformats.org/drawingml/2006/main" w="0">
            <a:solidFill>
              <a:srgbClr val="E07A3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02F18C1-3D1B-44AE-A9CC-503F6E763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000500"/>
            <a:ext cx="4095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se produce una respuesta util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1732CC1-4869-44BB-9730-E392885DC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695825"/>
            <a:ext cx="133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7A3F"/>
          </a:solidFill>
          <a:ln xmlns:a="http://schemas.openxmlformats.org/drawingml/2006/main" w="0">
            <a:solidFill>
              <a:srgbClr val="E07A3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47FE5DE-BD5D-42AD-91A8-1CA00C68D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610100"/>
            <a:ext cx="4095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la sintesis rara vez vuelve a quedar escrita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39CA4E3-2D71-42D2-A536-CD83FA6F4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914900"/>
            <a:ext cx="4457700" cy="133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D3C2"/>
          </a:solidFill>
          <a:ln xmlns:a="http://schemas.openxmlformats.org/drawingml/2006/main" w="0">
            <a:solidFill>
              <a:srgbClr val="DDD3C2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200EB07-0D86-4D03-A86A-DFF0791D0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086350"/>
            <a:ext cx="4286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B42318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B42318"/>
                </a:solidFill>
                <a:latin typeface="Aptos"/>
                <a:ea typeface="Aptos"/>
                <a:cs typeface="Aptos"/>
              </a:rPr>
              <a:t>Resultado: responde bien, pero redescubre demasiado.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CA54F32-EB48-4101-BED0-C3203D438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2076450"/>
            <a:ext cx="5619750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11430">
            <a:solidFill>
              <a:srgbClr val="DDD3C2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A7961D0-57DC-4E1E-9942-A33C713AA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305050"/>
            <a:ext cx="2095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Wiki compilada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1DA8858-6645-49A0-BE02-9944533A2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867025"/>
            <a:ext cx="133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6A4F"/>
          </a:solidFill>
          <a:ln xmlns:a="http://schemas.openxmlformats.org/drawingml/2006/main" w="0">
            <a:solidFill>
              <a:srgbClr val="2D6A4F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214C500-6D85-4E6B-98D8-F7F3F5356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781300"/>
            <a:ext cx="4572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las fuentes crudas se ingieren una vez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5689605-4C95-4DD7-99A7-91962D1A3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476625"/>
            <a:ext cx="133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6A4F"/>
          </a:solidFill>
          <a:ln xmlns:a="http://schemas.openxmlformats.org/drawingml/2006/main" w="0">
            <a:solidFill>
              <a:srgbClr val="2D6A4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F3EBF12-B963-4B1B-8B05-8E4A3956E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3390900"/>
            <a:ext cx="4572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el agente compila paginas durables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2848635-20FD-4FBE-91B0-8A90DE2B3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4086225"/>
            <a:ext cx="133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6A4F"/>
          </a:solidFill>
          <a:ln xmlns:a="http://schemas.openxmlformats.org/drawingml/2006/main" w="0">
            <a:solidFill>
              <a:srgbClr val="2D6A4F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AD7D21F-6ACD-4FA5-9C77-986E8481B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4000500"/>
            <a:ext cx="4572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las queries leen primero esa capa compilada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DEEFE4A-ED68-483E-8194-3823ED57B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4695825"/>
            <a:ext cx="133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6A4F"/>
          </a:solidFill>
          <a:ln xmlns:a="http://schemas.openxmlformats.org/drawingml/2006/main" w="0">
            <a:solidFill>
              <a:srgbClr val="2D6A4F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FE330BB-8946-4662-8207-6EEEC9105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4610100"/>
            <a:ext cx="4572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las respuestas utiles pueden archivarse y enlazarse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3836732-FBA8-477C-8900-E282D660A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4914900"/>
            <a:ext cx="4819650" cy="133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D3C2"/>
          </a:solidFill>
          <a:ln xmlns:a="http://schemas.openxmlformats.org/drawingml/2006/main" w="0">
            <a:solidFill>
              <a:srgbClr val="DDD3C2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E4C91CD-737B-4501-807D-A5139AF64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5086350"/>
            <a:ext cx="47053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D6A4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2D6A4F"/>
                </a:solidFill>
                <a:latin typeface="Aptos"/>
                <a:ea typeface="Aptos"/>
                <a:cs typeface="Aptos"/>
              </a:rPr>
              <a:t>Resultado: la respuesta parte de una memoria ya trabajada.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A16426F-D027-4746-862F-B4E39E654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676900"/>
            <a:ext cx="110680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A43"/>
          </a:solidFill>
          <a:ln xmlns:a="http://schemas.openxmlformats.org/drawingml/2006/main" w="0">
            <a:solidFill>
              <a:srgbClr val="102A43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37FA2C2-A506-4568-BB08-5F4BE830D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791200"/>
            <a:ext cx="10668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DF8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FFFDF8"/>
                </a:solidFill>
                <a:latin typeface="Aptos Display"/>
                <a:ea typeface="Aptos Display"/>
                <a:cs typeface="Aptos Display"/>
              </a:rPr>
              <a:t>Retrieval no equivale a acumulacion. El cambio real aparece cuando el sistema recuerda de forma estructurada.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6BFD78C-9147-4E0B-8510-1BD706B02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34150"/>
            <a:ext cx="10477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B7280"/>
                </a:solidFill>
                <a:latin typeface="Aptos"/>
                <a:ea typeface="Aptos"/>
                <a:cs typeface="Aptos"/>
              </a:rPr>
              <a:t>Lectura central del patron criticado por Karpathy y del contraste propuesto en la charla.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3E65A7D-743A-46B9-9046-35E443E80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96050"/>
            <a:ext cx="381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C75C2A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C75C2A"/>
                </a:solidFill>
                <a:latin typeface="Aptos Mono"/>
                <a:ea typeface="Aptos Mono"/>
                <a:cs typeface="Aptos Mono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1400491763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5BFF5CF-7F6B-4686-A519-3A433E052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0A6DB9C-9B07-469F-8FCC-B5DCAFBA7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38150"/>
            <a:ext cx="18097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7A3F"/>
          </a:solidFill>
          <a:ln xmlns:a="http://schemas.openxmlformats.org/drawingml/2006/main" w="0">
            <a:solidFill>
              <a:srgbClr val="E07A3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4C4946D-CD80-451C-BB5C-F9F4F3634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90550"/>
            <a:ext cx="3429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C75C2A"/>
                </a:solidFill>
                <a:latin typeface="Aptos Mono"/>
                <a:ea typeface="Aptos Mono"/>
                <a:cs typeface="Aptos Mono"/>
              </a:defRPr>
            </a:pPr>
            <a:r>
              <a:rPr sz="1200" b="1">
                <a:solidFill>
                  <a:srgbClr val="C75C2A"/>
                </a:solidFill>
                <a:latin typeface="Aptos Mono"/>
                <a:ea typeface="Aptos Mono"/>
                <a:cs typeface="Aptos Mono"/>
              </a:rPr>
              <a:t>CAMBIO DE PARADIGMA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93C0E0D-110D-4389-ADDD-AD95FD2C0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95350"/>
            <a:ext cx="876300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F172A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0F172A"/>
                </a:solidFill>
                <a:latin typeface="Aptos Display"/>
                <a:ea typeface="Aptos Display"/>
                <a:cs typeface="Aptos Display"/>
              </a:rPr>
              <a:t>Karpathy reordena la pregunta: primero compilar conocimiento, despues consultarlo.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879AD95-7794-4575-8E0A-AAD08647F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52650"/>
            <a:ext cx="3162300" cy="3009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A43"/>
          </a:solidFill>
          <a:ln xmlns:a="http://schemas.openxmlformats.org/drawingml/2006/main" w="11430">
            <a:solidFill>
              <a:srgbClr val="35536E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DBE0B58-9E52-4D19-B021-96D95AC71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400300"/>
            <a:ext cx="2095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3C8B3"/>
                </a:solidFill>
                <a:latin typeface="Aptos Mono"/>
                <a:ea typeface="Aptos Mono"/>
                <a:cs typeface="Aptos Mono"/>
              </a:defRPr>
            </a:pPr>
            <a:r>
              <a:rPr sz="1125" b="1">
                <a:solidFill>
                  <a:srgbClr val="F3C8B3"/>
                </a:solidFill>
                <a:latin typeface="Aptos Mono"/>
                <a:ea typeface="Aptos Mono"/>
                <a:cs typeface="Aptos Mono"/>
              </a:rPr>
              <a:t>HECHO VERIFICADO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B0D0A13-DD04-4BEE-8A34-F144F96A3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800350"/>
            <a:ext cx="2457450" cy="1733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FFDF8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FFFDF8"/>
                </a:solidFill>
                <a:latin typeface="Aptos Display"/>
                <a:ea typeface="Aptos Display"/>
                <a:cs typeface="Aptos Display"/>
              </a:rPr>
              <a:t>El gist</a:t>
            </a:r>
          </a:p>
          <a:p xmlns:a="http://schemas.openxmlformats.org/drawingml/2006/main">
            <a:pPr algn="l">
              <a:defRPr sz="2100" b="1">
                <a:solidFill>
                  <a:srgbClr val="FFFDF8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FFFDF8"/>
                </a:solidFill>
                <a:latin typeface="Aptos Display"/>
                <a:ea typeface="Aptos Display"/>
                <a:cs typeface="Aptos Display"/>
              </a:rPr>
              <a:t>LLM Wiki</a:t>
            </a:r>
          </a:p>
          <a:p xmlns:a="http://schemas.openxmlformats.org/drawingml/2006/main">
            <a:pPr algn="l">
              <a:defRPr sz="2100" b="1">
                <a:solidFill>
                  <a:srgbClr val="FFFDF8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FFFDF8"/>
                </a:solidFill>
                <a:latin typeface="Aptos Display"/>
                <a:ea typeface="Aptos Display"/>
                <a:cs typeface="Aptos Display"/>
              </a:rPr>
              <a:t>se publico el</a:t>
            </a:r>
          </a:p>
          <a:p xmlns:a="http://schemas.openxmlformats.org/drawingml/2006/main">
            <a:pPr algn="l">
              <a:defRPr sz="2100" b="1">
                <a:solidFill>
                  <a:srgbClr val="FFFDF8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FFFDF8"/>
                </a:solidFill>
                <a:latin typeface="Aptos Display"/>
                <a:ea typeface="Aptos Display"/>
                <a:cs typeface="Aptos Display"/>
              </a:rPr>
              <a:t>4 de abril de 2026.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B2B1E51-27B4-46DB-AA38-A376908A5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476750"/>
            <a:ext cx="23622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D9E2EC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D9E2EC"/>
                </a:solidFill>
                <a:latin typeface="Aptos"/>
                <a:ea typeface="Aptos"/>
                <a:cs typeface="Aptos"/>
              </a:rPr>
              <a:t>No trae el playbook completo.</a:t>
            </a:r>
          </a:p>
          <a:p xmlns:a="http://schemas.openxmlformats.org/drawingml/2006/main">
            <a:pPr algn="l">
              <a:defRPr sz="1200" b="0">
                <a:solidFill>
                  <a:srgbClr val="D9E2EC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D9E2EC"/>
                </a:solidFill>
                <a:latin typeface="Aptos"/>
                <a:ea typeface="Aptos"/>
                <a:cs typeface="Aptos"/>
              </a:rPr>
              <a:t>Pero fija la tesis.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199C36D-3227-4CC5-B5F1-31C99AA5B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2152650"/>
            <a:ext cx="7581900" cy="3009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11430">
            <a:solidFill>
              <a:srgbClr val="DDD3C2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FD4CD0B-FEE3-4A75-8343-E08FA6B38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2362200"/>
            <a:ext cx="2476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Del chunk a la pagina durable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4DFA76A-2D44-4532-A8C1-A648681F6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2781300"/>
            <a:ext cx="7810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0D3"/>
          </a:solidFill>
          <a:ln xmlns:a="http://schemas.openxmlformats.org/drawingml/2006/main" w="0">
            <a:solidFill>
              <a:srgbClr val="E7E0D3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78C364A-DAEE-400E-9A56-7F722B003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838450"/>
            <a:ext cx="6286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02A43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102A43"/>
                </a:solidFill>
                <a:latin typeface="Aptos Mono"/>
                <a:ea typeface="Aptos Mono"/>
                <a:cs typeface="Aptos Mono"/>
              </a:rPr>
              <a:t>ANTES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6C75957-EB45-45EE-807E-60BA486D5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2781300"/>
            <a:ext cx="8763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7A3F"/>
          </a:solidFill>
          <a:ln xmlns:a="http://schemas.openxmlformats.org/drawingml/2006/main" w="0">
            <a:solidFill>
              <a:srgbClr val="E07A3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5115107-F0FD-45E0-9D21-D751FDA1E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2838450"/>
            <a:ext cx="7239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02A43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102A43"/>
                </a:solidFill>
                <a:latin typeface="Aptos Mono"/>
                <a:ea typeface="Aptos Mono"/>
                <a:cs typeface="Aptos Mono"/>
              </a:rPr>
              <a:t>DESPUES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CEFD4D9-B9D5-4F24-8EA3-CBD0023A1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352800"/>
            <a:ext cx="5905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5EE"/>
          </a:solidFill>
          <a:ln xmlns:a="http://schemas.openxmlformats.org/drawingml/2006/main" w="11430">
            <a:solidFill>
              <a:srgbClr val="DDD3C2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7B6F3E3-F5D1-4A25-8F79-C78036B2F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3562350"/>
            <a:ext cx="4762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0F172A"/>
                </a:solidFill>
                <a:latin typeface="Aptos Mono"/>
                <a:ea typeface="Aptos Mono"/>
                <a:cs typeface="Aptos Mono"/>
              </a:defRPr>
            </a:pPr>
            <a:r>
              <a:rPr sz="825" b="1">
                <a:solidFill>
                  <a:srgbClr val="0F172A"/>
                </a:solidFill>
                <a:latin typeface="Aptos Mono"/>
                <a:ea typeface="Aptos Mono"/>
                <a:cs typeface="Aptos Mono"/>
              </a:rPr>
              <a:t>FUENTES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A01DF6A-DFCC-4684-8BD9-9C9244B61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3352800"/>
            <a:ext cx="5905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5EE"/>
          </a:solidFill>
          <a:ln xmlns:a="http://schemas.openxmlformats.org/drawingml/2006/main" w="11430">
            <a:solidFill>
              <a:srgbClr val="DDD3C2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E1B2E71-9CCB-4EF5-8AD1-946441658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3562350"/>
            <a:ext cx="4762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0F172A"/>
                </a:solidFill>
                <a:latin typeface="Aptos Mono"/>
                <a:ea typeface="Aptos Mono"/>
                <a:cs typeface="Aptos Mono"/>
              </a:defRPr>
            </a:pPr>
            <a:r>
              <a:rPr sz="825" b="1">
                <a:solidFill>
                  <a:srgbClr val="0F172A"/>
                </a:solidFill>
                <a:latin typeface="Aptos Mono"/>
                <a:ea typeface="Aptos Mono"/>
                <a:cs typeface="Aptos Mono"/>
              </a:rPr>
              <a:t>RETRIEVE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6F9A5F0-3C3C-4019-BB17-459096127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3352800"/>
            <a:ext cx="5905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5EE"/>
          </a:solidFill>
          <a:ln xmlns:a="http://schemas.openxmlformats.org/drawingml/2006/main" w="11430">
            <a:solidFill>
              <a:srgbClr val="DDD3C2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9FAEFAC-D939-4B41-AD4D-67B3B2E95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3562350"/>
            <a:ext cx="4762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0F172A"/>
                </a:solidFill>
                <a:latin typeface="Aptos Mono"/>
                <a:ea typeface="Aptos Mono"/>
                <a:cs typeface="Aptos Mono"/>
              </a:defRPr>
            </a:pPr>
            <a:r>
              <a:rPr sz="825" b="1">
                <a:solidFill>
                  <a:srgbClr val="0F172A"/>
                </a:solidFill>
                <a:latin typeface="Aptos Mono"/>
                <a:ea typeface="Aptos Mono"/>
                <a:cs typeface="Aptos Mono"/>
              </a:rPr>
              <a:t>PROMPT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22199BA-70BC-46A6-A503-413C58ED3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352800"/>
            <a:ext cx="5905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5EE"/>
          </a:solidFill>
          <a:ln xmlns:a="http://schemas.openxmlformats.org/drawingml/2006/main" w="11430">
            <a:solidFill>
              <a:srgbClr val="DDD3C2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A86AE77-2ACB-4701-8AF3-E36F57706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3562350"/>
            <a:ext cx="4762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0F172A"/>
                </a:solidFill>
                <a:latin typeface="Aptos Mono"/>
                <a:ea typeface="Aptos Mono"/>
                <a:cs typeface="Aptos Mono"/>
              </a:defRPr>
            </a:pPr>
            <a:r>
              <a:rPr sz="825" b="1">
                <a:solidFill>
                  <a:srgbClr val="0F172A"/>
                </a:solidFill>
                <a:latin typeface="Aptos Mono"/>
                <a:ea typeface="Aptos Mono"/>
                <a:cs typeface="Aptos Mono"/>
              </a:rPr>
              <a:t>ANSWER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E6A11CE-A51B-4644-AE40-A6DFA9AFC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3629025"/>
            <a:ext cx="1333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7A3F"/>
          </a:solidFill>
          <a:ln xmlns:a="http://schemas.openxmlformats.org/drawingml/2006/main" w="0">
            <a:solidFill>
              <a:srgbClr val="E07A3F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6259952-FFAC-4D23-B878-A78242CCD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3629025"/>
            <a:ext cx="1333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7A3F"/>
          </a:solidFill>
          <a:ln xmlns:a="http://schemas.openxmlformats.org/drawingml/2006/main" w="0">
            <a:solidFill>
              <a:srgbClr val="E07A3F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BE28D64-8FFB-4C88-8658-FC3811C31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629025"/>
            <a:ext cx="1333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7A3F"/>
          </a:solidFill>
          <a:ln xmlns:a="http://schemas.openxmlformats.org/drawingml/2006/main" w="0">
            <a:solidFill>
              <a:srgbClr val="E07A3F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79F77ED-DC4E-4E97-8C2A-641FA2D0B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4229100"/>
            <a:ext cx="2667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Cada pregunta vuelve a abrir el mismo ciclo de descubrimiento.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7BAA2A1-5F7B-48EB-B8EC-D0FD9CEC1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3352800"/>
            <a:ext cx="7048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5EE"/>
          </a:solidFill>
          <a:ln xmlns:a="http://schemas.openxmlformats.org/drawingml/2006/main" w="11430">
            <a:solidFill>
              <a:srgbClr val="DDD3C2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5516766-0812-45FE-8138-E6F04C92A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3562350"/>
            <a:ext cx="5524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0F172A"/>
                </a:solidFill>
                <a:latin typeface="Aptos Mono"/>
                <a:ea typeface="Aptos Mono"/>
                <a:cs typeface="Aptos Mono"/>
              </a:defRPr>
            </a:pPr>
            <a:r>
              <a:rPr sz="825" b="1">
                <a:solidFill>
                  <a:srgbClr val="0F172A"/>
                </a:solidFill>
                <a:latin typeface="Aptos Mono"/>
                <a:ea typeface="Aptos Mono"/>
                <a:cs typeface="Aptos Mono"/>
              </a:rPr>
              <a:t>RAW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866C8E3-C921-4881-9AFF-CDB691CEA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3352800"/>
            <a:ext cx="7048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5EE"/>
          </a:solidFill>
          <a:ln xmlns:a="http://schemas.openxmlformats.org/drawingml/2006/main" w="11430">
            <a:solidFill>
              <a:srgbClr val="DDD3C2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8A76EDC-8FB6-4F38-A581-3758A418A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3562350"/>
            <a:ext cx="5524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0F172A"/>
                </a:solidFill>
                <a:latin typeface="Aptos Mono"/>
                <a:ea typeface="Aptos Mono"/>
                <a:cs typeface="Aptos Mono"/>
              </a:defRPr>
            </a:pPr>
            <a:r>
              <a:rPr sz="825" b="1">
                <a:solidFill>
                  <a:srgbClr val="0F172A"/>
                </a:solidFill>
                <a:latin typeface="Aptos Mono"/>
                <a:ea typeface="Aptos Mono"/>
                <a:cs typeface="Aptos Mono"/>
              </a:rPr>
              <a:t>COMPILE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A32159A-4A75-486B-9285-102DAECEC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3352800"/>
            <a:ext cx="7048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5EE"/>
          </a:solidFill>
          <a:ln xmlns:a="http://schemas.openxmlformats.org/drawingml/2006/main" w="11430">
            <a:solidFill>
              <a:srgbClr val="DDD3C2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242846B-B093-4F71-94DA-4EF6AED51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3562350"/>
            <a:ext cx="5524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0F172A"/>
                </a:solidFill>
                <a:latin typeface="Aptos Mono"/>
                <a:ea typeface="Aptos Mono"/>
                <a:cs typeface="Aptos Mono"/>
              </a:defRPr>
            </a:pPr>
            <a:r>
              <a:rPr sz="825" b="1">
                <a:solidFill>
                  <a:srgbClr val="0F172A"/>
                </a:solidFill>
                <a:latin typeface="Aptos Mono"/>
                <a:ea typeface="Aptos Mono"/>
                <a:cs typeface="Aptos Mono"/>
              </a:rPr>
              <a:t>WIKI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34AC3A4-2038-4BEA-A4C6-4DEB7D5F2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3352800"/>
            <a:ext cx="7048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5EE"/>
          </a:solidFill>
          <a:ln xmlns:a="http://schemas.openxmlformats.org/drawingml/2006/main" w="11430">
            <a:solidFill>
              <a:srgbClr val="DDD3C2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FCC9F2E-CA63-40A1-9B6B-A39E33297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87050" y="3562350"/>
            <a:ext cx="5524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0F172A"/>
                </a:solidFill>
                <a:latin typeface="Aptos Mono"/>
                <a:ea typeface="Aptos Mono"/>
                <a:cs typeface="Aptos Mono"/>
              </a:defRPr>
            </a:pPr>
            <a:r>
              <a:rPr sz="825" b="1">
                <a:solidFill>
                  <a:srgbClr val="0F172A"/>
                </a:solidFill>
                <a:latin typeface="Aptos Mono"/>
                <a:ea typeface="Aptos Mono"/>
                <a:cs typeface="Aptos Mono"/>
              </a:rPr>
              <a:t>QUERY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16022FB-EC00-4E0E-A78A-C53DE24E6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629025"/>
            <a:ext cx="152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6A4F"/>
          </a:solidFill>
          <a:ln xmlns:a="http://schemas.openxmlformats.org/drawingml/2006/main" w="0">
            <a:solidFill>
              <a:srgbClr val="2D6A4F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E13AB455-D8C3-4705-BAA3-5BD9473FE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3629025"/>
            <a:ext cx="152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6A4F"/>
          </a:solidFill>
          <a:ln xmlns:a="http://schemas.openxmlformats.org/drawingml/2006/main" w="0">
            <a:solidFill>
              <a:srgbClr val="2D6A4F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FF6C4C4D-C046-489F-90F3-A833B5BAF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9400" y="3629025"/>
            <a:ext cx="152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6A4F"/>
          </a:solidFill>
          <a:ln xmlns:a="http://schemas.openxmlformats.org/drawingml/2006/main" w="0">
            <a:solidFill>
              <a:srgbClr val="2D6A4F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C76F095B-F8AB-473E-BF2B-1BA707703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4229100"/>
            <a:ext cx="34099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La consulta entra despues de que ya existe una capa intermedia trabajada.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8E8EA395-8654-457F-A30B-774F1A96F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562600"/>
            <a:ext cx="110680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0D3"/>
          </a:solidFill>
          <a:ln xmlns:a="http://schemas.openxmlformats.org/drawingml/2006/main" w="9525">
            <a:solidFill>
              <a:srgbClr val="DDD3C2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C58FB828-F5DC-4502-BD6C-936D95F6E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676900"/>
            <a:ext cx="107061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La unidad de valor deja de ser el chunk relevante y pasa a ser la pagina durable con proveniencia y enlaces.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ABDD5A2C-563F-4191-97AE-59A612FCF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34150"/>
            <a:ext cx="10477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B7280"/>
                </a:solidFill>
                <a:latin typeface="Aptos"/>
                <a:ea typeface="Aptos"/>
                <a:cs typeface="Aptos"/>
              </a:rPr>
              <a:t>Fuente visible requerida: Andrej Karpathy, LLM Wiki gist, 2026-04-04.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08DF6BAD-2D47-468F-99BA-D14F464EE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96050"/>
            <a:ext cx="381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C75C2A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C75C2A"/>
                </a:solidFill>
                <a:latin typeface="Aptos Mono"/>
                <a:ea typeface="Aptos Mono"/>
                <a:cs typeface="Aptos Mono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1583051276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8E33EF1-2BFC-417D-B745-925F4F271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0E8"/>
          </a:solidFill>
          <a:ln xmlns:a="http://schemas.openxmlformats.org/drawingml/2006/main" w="0">
            <a:solidFill>
              <a:srgbClr val="F4F0E8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3B42F93-F8FC-4B4D-8BA5-489381222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38150"/>
            <a:ext cx="18097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5C2A"/>
          </a:solidFill>
          <a:ln xmlns:a="http://schemas.openxmlformats.org/drawingml/2006/main" w="0">
            <a:solidFill>
              <a:srgbClr val="C75C2A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73730CD-0383-4338-8C4D-363E029B5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90550"/>
            <a:ext cx="3429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C75C2A"/>
                </a:solidFill>
                <a:latin typeface="Aptos Mono"/>
                <a:ea typeface="Aptos Mono"/>
                <a:cs typeface="Aptos Mono"/>
              </a:defRPr>
            </a:pPr>
            <a:r>
              <a:rPr sz="1200" b="1">
                <a:solidFill>
                  <a:srgbClr val="C75C2A"/>
                </a:solidFill>
                <a:latin typeface="Aptos Mono"/>
                <a:ea typeface="Aptos Mono"/>
                <a:cs typeface="Aptos Mono"/>
              </a:rPr>
              <a:t>CASO REAL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0EBB4B9-D140-4F38-9ED5-2474E9DC4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95350"/>
            <a:ext cx="876300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F172A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0F172A"/>
                </a:solidFill>
                <a:latin typeface="Aptos Display"/>
                <a:ea typeface="Aptos Display"/>
                <a:cs typeface="Aptos Display"/>
              </a:rPr>
              <a:t>En este repo, una wiki compilada ya puede responder sin releer AGENTS, MEMORY e IDEAS cada vez.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7A07B3A-B597-482A-91FC-85D03C88C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33600"/>
            <a:ext cx="11068050" cy="3600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11430">
            <a:solidFill>
              <a:srgbClr val="DDD3C2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5A64F19-ED82-4F7C-9C15-CD5A98588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343150"/>
            <a:ext cx="2476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Demo sobre el repo charlas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4558507-FBD3-4186-B301-79D11D0F3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800350"/>
            <a:ext cx="1047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0D3"/>
          </a:solidFill>
          <a:ln xmlns:a="http://schemas.openxmlformats.org/drawingml/2006/main" w="0">
            <a:solidFill>
              <a:srgbClr val="E7E0D3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08AFD6E-D9C8-45F2-80CF-F111FFDEB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857500"/>
            <a:ext cx="8953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F172A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0F172A"/>
                </a:solidFill>
                <a:latin typeface="Aptos Mono"/>
                <a:ea typeface="Aptos Mono"/>
                <a:cs typeface="Aptos Mono"/>
              </a:rPr>
              <a:t>RAW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B6D942E-6139-47C8-A610-DBC83B788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181350"/>
            <a:ext cx="2095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fuentes ingeridas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09C8DDC-84D5-47A4-849B-BDFF6491C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7147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0D3"/>
          </a:solidFill>
          <a:ln xmlns:a="http://schemas.openxmlformats.org/drawingml/2006/main" w="0">
            <a:solidFill>
              <a:srgbClr val="E7E0D3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7DA32FE-F504-4786-96C9-E989F692B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638550"/>
            <a:ext cx="21717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AGENTS.md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BE9DC53-86AA-455A-B23A-F72B677F1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1338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0D3"/>
          </a:solidFill>
          <a:ln xmlns:a="http://schemas.openxmlformats.org/drawingml/2006/main" w="0">
            <a:solidFill>
              <a:srgbClr val="E7E0D3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A2372EC-8878-44DB-A086-7B40FCD84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057650"/>
            <a:ext cx="21717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MEMORY.md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140CEC4-E8EE-428B-9197-1166AFD8B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5529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0D3"/>
          </a:solidFill>
          <a:ln xmlns:a="http://schemas.openxmlformats.org/drawingml/2006/main" w="0">
            <a:solidFill>
              <a:srgbClr val="E7E0D3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6749B7B-96F3-4317-9EA3-771F3CC15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476750"/>
            <a:ext cx="21717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IDEAS.md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F73F430-3919-4F37-BAD2-8D36CA6F1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9720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0D3"/>
          </a:solidFill>
          <a:ln xmlns:a="http://schemas.openxmlformats.org/drawingml/2006/main" w="0">
            <a:solidFill>
              <a:srgbClr val="E7E0D3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8FFB997-8288-4A8E-BAB5-C6D87985C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895850"/>
            <a:ext cx="21717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STYLE-CHARLAS.md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2C4956C-3D36-4F35-A5AA-524E08B69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3911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0D3"/>
          </a:solidFill>
          <a:ln xmlns:a="http://schemas.openxmlformats.org/drawingml/2006/main" w="0">
            <a:solidFill>
              <a:srgbClr val="E7E0D3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6D2EC5D-61D1-4654-98FC-B96A9A077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5314950"/>
            <a:ext cx="21717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README de Harness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7E714EC-8F4A-4029-ACE6-1192E473E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2800350"/>
            <a:ext cx="1047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7A3F"/>
          </a:solidFill>
          <a:ln xmlns:a="http://schemas.openxmlformats.org/drawingml/2006/main" w="0">
            <a:solidFill>
              <a:srgbClr val="E07A3F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AFD13AE-0D07-47C6-834A-FE0BF970C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2857500"/>
            <a:ext cx="8953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02A43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102A43"/>
                </a:solidFill>
                <a:latin typeface="Aptos Mono"/>
                <a:ea typeface="Aptos Mono"/>
                <a:cs typeface="Aptos Mono"/>
              </a:rPr>
              <a:t>COMPILED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BBE289E-F97B-4B6A-B85E-A366804C7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3181350"/>
            <a:ext cx="2095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paginas durables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26E0EE2-C029-4C22-B2C5-6DC2A52A4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37147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7A3F"/>
          </a:solidFill>
          <a:ln xmlns:a="http://schemas.openxmlformats.org/drawingml/2006/main" w="0">
            <a:solidFill>
              <a:srgbClr val="E07A3F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B673684-B894-4481-AC3D-D107DF393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3638550"/>
            <a:ext cx="21717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repo-charlas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D334C8F-B2A6-40BC-B923-518394F99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41338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7A3F"/>
          </a:solidFill>
          <a:ln xmlns:a="http://schemas.openxmlformats.org/drawingml/2006/main" w="0">
            <a:solidFill>
              <a:srgbClr val="E07A3F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0BDD37F-9BA8-4307-83C7-628611BC9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4057650"/>
            <a:ext cx="21717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flujo-de-charlas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3AD8904-5F6D-4F3E-8DBE-023FF63AD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45529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7A3F"/>
          </a:solidFill>
          <a:ln xmlns:a="http://schemas.openxmlformats.org/drawingml/2006/main" w="0">
            <a:solidFill>
              <a:srgbClr val="E07A3F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479C6D3-4EC1-4B1A-8572-90A94CD15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4476750"/>
            <a:ext cx="21717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portafolio-de-charlas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285B99F-CF64-4035-A3CF-50E3FD435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49720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7A3F"/>
          </a:solidFill>
          <a:ln xmlns:a="http://schemas.openxmlformats.org/drawingml/2006/main" w="0">
            <a:solidFill>
              <a:srgbClr val="E07A3F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6953570-464D-4505-8523-A266B576A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4895850"/>
            <a:ext cx="21717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ideas-pendientes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0378A8C-4B92-413A-8625-12FA6D0EE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800350"/>
            <a:ext cx="1047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6A4F"/>
          </a:solidFill>
          <a:ln xmlns:a="http://schemas.openxmlformats.org/drawingml/2006/main" w="0">
            <a:solidFill>
              <a:srgbClr val="2D6A4F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B35FC56-6510-4217-A4BC-FE2783534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857500"/>
            <a:ext cx="8953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02A43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102A43"/>
                </a:solidFill>
                <a:latin typeface="Aptos Mono"/>
                <a:ea typeface="Aptos Mono"/>
                <a:cs typeface="Aptos Mono"/>
              </a:rPr>
              <a:t>QUERY FILED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D165865-612F-4C91-842F-8F46A253D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181350"/>
            <a:ext cx="2095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respuesta archivada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459E9AA-DEE5-4255-B083-DF48FEA05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7147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6A4F"/>
          </a:solidFill>
          <a:ln xmlns:a="http://schemas.openxmlformats.org/drawingml/2006/main" w="0">
            <a:solidFill>
              <a:srgbClr val="2D6A4F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CD18B71-705D-4EFD-BF7F-F000D5D7C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3638550"/>
            <a:ext cx="21717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que-charla-priorizar-despues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E5C945D7-CF54-4BD5-9393-9685996E6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41338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6A4F"/>
          </a:solidFill>
          <a:ln xmlns:a="http://schemas.openxmlformats.org/drawingml/2006/main" w="0">
            <a:solidFill>
              <a:srgbClr val="2D6A4F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2D86E4F3-FED7-473B-B862-75D9F42BB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4057650"/>
            <a:ext cx="21717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fuentes ya enlazadas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6F4B852F-A20F-4894-AE0D-BA9FE0945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45529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6A4F"/>
          </a:solidFill>
          <a:ln xmlns:a="http://schemas.openxmlformats.org/drawingml/2006/main" w="0">
            <a:solidFill>
              <a:srgbClr val="2D6A4F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54C1965C-1D9E-4AEC-9176-DB089E122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4476750"/>
            <a:ext cx="21717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criterio reusable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1388F63B-C3A6-4118-B5DD-F801961A9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3857625"/>
            <a:ext cx="533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7A3F"/>
          </a:solidFill>
          <a:ln xmlns:a="http://schemas.openxmlformats.org/drawingml/2006/main" w="0">
            <a:solidFill>
              <a:srgbClr val="E07A3F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C6BC31EC-EA68-4FE1-BAC6-79D99F168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3857625"/>
            <a:ext cx="533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6A4F"/>
          </a:solidFill>
          <a:ln xmlns:a="http://schemas.openxmlformats.org/drawingml/2006/main" w="0">
            <a:solidFill>
              <a:srgbClr val="2D6A4F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9361875E-167E-4CA4-B0CB-ECDD993D0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638550"/>
            <a:ext cx="533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C75C2A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C75C2A"/>
                </a:solidFill>
                <a:latin typeface="Aptos Mono"/>
                <a:ea typeface="Aptos Mono"/>
                <a:cs typeface="Aptos Mono"/>
              </a:rPr>
              <a:t>compile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F35BD196-5218-458F-9E1D-B631B800F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638550"/>
            <a:ext cx="533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2D6A4F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2D6A4F"/>
                </a:solidFill>
                <a:latin typeface="Aptos Mono"/>
                <a:ea typeface="Aptos Mono"/>
                <a:cs typeface="Aptos Mono"/>
              </a:rPr>
              <a:t>serve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E7F36868-CE0F-4132-946D-5D19B826B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162300"/>
            <a:ext cx="2457450" cy="2019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A43"/>
          </a:solidFill>
          <a:ln xmlns:a="http://schemas.openxmlformats.org/drawingml/2006/main" w="11430">
            <a:solidFill>
              <a:srgbClr val="35536E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70D30B1B-484B-47E1-A7F1-6664F1DD6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3352800"/>
            <a:ext cx="1905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3C8B3"/>
                </a:solidFill>
                <a:latin typeface="Aptos Mono"/>
                <a:ea typeface="Aptos Mono"/>
                <a:cs typeface="Aptos Mono"/>
              </a:defRPr>
            </a:pPr>
            <a:r>
              <a:rPr sz="1050" b="1">
                <a:solidFill>
                  <a:srgbClr val="F3C8B3"/>
                </a:solidFill>
                <a:latin typeface="Aptos Mono"/>
                <a:ea typeface="Aptos Mono"/>
                <a:cs typeface="Aptos Mono"/>
              </a:rPr>
              <a:t>PREGUNTA REUSABLE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6A7E1A35-63B2-4E61-9713-319CC4047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3752850"/>
            <a:ext cx="18097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FFDF8"/>
                </a:solidFill>
                <a:latin typeface="Aptos Display"/>
                <a:ea typeface="Aptos Display"/>
                <a:cs typeface="Aptos Display"/>
              </a:defRPr>
            </a:pPr>
            <a:r>
              <a:rPr sz="1725" b="1">
                <a:solidFill>
                  <a:srgbClr val="FFFDF8"/>
                </a:solidFill>
                <a:latin typeface="Aptos Display"/>
                <a:ea typeface="Aptos Display"/>
                <a:cs typeface="Aptos Display"/>
              </a:rPr>
              <a:t>Que charla conviene empujar despues del portafolio actual?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B55094D1-64BD-4809-AD0B-B0AD5721A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4686300"/>
            <a:ext cx="18859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D9E2EC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D9E2EC"/>
                </a:solidFill>
                <a:latin typeface="Aptos"/>
                <a:ea typeface="Aptos"/>
                <a:cs typeface="Aptos"/>
              </a:rPr>
              <a:t>La respuesta ya no se recompone desde cero. Queda archivada, enlazada y justificable.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882BB804-84FC-46DF-9EBE-28D643256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981700"/>
            <a:ext cx="11068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DBC8"/>
          </a:solidFill>
          <a:ln xmlns:a="http://schemas.openxmlformats.org/drawingml/2006/main" w="9525">
            <a:solidFill>
              <a:srgbClr val="DDD3C2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9EB22431-A1DC-443F-A67A-425873BDD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076950"/>
            <a:ext cx="10668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La demo mental concreta es esta: separar fuentes, compilar paginas y archivar queries que vuelven.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E34CA66F-C4A2-4735-BE45-E31ADE03D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34150"/>
            <a:ext cx="10477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B7280"/>
                </a:solidFill>
                <a:latin typeface="Aptos"/>
                <a:ea typeface="Aptos"/>
                <a:cs typeface="Aptos"/>
              </a:rPr>
              <a:t>Basado en demo-charlas: WIKI-SCHEMA, source-manifest, compiled pages y query filed.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4F013F73-5183-49E1-87D8-3F9A7EBA2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96050"/>
            <a:ext cx="381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C75C2A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C75C2A"/>
                </a:solidFill>
                <a:latin typeface="Aptos Mono"/>
                <a:ea typeface="Aptos Mono"/>
                <a:cs typeface="Aptos Mono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2028984810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4CEC0CA-75D5-4A20-A57C-0760E905C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82FAD1D-9079-447A-9BAF-4579C6EA2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38150"/>
            <a:ext cx="18097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7A3F"/>
          </a:solidFill>
          <a:ln xmlns:a="http://schemas.openxmlformats.org/drawingml/2006/main" w="0">
            <a:solidFill>
              <a:srgbClr val="E07A3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0F6A066-5F83-4F0D-90AC-A6577E3EF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90550"/>
            <a:ext cx="3429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C75C2A"/>
                </a:solidFill>
                <a:latin typeface="Aptos Mono"/>
                <a:ea typeface="Aptos Mono"/>
                <a:cs typeface="Aptos Mono"/>
              </a:defRPr>
            </a:pPr>
            <a:r>
              <a:rPr sz="1200" b="1">
                <a:solidFill>
                  <a:srgbClr val="C75C2A"/>
                </a:solidFill>
                <a:latin typeface="Aptos Mono"/>
                <a:ea typeface="Aptos Mono"/>
                <a:cs typeface="Aptos Mono"/>
              </a:rPr>
              <a:t>FRONTEND CORRECTO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9D98CFA-A660-434D-B1F4-B1131CC6E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95350"/>
            <a:ext cx="876300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F172A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0F172A"/>
                </a:solidFill>
                <a:latin typeface="Aptos Display"/>
                <a:ea typeface="Aptos Display"/>
                <a:cs typeface="Aptos Display"/>
              </a:rPr>
              <a:t>Obsidian funciona bien no por hype, sino porque ya trae primitivas que una memoria operativa necesita.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C25991C-507C-4F1E-9580-B581D655B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209800"/>
            <a:ext cx="2514600" cy="2628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11430">
            <a:solidFill>
              <a:srgbClr val="DDD3C2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BE9D633-0990-45CD-A598-46CEAC4FF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38400"/>
            <a:ext cx="20574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Markdown local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85C9D8D-30A1-4212-BB98-E2545F2E1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952750"/>
            <a:ext cx="20574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Cada pagina es un archivo durable, versionable y legible fuera de la herramienta.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54AE7CC-92E0-41FD-AC04-24A56A24B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229100"/>
            <a:ext cx="2057400" cy="133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D3C2"/>
          </a:solidFill>
          <a:ln xmlns:a="http://schemas.openxmlformats.org/drawingml/2006/main" w="0">
            <a:solidFill>
              <a:srgbClr val="DDD3C2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BE6CC0E-0870-407E-AEF4-74CC6324A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381500"/>
            <a:ext cx="20574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C75C2A"/>
                </a:solidFill>
                <a:latin typeface="Aptos Mono"/>
                <a:ea typeface="Aptos Mono"/>
                <a:cs typeface="Aptos Mono"/>
              </a:defRPr>
            </a:pPr>
            <a:r>
              <a:rPr sz="1050" b="1">
                <a:solidFill>
                  <a:srgbClr val="C75C2A"/>
                </a:solidFill>
                <a:latin typeface="Aptos Mono"/>
                <a:ea typeface="Aptos Mono"/>
                <a:cs typeface="Aptos Mono"/>
              </a:rPr>
              <a:t>filesystem &gt; chat log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CEF9980-9956-4B1D-81F9-42C31D5EE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2209800"/>
            <a:ext cx="2514600" cy="2628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11430">
            <a:solidFill>
              <a:srgbClr val="DDD3C2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DE79B53-B6B5-4BAE-969A-2C616971C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2438400"/>
            <a:ext cx="20574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[[wikilinks]]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EECB520-4448-47C0-87B4-2C16D4623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2952750"/>
            <a:ext cx="20574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Los enlaces convierten conceptos, sistemas y decisiones en un grafo navegable y auditable.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2F34363-9912-4B90-AA8D-E3DCE52A2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4229100"/>
            <a:ext cx="2057400" cy="133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D3C2"/>
          </a:solidFill>
          <a:ln xmlns:a="http://schemas.openxmlformats.org/drawingml/2006/main" w="0">
            <a:solidFill>
              <a:srgbClr val="DDD3C2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94697F8-EF23-456B-940E-3722629C6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4381500"/>
            <a:ext cx="20574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C75C2A"/>
                </a:solidFill>
                <a:latin typeface="Aptos Mono"/>
                <a:ea typeface="Aptos Mono"/>
                <a:cs typeface="Aptos Mono"/>
              </a:defRPr>
            </a:pPr>
            <a:r>
              <a:rPr sz="1050" b="1">
                <a:solidFill>
                  <a:srgbClr val="C75C2A"/>
                </a:solidFill>
                <a:latin typeface="Aptos Mono"/>
                <a:ea typeface="Aptos Mono"/>
                <a:cs typeface="Aptos Mono"/>
              </a:rPr>
              <a:t>relaciones explicitas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304842A-85E4-4380-8F9F-DFC06B739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209800"/>
            <a:ext cx="2514600" cy="2628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11430">
            <a:solidFill>
              <a:srgbClr val="DDD3C2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95DC658-4BEC-4CC2-B1AB-74EB0E7EB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438400"/>
            <a:ext cx="20574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Properties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390317D-B453-4EA7-80AB-A854B00A7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952750"/>
            <a:ext cx="20574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El frontmatter permite tipo de pagina, proveniencia, estado y fecha de compilacion.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91D8795-28B5-48B3-B1F0-A5D60F9B5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229100"/>
            <a:ext cx="2057400" cy="133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D3C2"/>
          </a:solidFill>
          <a:ln xmlns:a="http://schemas.openxmlformats.org/drawingml/2006/main" w="0">
            <a:solidFill>
              <a:srgbClr val="DDD3C2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14443C8-6614-4457-AEFF-E5EB77632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381500"/>
            <a:ext cx="20574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C75C2A"/>
                </a:solidFill>
                <a:latin typeface="Aptos Mono"/>
                <a:ea typeface="Aptos Mono"/>
                <a:cs typeface="Aptos Mono"/>
              </a:defRPr>
            </a:pPr>
            <a:r>
              <a:rPr sz="1050" b="1">
                <a:solidFill>
                  <a:srgbClr val="C75C2A"/>
                </a:solidFill>
                <a:latin typeface="Aptos Mono"/>
                <a:ea typeface="Aptos Mono"/>
                <a:cs typeface="Aptos Mono"/>
              </a:rPr>
              <a:t>esquema + metadata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B5B476F-428D-4A28-90F2-0AB1987A8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209800"/>
            <a:ext cx="2514600" cy="2628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11430">
            <a:solidFill>
              <a:srgbClr val="DDD3C2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0526027-115C-4895-AD4E-F0D25E3D3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2438400"/>
            <a:ext cx="20574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Graph + clipper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D56A700-0C04-4B52-B2E7-08D9AB66A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2952750"/>
            <a:ext cx="20574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Visualiza la estructura y facilita ingestar fuentes sin depender de un producto nuevo.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028D149-43A6-4691-A120-7A8C81FF5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4229100"/>
            <a:ext cx="2057400" cy="133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D3C2"/>
          </a:solidFill>
          <a:ln xmlns:a="http://schemas.openxmlformats.org/drawingml/2006/main" w="0">
            <a:solidFill>
              <a:srgbClr val="DDD3C2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AD2F9CB-D874-4227-8E3B-2C12FD908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4381500"/>
            <a:ext cx="20574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C75C2A"/>
                </a:solidFill>
                <a:latin typeface="Aptos Mono"/>
                <a:ea typeface="Aptos Mono"/>
                <a:cs typeface="Aptos Mono"/>
              </a:defRPr>
            </a:pPr>
            <a:r>
              <a:rPr sz="1050" b="1">
                <a:solidFill>
                  <a:srgbClr val="C75C2A"/>
                </a:solidFill>
                <a:latin typeface="Aptos Mono"/>
                <a:ea typeface="Aptos Mono"/>
                <a:cs typeface="Aptos Mono"/>
              </a:rPr>
              <a:t>visibilidad + ingest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9661E60-C2CF-4E5F-88FB-563FECE0F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219700"/>
            <a:ext cx="110680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A43"/>
          </a:solidFill>
          <a:ln xmlns:a="http://schemas.openxmlformats.org/drawingml/2006/main" w="11430">
            <a:solidFill>
              <a:srgbClr val="102A43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0951475-977C-4FE7-8164-3E0AFEFD9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429250"/>
            <a:ext cx="10096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FFFDF8"/>
                </a:solidFill>
                <a:latin typeface="Aptos Display"/>
                <a:ea typeface="Aptos Display"/>
                <a:cs typeface="Aptos Display"/>
              </a:defRPr>
            </a:pPr>
            <a:r>
              <a:rPr sz="2025" b="1">
                <a:solidFill>
                  <a:srgbClr val="FFFDF8"/>
                </a:solidFill>
                <a:latin typeface="Aptos Display"/>
                <a:ea typeface="Aptos Display"/>
                <a:cs typeface="Aptos Display"/>
              </a:rPr>
              <a:t>La charla no debe vender Obsidian como marca. Debe mostrar que sus primitivas ya resuelven buena parte del producto alrededor de la wiki.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4A82BD0-F2EF-455E-B70B-49FF4E7CA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34150"/>
            <a:ext cx="10477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B7280"/>
                </a:solidFill>
                <a:latin typeface="Aptos"/>
                <a:ea typeface="Aptos"/>
                <a:cs typeface="Aptos"/>
              </a:rPr>
              <a:t>Fuentes visibles: Obsidian Help sobre Web Clipper, Properties y Graph View.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4CCFC4E-C537-4234-A7FB-B91920779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96050"/>
            <a:ext cx="381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C75C2A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C75C2A"/>
                </a:solidFill>
                <a:latin typeface="Aptos Mono"/>
                <a:ea typeface="Aptos Mono"/>
                <a:cs typeface="Aptos Mono"/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1866696083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B084F89-EB2A-4ADE-B4C1-CD6AC13DF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0E8"/>
          </a:solidFill>
          <a:ln xmlns:a="http://schemas.openxmlformats.org/drawingml/2006/main" w="0">
            <a:solidFill>
              <a:srgbClr val="F4F0E8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535F1B3-E76F-436D-BF55-B7EEB1688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38150"/>
            <a:ext cx="18097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5C2A"/>
          </a:solidFill>
          <a:ln xmlns:a="http://schemas.openxmlformats.org/drawingml/2006/main" w="0">
            <a:solidFill>
              <a:srgbClr val="C75C2A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FAD0E7F-331B-4CC0-B9DC-CB56ED0FB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90550"/>
            <a:ext cx="3429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C75C2A"/>
                </a:solidFill>
                <a:latin typeface="Aptos Mono"/>
                <a:ea typeface="Aptos Mono"/>
                <a:cs typeface="Aptos Mono"/>
              </a:defRPr>
            </a:pPr>
            <a:r>
              <a:rPr sz="1200" b="1">
                <a:solidFill>
                  <a:srgbClr val="C75C2A"/>
                </a:solidFill>
                <a:latin typeface="Aptos Mono"/>
                <a:ea typeface="Aptos Mono"/>
                <a:cs typeface="Aptos Mono"/>
              </a:rPr>
              <a:t>WORKFLOW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C5FCF52-E18D-4CB6-AB1D-0DEA072F4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95350"/>
            <a:ext cx="876300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F172A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0F172A"/>
                </a:solidFill>
                <a:latin typeface="Aptos Display"/>
                <a:ea typeface="Aptos Display"/>
                <a:cs typeface="Aptos Display"/>
              </a:rPr>
              <a:t>La unidad minima no es el prompt. Es el ciclo ingest, compile, query y lint.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7009C98-4FDB-473C-B33E-B9B83B71A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343150"/>
            <a:ext cx="11068050" cy="2743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11430">
            <a:solidFill>
              <a:srgbClr val="DDD3C2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CB403DC-7BB5-4F4E-A23E-65710B3E1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724150"/>
            <a:ext cx="8763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7A3F"/>
          </a:solidFill>
          <a:ln xmlns:a="http://schemas.openxmlformats.org/drawingml/2006/main" w="0">
            <a:solidFill>
              <a:srgbClr val="E07A3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8493133-44E0-4804-9384-36D763291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81300"/>
            <a:ext cx="7239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02A43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102A43"/>
                </a:solidFill>
                <a:latin typeface="Aptos Mono"/>
                <a:ea typeface="Aptos Mono"/>
                <a:cs typeface="Aptos Mono"/>
              </a:rPr>
              <a:t>INIT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5977603-7980-4B1A-8A5E-6A1E1B3A5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181350"/>
            <a:ext cx="16764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estructura, schema y reglas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01C3F51-F31D-477E-9E50-7C9841206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943350"/>
            <a:ext cx="1676400" cy="133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D3C2"/>
          </a:solidFill>
          <a:ln xmlns:a="http://schemas.openxmlformats.org/drawingml/2006/main" w="0">
            <a:solidFill>
              <a:srgbClr val="DDD3C2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8166EE9-A8C6-47CC-93F6-6F230F8B8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114800"/>
            <a:ext cx="16764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no repite trabajo si la memoria ya existe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10655CD-4FF4-4379-A7AC-513E39ADA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3505200"/>
            <a:ext cx="3238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7A3F"/>
          </a:solidFill>
          <a:ln xmlns:a="http://schemas.openxmlformats.org/drawingml/2006/main" w="0">
            <a:solidFill>
              <a:srgbClr val="E07A3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6310B96-B252-4321-8899-34CDD6DAC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24150"/>
            <a:ext cx="8763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7A3F"/>
          </a:solidFill>
          <a:ln xmlns:a="http://schemas.openxmlformats.org/drawingml/2006/main" w="0">
            <a:solidFill>
              <a:srgbClr val="E07A3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B921534-8BEE-4B0F-B210-22CBE7D59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2781300"/>
            <a:ext cx="7239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02A43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102A43"/>
                </a:solidFill>
                <a:latin typeface="Aptos Mono"/>
                <a:ea typeface="Aptos Mono"/>
                <a:cs typeface="Aptos Mono"/>
              </a:rPr>
              <a:t>INGEST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0363AFE-55BC-4A95-9B11-07E75AED1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181350"/>
            <a:ext cx="16764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fuentes crudas priorizadas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94B277E-1A78-4DD5-9E97-5FE269820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943350"/>
            <a:ext cx="1676400" cy="133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D3C2"/>
          </a:solidFill>
          <a:ln xmlns:a="http://schemas.openxmlformats.org/drawingml/2006/main" w="0">
            <a:solidFill>
              <a:srgbClr val="DDD3C2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10F5086-916F-4426-A068-E3A832450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114800"/>
            <a:ext cx="16764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no repite trabajo si la memoria ya existe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7874A44-C964-4FFD-ADD7-D7F918FFA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3505200"/>
            <a:ext cx="3238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7A3F"/>
          </a:solidFill>
          <a:ln xmlns:a="http://schemas.openxmlformats.org/drawingml/2006/main" w="0">
            <a:solidFill>
              <a:srgbClr val="E07A3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818BC77-B811-44DF-B5F1-5271B9CDC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2724150"/>
            <a:ext cx="8763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7A3F"/>
          </a:solidFill>
          <a:ln xmlns:a="http://schemas.openxmlformats.org/drawingml/2006/main" w="0">
            <a:solidFill>
              <a:srgbClr val="E07A3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B1DC536-8B2A-4C84-B6CC-150F9F87B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2781300"/>
            <a:ext cx="7239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02A43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102A43"/>
                </a:solidFill>
                <a:latin typeface="Aptos Mono"/>
                <a:ea typeface="Aptos Mono"/>
                <a:cs typeface="Aptos Mono"/>
              </a:rPr>
              <a:t>COMPILE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DB34276-1145-496A-A339-AF4CD648E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3181350"/>
            <a:ext cx="16764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paginas, indices y entidades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A43F97E-C009-4E41-A883-F1D75FFFA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3943350"/>
            <a:ext cx="1676400" cy="133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D3C2"/>
          </a:solidFill>
          <a:ln xmlns:a="http://schemas.openxmlformats.org/drawingml/2006/main" w="0">
            <a:solidFill>
              <a:srgbClr val="DDD3C2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8FFC2E3-27C9-4EB6-AA8B-BBD44546B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4114800"/>
            <a:ext cx="16764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no repite trabajo si la memoria ya existe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537C782-B5D0-484D-BBD3-4F2325828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3505200"/>
            <a:ext cx="3238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7A3F"/>
          </a:solidFill>
          <a:ln xmlns:a="http://schemas.openxmlformats.org/drawingml/2006/main" w="0">
            <a:solidFill>
              <a:srgbClr val="E07A3F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B2CE1F2-7E70-4B5E-B66B-E3987BEA5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2724150"/>
            <a:ext cx="8763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7A3F"/>
          </a:solidFill>
          <a:ln xmlns:a="http://schemas.openxmlformats.org/drawingml/2006/main" w="0">
            <a:solidFill>
              <a:srgbClr val="E07A3F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372C072-EC18-4ADA-97EA-CF324EA78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781300"/>
            <a:ext cx="7239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02A43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102A43"/>
                </a:solidFill>
                <a:latin typeface="Aptos Mono"/>
                <a:ea typeface="Aptos Mono"/>
                <a:cs typeface="Aptos Mono"/>
              </a:rPr>
              <a:t>QUERY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50B96E6-3416-49E2-9018-3861C2338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3181350"/>
            <a:ext cx="16764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respuestas sobre la capa compilada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F654C9E-23A1-45F7-BD71-02A03FF86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3943350"/>
            <a:ext cx="1676400" cy="133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D3C2"/>
          </a:solidFill>
          <a:ln xmlns:a="http://schemas.openxmlformats.org/drawingml/2006/main" w="0">
            <a:solidFill>
              <a:srgbClr val="DDD3C2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63B26F5-00A6-4718-89EE-E94BED6D8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4114800"/>
            <a:ext cx="16764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no repite trabajo si la memoria ya existe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B900953-27E0-485C-92F0-368DD75CA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3505200"/>
            <a:ext cx="3238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7A3F"/>
          </a:solidFill>
          <a:ln xmlns:a="http://schemas.openxmlformats.org/drawingml/2006/main" w="0">
            <a:solidFill>
              <a:srgbClr val="E07A3F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ECED86A-FCFD-426D-8494-D32A5B473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724150"/>
            <a:ext cx="8763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6A4F"/>
          </a:solidFill>
          <a:ln xmlns:a="http://schemas.openxmlformats.org/drawingml/2006/main" w="0">
            <a:solidFill>
              <a:srgbClr val="2D6A4F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7005525-2417-40A7-9595-AC2A0A5A0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2781300"/>
            <a:ext cx="7239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02A43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102A43"/>
                </a:solidFill>
                <a:latin typeface="Aptos Mono"/>
                <a:ea typeface="Aptos Mono"/>
                <a:cs typeface="Aptos Mono"/>
              </a:rPr>
              <a:t>LINT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48AFD75-5820-4B2F-8165-0A0E0AE5C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181350"/>
            <a:ext cx="16764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drift, orfandad y proveniencia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FCFC9C1-5B36-42F9-8654-5EA2776E2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943350"/>
            <a:ext cx="1676400" cy="133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D3C2"/>
          </a:solidFill>
          <a:ln xmlns:a="http://schemas.openxmlformats.org/drawingml/2006/main" w="0">
            <a:solidFill>
              <a:srgbClr val="DDD3C2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7EBA7A3-9358-4CF0-AD66-8C22DCB57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4114800"/>
            <a:ext cx="16764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evita que la memoria se pudra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98B20FF-990D-4EC0-A7BC-BE277FEAA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429250"/>
            <a:ext cx="53340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11430">
            <a:solidFill>
              <a:srgbClr val="DDD3C2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EE7D844C-C2F6-4118-AD2B-A58F7ADC5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619750"/>
            <a:ext cx="48768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F172A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0F172A"/>
                </a:solidFill>
                <a:latin typeface="Aptos Display"/>
                <a:ea typeface="Aptos Display"/>
                <a:cs typeface="Aptos Display"/>
              </a:rPr>
              <a:t>Se parece mas a editar una base viva que a conversar con un chatbot.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39EB486A-5ACC-4F20-A320-246205900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5429250"/>
            <a:ext cx="53340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A43"/>
          </a:solidFill>
          <a:ln xmlns:a="http://schemas.openxmlformats.org/drawingml/2006/main" w="11430">
            <a:solidFill>
              <a:srgbClr val="102A43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69DE9FFD-9AD0-4D0E-99C4-503327064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5638800"/>
            <a:ext cx="4857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DF8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FFDF8"/>
                </a:solidFill>
                <a:latin typeface="Aptos"/>
                <a:ea typeface="Aptos"/>
                <a:cs typeface="Aptos"/>
              </a:rPr>
              <a:t>Lo reusable no es solo la respuesta. Es el sistema que sabe mantenerla.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E5E2009A-87E7-462F-B755-B0E1DCAB2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34150"/>
            <a:ext cx="10477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B7280"/>
                </a:solidFill>
                <a:latin typeface="Aptos"/>
                <a:ea typeface="Aptos"/>
                <a:cs typeface="Aptos"/>
              </a:rPr>
              <a:t>Patron sintetizado desde el gist y las implementaciones operativas revisadas en el research.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397E648D-4FD8-4907-B9E5-4858A5D92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96050"/>
            <a:ext cx="381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C75C2A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C75C2A"/>
                </a:solidFill>
                <a:latin typeface="Aptos Mono"/>
                <a:ea typeface="Aptos Mono"/>
                <a:cs typeface="Aptos Mono"/>
              </a:rPr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2002072769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6CEAD3D-9A27-49C5-B203-CE1944761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533FD1E-DB78-4A91-B29B-CFED7D88E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38150"/>
            <a:ext cx="18097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6A4F"/>
          </a:solidFill>
          <a:ln xmlns:a="http://schemas.openxmlformats.org/drawingml/2006/main" w="0">
            <a:solidFill>
              <a:srgbClr val="2D6A4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1118635-B4D8-499C-8D80-7F42EC4BC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90550"/>
            <a:ext cx="3429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C75C2A"/>
                </a:solidFill>
                <a:latin typeface="Aptos Mono"/>
                <a:ea typeface="Aptos Mono"/>
                <a:cs typeface="Aptos Mono"/>
              </a:defRPr>
            </a:pPr>
            <a:r>
              <a:rPr sz="1200" b="1">
                <a:solidFill>
                  <a:srgbClr val="C75C2A"/>
                </a:solidFill>
                <a:latin typeface="Aptos Mono"/>
                <a:ea typeface="Aptos Mono"/>
                <a:cs typeface="Aptos Mono"/>
              </a:rPr>
              <a:t>VALOR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7453BD4-3257-4B05-8C61-6035E9DCC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95350"/>
            <a:ext cx="876300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F172A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0F172A"/>
                </a:solidFill>
                <a:latin typeface="Aptos Display"/>
                <a:ea typeface="Aptos Display"/>
                <a:cs typeface="Aptos Display"/>
              </a:rPr>
              <a:t>La wiki gana cuando conserva decisiones, intentos, fallos y respuestas que vuelven a servir.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86DD0E1-DC36-4713-BEF6-4B3BF50BA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33600"/>
            <a:ext cx="4800600" cy="3543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11430">
            <a:solidFill>
              <a:srgbClr val="DDD3C2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EBF9500-668B-4F72-92A3-29DEE72F3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362200"/>
            <a:ext cx="2095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Sin capa compilada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F59931D-EDFE-4B54-A352-6847CE506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924175"/>
            <a:ext cx="133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2318"/>
          </a:solidFill>
          <a:ln xmlns:a="http://schemas.openxmlformats.org/drawingml/2006/main" w="0">
            <a:solidFill>
              <a:srgbClr val="B42318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83183E9-6B19-424E-880B-5E3A5225B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838450"/>
            <a:ext cx="4000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cada pregunta abre otra vez AGENTS, MEMORY e IDEAS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42AA461-0F7F-4D91-AC21-F67AE5161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533775"/>
            <a:ext cx="133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2318"/>
          </a:solidFill>
          <a:ln xmlns:a="http://schemas.openxmlformats.org/drawingml/2006/main" w="0">
            <a:solidFill>
              <a:srgbClr val="B4231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F2B7D95-E7D3-491C-9F2E-FEF5DC0A9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448050"/>
            <a:ext cx="4000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las respuestas buenas quedan enterradas en el chat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E87DD21-F2FE-4ABF-A23F-479D61F33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143375"/>
            <a:ext cx="133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2318"/>
          </a:solidFill>
          <a:ln xmlns:a="http://schemas.openxmlformats.org/drawingml/2006/main" w="0">
            <a:solidFill>
              <a:srgbClr val="B4231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19C95FC-4EF1-4F08-9928-B16441717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057650"/>
            <a:ext cx="4000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los intentos fallidos no forman parte de la memoria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335A0D6-4B04-4A91-BB8C-369AEBCF4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752975"/>
            <a:ext cx="133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2318"/>
          </a:solidFill>
          <a:ln xmlns:a="http://schemas.openxmlformats.org/drawingml/2006/main" w="0">
            <a:solidFill>
              <a:srgbClr val="B4231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855F090-4DB5-420B-8724-E30857323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667250"/>
            <a:ext cx="4000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el equipo repite reconstruccion mental innecesaria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1B22B8C-50BE-42C4-BDC5-1835AEB96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2133600"/>
            <a:ext cx="5943600" cy="3543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A43"/>
          </a:solidFill>
          <a:ln xmlns:a="http://schemas.openxmlformats.org/drawingml/2006/main" w="11430">
            <a:solidFill>
              <a:srgbClr val="35536E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48A8C12-59EF-4F3E-92AE-72D6C7654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2362200"/>
            <a:ext cx="2476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DF8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DF8"/>
                </a:solidFill>
                <a:latin typeface="Aptos"/>
                <a:ea typeface="Aptos"/>
                <a:cs typeface="Aptos"/>
              </a:rPr>
              <a:t>Con capa compilada y query filed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269A758-E026-49E1-A286-9F0F42964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2924175"/>
            <a:ext cx="133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7A3F"/>
          </a:solidFill>
          <a:ln xmlns:a="http://schemas.openxmlformats.org/drawingml/2006/main" w="0">
            <a:solidFill>
              <a:srgbClr val="E07A3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FC14C71-EC66-407C-BA57-2612E0EF8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838450"/>
            <a:ext cx="48196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E7ECF2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E7ECF2"/>
                </a:solidFill>
                <a:latin typeface="Aptos"/>
                <a:ea typeface="Aptos"/>
                <a:cs typeface="Aptos"/>
              </a:rPr>
              <a:t>las paginas condensan reglas, estado y relaciones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60FAA15-254C-4156-B290-5C82F88AB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3533775"/>
            <a:ext cx="133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7A3F"/>
          </a:solidFill>
          <a:ln xmlns:a="http://schemas.openxmlformats.org/drawingml/2006/main" w="0">
            <a:solidFill>
              <a:srgbClr val="E07A3F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3E285C7-3B38-4A7A-8A8B-3D614D66A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3448050"/>
            <a:ext cx="48196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E7ECF2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E7ECF2"/>
                </a:solidFill>
                <a:latin typeface="Aptos"/>
                <a:ea typeface="Aptos"/>
                <a:cs typeface="Aptos"/>
              </a:rPr>
              <a:t>una query reutilizable queda archivada con sus fuentes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F11F1CC-B4C9-452B-90BA-66E2EF2B0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4143375"/>
            <a:ext cx="133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7A3F"/>
          </a:solidFill>
          <a:ln xmlns:a="http://schemas.openxmlformats.org/drawingml/2006/main" w="0">
            <a:solidFill>
              <a:srgbClr val="E07A3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F04A933-B55B-4425-A933-D89C1E118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4057650"/>
            <a:ext cx="48196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E7ECF2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E7ECF2"/>
                </a:solidFill>
                <a:latin typeface="Aptos"/>
                <a:ea typeface="Aptos"/>
                <a:cs typeface="Aptos"/>
              </a:rPr>
              <a:t>el siguiente turno arranca mas arriba en la curva mental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24F0E08-8FF3-4ACD-B11D-5BCD330FC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4752975"/>
            <a:ext cx="133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7A3F"/>
          </a:solidFill>
          <a:ln xmlns:a="http://schemas.openxmlformats.org/drawingml/2006/main" w="0">
            <a:solidFill>
              <a:srgbClr val="E07A3F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DCDD2DF-9C61-4A9A-A3CC-13827F343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4667250"/>
            <a:ext cx="48196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E7ECF2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E7ECF2"/>
                </a:solidFill>
                <a:latin typeface="Aptos"/>
                <a:ea typeface="Aptos"/>
                <a:cs typeface="Aptos"/>
              </a:rPr>
              <a:t>la memoria del analisis deja evidencia de lo que ya se intento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4BA3960-3212-44BA-B1C1-2817FC388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4895850"/>
            <a:ext cx="5391150" cy="133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536E"/>
          </a:solidFill>
          <a:ln xmlns:a="http://schemas.openxmlformats.org/drawingml/2006/main" w="0">
            <a:solidFill>
              <a:srgbClr val="35536E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C975AD0-467B-47EE-B870-B30AC28D7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5086350"/>
            <a:ext cx="48387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DF8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FFFDF8"/>
                </a:solidFill>
                <a:latin typeface="Aptos Display"/>
                <a:ea typeface="Aptos Display"/>
                <a:cs typeface="Aptos Display"/>
              </a:rPr>
              <a:t>Memoria operativa no es almacenar. Es dejar una estructura que siga pensando con el equipo.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5378304-A5F4-4B9D-B41B-CDF3DD5CC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34150"/>
            <a:ext cx="10477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B7280"/>
                </a:solidFill>
                <a:latin typeface="Aptos"/>
                <a:ea typeface="Aptos"/>
                <a:cs typeface="Aptos"/>
              </a:rPr>
              <a:t>Refuerzo del caso practico: query archivada y continuidad entre decisiones, fuentes e intentos.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0D78744-4235-4A6A-9286-47C5FB287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96050"/>
            <a:ext cx="381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C75C2A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C75C2A"/>
                </a:solidFill>
                <a:latin typeface="Aptos Mono"/>
                <a:ea typeface="Aptos Mono"/>
                <a:cs typeface="Aptos Mono"/>
              </a:rPr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1174959291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461EFF4-2EE8-46BE-AA45-D732D98FE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0E8"/>
          </a:solidFill>
          <a:ln xmlns:a="http://schemas.openxmlformats.org/drawingml/2006/main" w="0">
            <a:solidFill>
              <a:srgbClr val="F4F0E8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2BD3371-2AF6-4544-B015-1B8A1FB04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38150"/>
            <a:ext cx="18097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2318"/>
          </a:solidFill>
          <a:ln xmlns:a="http://schemas.openxmlformats.org/drawingml/2006/main" w="0">
            <a:solidFill>
              <a:srgbClr val="B42318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A9B47CF-A570-4708-8AA2-2DA826421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90550"/>
            <a:ext cx="3429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B42318"/>
                </a:solidFill>
                <a:latin typeface="Aptos Mono"/>
                <a:ea typeface="Aptos Mono"/>
                <a:cs typeface="Aptos Mono"/>
              </a:defRPr>
            </a:pPr>
            <a:r>
              <a:rPr sz="1200" b="1">
                <a:solidFill>
                  <a:srgbClr val="B42318"/>
                </a:solidFill>
                <a:latin typeface="Aptos Mono"/>
                <a:ea typeface="Aptos Mono"/>
                <a:cs typeface="Aptos Mono"/>
              </a:rPr>
              <a:t>TRADEOFF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FE03809-9B59-4636-9B4A-5DB0E4445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95350"/>
            <a:ext cx="876300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F172A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0F172A"/>
                </a:solidFill>
                <a:latin typeface="Aptos Display"/>
                <a:ea typeface="Aptos Display"/>
                <a:cs typeface="Aptos Display"/>
              </a:rPr>
              <a:t>La memoria compilada reduce reconstruccion, pero exige curaduria, proveniencia y control de drift.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2BD74D5-73A6-447E-906B-2B222B9A3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90750"/>
            <a:ext cx="11068050" cy="3219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11430">
            <a:solidFill>
              <a:srgbClr val="DDD3C2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28E9A33-9C9E-4C1C-AC24-1746A7F52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381250"/>
            <a:ext cx="18669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Criterio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9771AAE-863B-4BB2-B5AA-AB3E64259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2381250"/>
            <a:ext cx="26479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RAG ad hoc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986189E-C383-4409-A096-447D28917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2381250"/>
            <a:ext cx="26479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Wiki compilada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E4B664E-B5D7-4B6C-922F-96967D01E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381250"/>
            <a:ext cx="3143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Lectura ejecutiva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C585527-2521-4588-812B-83DCC48C2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819400"/>
            <a:ext cx="18669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tiempo de arranque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7038BF5-94BD-4653-8AF7-F3B50C6C8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2819400"/>
            <a:ext cx="26479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bajo por pregunta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5F673D2-915E-4861-AE46-FCA337401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2819400"/>
            <a:ext cx="26479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mas alto al inicio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51260D1-6189-414B-9F34-5C8C58C2E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819400"/>
            <a:ext cx="3143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paga setup para ganar continuidad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550C82E-5F19-4FB5-B6F0-B75C89237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295650"/>
            <a:ext cx="10668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7F1"/>
          </a:solidFill>
          <a:ln xmlns:a="http://schemas.openxmlformats.org/drawingml/2006/main" w="0">
            <a:solidFill>
              <a:srgbClr val="FAF7F1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40C46D1-FA31-4A57-A44C-173A4127E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371850"/>
            <a:ext cx="18669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respuesta repetida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6AAF570-9382-4057-BD58-F6E7C08E2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3371850"/>
            <a:ext cx="26479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reconstruye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176060D-655E-41CF-B2C3-EB7B4A7A9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3371850"/>
            <a:ext cx="26479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reutiliza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7D6B2E1-2864-4E08-A2DB-A8F8DDF6E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3371850"/>
            <a:ext cx="3143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mejor cuando las preguntas vuelven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9A06E85-BEB2-4FE9-8757-144D716BD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924300"/>
            <a:ext cx="18669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gobierno del conocimiento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7C02610-F854-4CAE-B5FB-8656B5CD0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3924300"/>
            <a:ext cx="26479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debil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9FFB4AC-7962-43D7-972D-DF76346CB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3924300"/>
            <a:ext cx="26479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mas fuerte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215A95B-70E6-46E7-98B3-0A05F2CE2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3924300"/>
            <a:ext cx="3143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source refs y schema importan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5D272D1-3756-4DFA-A8A7-18C881563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400550"/>
            <a:ext cx="10668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7F1"/>
          </a:solidFill>
          <a:ln xmlns:a="http://schemas.openxmlformats.org/drawingml/2006/main" w="0">
            <a:solidFill>
              <a:srgbClr val="FAF7F1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651DCC0-1D41-419D-AF78-1A087C966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476750"/>
            <a:ext cx="18669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mantenimiento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75A35B1-07A3-4512-87CA-CCDAE7CDE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4476750"/>
            <a:ext cx="26479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poco visible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678B00D-B8A4-4D0C-B051-9840FDF5E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4476750"/>
            <a:ext cx="26479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explcito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9ECE72C-3B29-487A-814C-6577189C3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4476750"/>
            <a:ext cx="3143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drift deja de ser un costo escondido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F58E58D-C9BF-4147-BEB5-0F9BF354F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695950"/>
            <a:ext cx="110680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A43"/>
          </a:solidFill>
          <a:ln xmlns:a="http://schemas.openxmlformats.org/drawingml/2006/main" w="11430">
            <a:solidFill>
              <a:srgbClr val="102A43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6B2D3A1-EBB7-4322-BBAF-3086AA382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829300"/>
            <a:ext cx="10668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DF8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FFFDF8"/>
                </a:solidFill>
                <a:latin typeface="Aptos Display"/>
                <a:ea typeface="Aptos Display"/>
                <a:cs typeface="Aptos Display"/>
              </a:rPr>
              <a:t>No es compute versus no compute. Es compute inmediato versus memoria mantenida.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E48EB3C-98CA-4724-8956-6C3BE4637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34150"/>
            <a:ext cx="10477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B7280"/>
                </a:solidFill>
                <a:latin typeface="Aptos"/>
                <a:ea typeface="Aptos"/>
                <a:cs typeface="Aptos"/>
              </a:rPr>
              <a:t>Tradeoff central de la charla: reconstruccion por consulta versus mantenimiento deliberado.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37B4DE6-27B6-4A8E-9C02-5113EAEA7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96050"/>
            <a:ext cx="381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C75C2A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C75C2A"/>
                </a:solidFill>
                <a:latin typeface="Aptos Mono"/>
                <a:ea typeface="Aptos Mono"/>
                <a:cs typeface="Aptos Mono"/>
              </a:rPr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27323489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A4A77C1-E850-40A5-B5AF-99001E275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43EC8D8-01B2-4AA3-9851-EF9119A99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38150"/>
            <a:ext cx="18097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7A3F"/>
          </a:solidFill>
          <a:ln xmlns:a="http://schemas.openxmlformats.org/drawingml/2006/main" w="0">
            <a:solidFill>
              <a:srgbClr val="E07A3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F266BDA-82DE-4D43-A6FC-A537B75AF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90550"/>
            <a:ext cx="3429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C75C2A"/>
                </a:solidFill>
                <a:latin typeface="Aptos Mono"/>
                <a:ea typeface="Aptos Mono"/>
                <a:cs typeface="Aptos Mono"/>
              </a:defRPr>
            </a:pPr>
            <a:r>
              <a:rPr sz="1200" b="1">
                <a:solidFill>
                  <a:srgbClr val="C75C2A"/>
                </a:solidFill>
                <a:latin typeface="Aptos Mono"/>
                <a:ea typeface="Aptos Mono"/>
                <a:cs typeface="Aptos Mono"/>
              </a:rPr>
              <a:t>DECISION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B1C4AF2-A692-43ED-A61D-04C9D8062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95350"/>
            <a:ext cx="876300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F172A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0F172A"/>
                </a:solidFill>
                <a:latin typeface="Aptos Display"/>
                <a:ea typeface="Aptos Display"/>
                <a:cs typeface="Aptos Display"/>
              </a:rPr>
              <a:t>Conviene cuando el trabajo vuelve sobre las mismas preguntas y las fuentes crecen con el tiempo.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21AF3C0-360D-422D-A5F4-78322E290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71700"/>
            <a:ext cx="5219700" cy="3295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A43"/>
          </a:solidFill>
          <a:ln xmlns:a="http://schemas.openxmlformats.org/drawingml/2006/main" w="11430">
            <a:solidFill>
              <a:srgbClr val="35536E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BB76950-FC8F-42E7-B532-8E66BAC28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400300"/>
            <a:ext cx="1714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DF8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DF8"/>
                </a:solidFill>
                <a:latin typeface="Aptos"/>
                <a:ea typeface="Aptos"/>
                <a:cs typeface="Aptos"/>
              </a:rPr>
              <a:t>Si conviene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FA0AE4B-379B-4C4B-8947-D33ED6BE0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9527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7A3F"/>
          </a:solidFill>
          <a:ln xmlns:a="http://schemas.openxmlformats.org/drawingml/2006/main" w="0">
            <a:solidFill>
              <a:srgbClr val="E07A3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6913D49-80D8-4992-9C4B-B149E05E2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876550"/>
            <a:ext cx="409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FFFDF8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FFFDF8"/>
                </a:solidFill>
                <a:latin typeface="Aptos"/>
                <a:ea typeface="Aptos"/>
                <a:cs typeface="Aptos"/>
              </a:rPr>
              <a:t>research tecnico recurrente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272831E-A4F3-4DEA-B342-E5911DEF0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50520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7A3F"/>
          </a:solidFill>
          <a:ln xmlns:a="http://schemas.openxmlformats.org/drawingml/2006/main" w="0">
            <a:solidFill>
              <a:srgbClr val="E07A3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1652796-E452-49D2-AA95-A29D9912B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429000"/>
            <a:ext cx="409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FFFDF8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FFFDF8"/>
                </a:solidFill>
                <a:latin typeface="Aptos"/>
                <a:ea typeface="Aptos"/>
                <a:cs typeface="Aptos"/>
              </a:rPr>
              <a:t>repos pequenos o medianos con memoria de decisiones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8359CBA-712B-4DB7-A382-C7BB12A22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0576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7A3F"/>
          </a:solidFill>
          <a:ln xmlns:a="http://schemas.openxmlformats.org/drawingml/2006/main" w="0">
            <a:solidFill>
              <a:srgbClr val="E07A3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920D99C-9A5E-43D5-81FB-ED205B402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981450"/>
            <a:ext cx="409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FFFDF8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FFFDF8"/>
                </a:solidFill>
                <a:latin typeface="Aptos"/>
                <a:ea typeface="Aptos"/>
                <a:cs typeface="Aptos"/>
              </a:rPr>
              <a:t>equipos que necesitan continuidad entre sesiones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E970F25-EB53-44D3-8A88-28DC6BD7B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61010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7A3F"/>
          </a:solidFill>
          <a:ln xmlns:a="http://schemas.openxmlformats.org/drawingml/2006/main" w="0">
            <a:solidFill>
              <a:srgbClr val="E07A3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54C6767-4F78-4007-991F-02E46E83D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533900"/>
            <a:ext cx="409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FFFDF8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FFFDF8"/>
                </a:solidFill>
                <a:latin typeface="Aptos"/>
                <a:ea typeface="Aptos"/>
                <a:cs typeface="Aptos"/>
              </a:rPr>
              <a:t>analisis donde los intentos fallidos tambien importan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CA73266-102C-4EF3-8B84-D602D4FB7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2171700"/>
            <a:ext cx="5486400" cy="3295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11430">
            <a:solidFill>
              <a:srgbClr val="DDD3C2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3CE0D00-CDE0-4E8B-A654-38910F3AA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400300"/>
            <a:ext cx="2095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Si no conviene todavia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EF30C5B-6D20-452C-A256-02840EA4D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9527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2318"/>
          </a:solidFill>
          <a:ln xmlns:a="http://schemas.openxmlformats.org/drawingml/2006/main" w="0">
            <a:solidFill>
              <a:srgbClr val="B42318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1D5454F-8184-4C6F-B620-793DD1E7D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876550"/>
            <a:ext cx="44958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corpus gigante sin gobierno ni refresh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CE96795-7F6C-4248-ACA1-FCF78586B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50520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2318"/>
          </a:solidFill>
          <a:ln xmlns:a="http://schemas.openxmlformats.org/drawingml/2006/main" w="0">
            <a:solidFill>
              <a:srgbClr val="B42318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47C5DDD-8CB6-493B-A31F-1ED9334E4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429000"/>
            <a:ext cx="44958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preguntas de una sola vez con poco valor de reuso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0C19F26-C6CF-4F66-AC8B-661CBCB50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0576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2318"/>
          </a:solidFill>
          <a:ln xmlns:a="http://schemas.openxmlformats.org/drawingml/2006/main" w="0">
            <a:solidFill>
              <a:srgbClr val="B42318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D63BE38-03AC-4F22-A979-FAA6026A8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981450"/>
            <a:ext cx="44958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equipos sin disciplina para proveniencia y schema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0B58974-D4E2-4936-B700-76C021FFE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61010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2318"/>
          </a:solidFill>
          <a:ln xmlns:a="http://schemas.openxmlformats.org/drawingml/2006/main" w="0">
            <a:solidFill>
              <a:srgbClr val="B42318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401FDC5-4836-4664-A12F-0A33333F1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533900"/>
            <a:ext cx="44958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obsesion por tool stack sin criterio editorial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9A5245F-A7B6-4856-82F0-17B0A90A9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772150"/>
            <a:ext cx="110680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DBC8"/>
          </a:solidFill>
          <a:ln xmlns:a="http://schemas.openxmlformats.org/drawingml/2006/main" w="9525">
            <a:solidFill>
              <a:srgbClr val="DDD3C2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704AC7B-2AD4-427C-9F26-1DC8F7F77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867400"/>
            <a:ext cx="107251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Recomendacion ejecutiva: empezar pequeno, separar raw de compiled y tratar las queries valiosas como artefactos de memoria.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A044DDF-472B-461C-A014-979D282C7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34150"/>
            <a:ext cx="10477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B7280"/>
                </a:solidFill>
                <a:latin typeface="Aptos"/>
                <a:ea typeface="Aptos"/>
                <a:cs typeface="Aptos"/>
              </a:rPr>
              <a:t>La recomendacion no es tool-first. Es memoria-first con gobierno minimo viable.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AF3D41C-994C-4058-9E2D-138C3C17F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96050"/>
            <a:ext cx="381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C75C2A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C75C2A"/>
                </a:solidFill>
                <a:latin typeface="Aptos Mono"/>
                <a:ea typeface="Aptos Mono"/>
                <a:cs typeface="Aptos Mono"/>
              </a:rPr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385767842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780c12863d842bb"/>
          <a:srcRect xmlns:a="http://schemas.openxmlformats.org/drawingml/2006/main" l="0" t="7813" r="0" b="781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7C77CFE-B6B9-40E4-9D2F-227B69C1C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131E">
              <a:alpha val="80000"/>
            </a:srgbClr>
          </a:solidFill>
          <a:ln xmlns:a="http://schemas.openxmlformats.org/drawingml/2006/main" w="0">
            <a:solidFill>
              <a:srgbClr val="08131E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818EE35-281D-4611-838A-2ED7487C0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33400"/>
            <a:ext cx="17145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7A3F"/>
          </a:solidFill>
          <a:ln xmlns:a="http://schemas.openxmlformats.org/drawingml/2006/main" w="0">
            <a:solidFill>
              <a:srgbClr val="E07A3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8F08E2A-D7CD-49D1-94E2-B8D09E4E2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81050"/>
            <a:ext cx="3429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3C8B3"/>
                </a:solidFill>
                <a:latin typeface="Aptos Mono"/>
                <a:ea typeface="Aptos Mono"/>
                <a:cs typeface="Aptos Mono"/>
              </a:defRPr>
            </a:pPr>
            <a:r>
              <a:rPr sz="1125" b="1">
                <a:solidFill>
                  <a:srgbClr val="F3C8B3"/>
                </a:solidFill>
                <a:latin typeface="Aptos Mono"/>
                <a:ea typeface="Aptos Mono"/>
                <a:cs typeface="Aptos Mono"/>
              </a:rPr>
              <a:t>CIERRE EDITORIAL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BF894D0-D303-497C-A4F7-C537932F8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76350"/>
            <a:ext cx="53340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FFFDF8"/>
                </a:solidFill>
                <a:latin typeface="Aptos Display"/>
                <a:ea typeface="Aptos Display"/>
                <a:cs typeface="Aptos Display"/>
              </a:defRPr>
            </a:pPr>
            <a:r>
              <a:rPr sz="3900" b="1">
                <a:solidFill>
                  <a:srgbClr val="FFFDF8"/>
                </a:solidFill>
                <a:latin typeface="Aptos Display"/>
                <a:ea typeface="Aptos Display"/>
                <a:cs typeface="Aptos Display"/>
              </a:rPr>
              <a:t>El verdadero</a:t>
            </a:r>
          </a:p>
          <a:p xmlns:a="http://schemas.openxmlformats.org/drawingml/2006/main">
            <a:pPr algn="l">
              <a:defRPr sz="3900" b="1">
                <a:solidFill>
                  <a:srgbClr val="FFFDF8"/>
                </a:solidFill>
                <a:latin typeface="Aptos Display"/>
                <a:ea typeface="Aptos Display"/>
                <a:cs typeface="Aptos Display"/>
              </a:defRPr>
            </a:pPr>
            <a:r>
              <a:rPr sz="3900" b="1">
                <a:solidFill>
                  <a:srgbClr val="FFFDF8"/>
                </a:solidFill>
                <a:latin typeface="Aptos Display"/>
                <a:ea typeface="Aptos Display"/>
                <a:cs typeface="Aptos Display"/>
              </a:rPr>
              <a:t>upgrade no es</a:t>
            </a:r>
          </a:p>
          <a:p xmlns:a="http://schemas.openxmlformats.org/drawingml/2006/main">
            <a:pPr algn="l">
              <a:defRPr sz="3900" b="1">
                <a:solidFill>
                  <a:srgbClr val="FFFDF8"/>
                </a:solidFill>
                <a:latin typeface="Aptos Display"/>
                <a:ea typeface="Aptos Display"/>
                <a:cs typeface="Aptos Display"/>
              </a:defRPr>
            </a:pPr>
            <a:r>
              <a:rPr sz="3900" b="1">
                <a:solidFill>
                  <a:srgbClr val="FFFDF8"/>
                </a:solidFill>
                <a:latin typeface="Aptos Display"/>
                <a:ea typeface="Aptos Display"/>
                <a:cs typeface="Aptos Display"/>
              </a:rPr>
              <a:t>buscar mejor.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4572C72-77DE-4DAD-9F39-66BA9E8AD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028950"/>
            <a:ext cx="53530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E7ECF2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E7ECF2"/>
                </a:solidFill>
                <a:latin typeface="Aptos"/>
                <a:ea typeface="Aptos"/>
                <a:cs typeface="Aptos"/>
              </a:rPr>
              <a:t>Es recordar mejor, con una memoria que conserve decisiones, relaciones y respuestas que el equipo pueda volver a usar.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66F2D8E-FD5A-4023-BFBA-7951ADFE4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400550"/>
            <a:ext cx="489585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A43">
              <a:alpha val="80000"/>
            </a:srgbClr>
          </a:solidFill>
          <a:ln xmlns:a="http://schemas.openxmlformats.org/drawingml/2006/main" w="11430">
            <a:solidFill>
              <a:srgbClr val="35536E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3BFE676-C548-4828-BD50-48EFEDFC3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629150"/>
            <a:ext cx="43624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DF8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FFFDF8"/>
                </a:solidFill>
                <a:latin typeface="Aptos Display"/>
                <a:ea typeface="Aptos Display"/>
                <a:cs typeface="Aptos Display"/>
              </a:rPr>
              <a:t>"A memex is a mechanized private file and library."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00F7981-7A1D-4319-8301-F0FE7EBF3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048250"/>
            <a:ext cx="3048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F3C8B3"/>
                </a:solidFill>
                <a:latin typeface="Aptos Mono"/>
                <a:ea typeface="Aptos Mono"/>
                <a:cs typeface="Aptos Mono"/>
              </a:defRPr>
            </a:pPr>
            <a:r>
              <a:rPr sz="1050" b="0">
                <a:solidFill>
                  <a:srgbClr val="F3C8B3"/>
                </a:solidFill>
                <a:latin typeface="Aptos Mono"/>
                <a:ea typeface="Aptos Mono"/>
                <a:cs typeface="Aptos Mono"/>
              </a:rPr>
              <a:t>Vannevar Bush, As We May Think</a:t>
            </a:r>
          </a:p>
        </p:txBody>
      </p:sp>
    </p:spTree>
    <p:extLst>
      <p:ext uri="{BB962C8B-B14F-4D97-AF65-F5344CB8AC3E}">
        <p14:creationId xmlns:p14="http://schemas.microsoft.com/office/powerpoint/2010/main" val="18958572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2026-06-05T18:49:58.9660000Z</dcterms:created>
  <dcterms:modified xsi:type="dcterms:W3CDTF">2026-06-05T18:49:58.9660000Z</dcterms:modified>
</coreProperties>
</file>