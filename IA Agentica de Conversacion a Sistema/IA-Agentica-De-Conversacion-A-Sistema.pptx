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749808"/>
            <a:ext cx="1353312" cy="0"/>
          </a:xfrm>
          <a:prstGeom prst="line">
            <a:avLst/>
          </a:prstGeom>
          <a:ln w="38100">
            <a:solidFill>
              <a:srgbClr val="E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13232" y="1143000"/>
            <a:ext cx="20116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EADBC8"/>
                </a:solidFill>
                <a:latin typeface="Aptos"/>
              </a:rPr>
              <a:t>CHARLA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5486400" cy="20116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800" b="1" i="0">
                <a:solidFill>
                  <a:srgbClr val="FFFDF8"/>
                </a:solidFill>
                <a:latin typeface="Georgia"/>
              </a:rPr>
              <a:t>IA agentica:
de conversación
a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4389120"/>
            <a:ext cx="5074920" cy="7498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50" b="0" i="0">
                <a:solidFill>
                  <a:srgbClr val="EADBC8"/>
                </a:solidFill>
                <a:latin typeface="Aptos"/>
              </a:rPr>
              <a:t>Cómo pasar del chat con IA a un workspace operable
para análisis, decisiones y artefactos revisables.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170432"/>
            <a:ext cx="4526280" cy="4480560"/>
          </a:xfrm>
          <a:prstGeom prst="rect">
            <a:avLst/>
          </a:prstGeom>
          <a:solidFill>
            <a:srgbClr val="16324F"/>
          </a:solidFill>
          <a:ln w="10160">
            <a:solidFill>
              <a:srgbClr val="E0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67728" y="1572768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ADBC8"/>
                </a:solidFill>
                <a:latin typeface="Consolas"/>
              </a:rPr>
              <a:t>workspace/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7728" y="2057400"/>
            <a:ext cx="3429000" cy="384048"/>
          </a:xfrm>
          <a:prstGeom prst="rect">
            <a:avLst/>
          </a:prstGeom>
          <a:solidFill>
            <a:srgbClr val="102A43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50608" y="2157984"/>
            <a:ext cx="141732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FDF8"/>
                </a:solidFill>
                <a:latin typeface="Consolas"/>
              </a:rPr>
              <a:t>AGENTS.md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00032" y="2157984"/>
            <a:ext cx="82296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EADBC8"/>
                </a:solidFill>
                <a:latin typeface="Consolas"/>
              </a:rPr>
              <a:t>reglas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67728" y="2624328"/>
            <a:ext cx="3429000" cy="384048"/>
          </a:xfrm>
          <a:prstGeom prst="rect">
            <a:avLst/>
          </a:prstGeom>
          <a:solidFill>
            <a:srgbClr val="102A43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2724912"/>
            <a:ext cx="141732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FDF8"/>
                </a:solidFill>
                <a:latin typeface="Consolas"/>
              </a:rPr>
              <a:t>brief.md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724912"/>
            <a:ext cx="82296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EADBC8"/>
                </a:solidFill>
                <a:latin typeface="Consolas"/>
              </a:rPr>
              <a:t>contexto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67728" y="3191256"/>
            <a:ext cx="3429000" cy="384048"/>
          </a:xfrm>
          <a:prstGeom prst="rect">
            <a:avLst/>
          </a:prstGeom>
          <a:solidFill>
            <a:srgbClr val="102A43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3291840"/>
            <a:ext cx="141732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FDF8"/>
                </a:solidFill>
                <a:latin typeface="Consolas"/>
              </a:rPr>
              <a:t>notebooks/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00032" y="3291840"/>
            <a:ext cx="82296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EADBC8"/>
                </a:solidFill>
                <a:latin typeface="Consolas"/>
              </a:rPr>
              <a:t>exploración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67728" y="3758183"/>
            <a:ext cx="3429000" cy="384048"/>
          </a:xfrm>
          <a:prstGeom prst="rect">
            <a:avLst/>
          </a:prstGeom>
          <a:solidFill>
            <a:srgbClr val="102A43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3858768"/>
            <a:ext cx="141732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FDF8"/>
                </a:solidFill>
                <a:latin typeface="Consolas"/>
              </a:rPr>
              <a:t>scripts/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858768"/>
            <a:ext cx="82296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EADBC8"/>
                </a:solidFill>
                <a:latin typeface="Consolas"/>
              </a:rPr>
              <a:t>acción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67728" y="4325112"/>
            <a:ext cx="3429000" cy="384048"/>
          </a:xfrm>
          <a:prstGeom prst="rect">
            <a:avLst/>
          </a:prstGeom>
          <a:solidFill>
            <a:srgbClr val="102A43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4425696"/>
            <a:ext cx="141732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FFFDF8"/>
                </a:solidFill>
                <a:latin typeface="Consolas"/>
              </a:rPr>
              <a:t>review.md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4425696"/>
            <a:ext cx="822960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50" b="0" i="0">
                <a:solidFill>
                  <a:srgbClr val="EADBC8"/>
                </a:solidFill>
                <a:latin typeface="Consolas"/>
              </a:rPr>
              <a:t>cierre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4956048"/>
            <a:ext cx="3520440" cy="40233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50" b="1" i="0">
                <a:solidFill>
                  <a:srgbClr val="FFFDF8"/>
                </a:solidFill>
                <a:latin typeface="Aptos"/>
              </a:rPr>
              <a:t>No es una herramienta más.
Es una forma de organizar el trabajo.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CAMBIO DE UNIDAD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841248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IA agentica empieza cuando la conversación se convierte en sistema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93392"/>
            <a:ext cx="4389120" cy="3566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993392"/>
            <a:ext cx="4892040" cy="35661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560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02A43"/>
                </a:solidFill>
                <a:latin typeface="Aptos"/>
              </a:rPr>
              <a:t>CONVERSACIÓN AISLADA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240280"/>
            <a:ext cx="28346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Aptos"/>
              </a:rPr>
              <a:t>WORKSPACE OPERABLE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2834640"/>
            <a:ext cx="3611880" cy="1828800"/>
          </a:xfrm>
          <a:prstGeom prst="rect">
            <a:avLst/>
          </a:prstGeom>
          <a:solidFill>
            <a:srgbClr val="F8EFE7"/>
          </a:solidFill>
          <a:ln>
            <a:solidFill>
              <a:srgbClr val="F8E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53312" y="3136392"/>
            <a:ext cx="1005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000" b="1" i="0">
                <a:solidFill>
                  <a:srgbClr val="0F172A"/>
                </a:solidFill>
                <a:latin typeface="Georgia"/>
              </a:rPr>
              <a:t>Chat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657600"/>
            <a:ext cx="2651760" cy="8686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Prompt + respuesta
Contexto pegado
Decisiones en memoria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07792"/>
            <a:ext cx="1097280" cy="420624"/>
          </a:xfrm>
          <a:prstGeom prst="roundRect">
            <a:avLst/>
          </a:prstGeom>
          <a:solidFill>
            <a:srgbClr val="EFF6EF"/>
          </a:solidFill>
          <a:ln>
            <a:solidFill>
              <a:srgbClr val="EF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2999232"/>
            <a:ext cx="950976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1" i="0">
                <a:solidFill>
                  <a:srgbClr val="0F172A"/>
                </a:solidFill>
                <a:latin typeface="Aptos"/>
              </a:rPr>
              <a:t>reglas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8472" y="2907792"/>
            <a:ext cx="1097280" cy="420624"/>
          </a:xfrm>
          <a:prstGeom prst="roundRect">
            <a:avLst/>
          </a:prstGeom>
          <a:solidFill>
            <a:srgbClr val="EFF6EF"/>
          </a:solidFill>
          <a:ln>
            <a:solidFill>
              <a:srgbClr val="EF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21624" y="2999232"/>
            <a:ext cx="950976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1" i="0">
                <a:solidFill>
                  <a:srgbClr val="0F172A"/>
                </a:solidFill>
                <a:latin typeface="Aptos"/>
              </a:rPr>
              <a:t>contexto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01784" y="2907792"/>
            <a:ext cx="1097280" cy="420624"/>
          </a:xfrm>
          <a:prstGeom prst="round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74936" y="2999232"/>
            <a:ext cx="950976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1" i="0">
                <a:solidFill>
                  <a:srgbClr val="FFFDF8"/>
                </a:solidFill>
                <a:latin typeface="Aptos"/>
              </a:rPr>
              <a:t>tools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3776472"/>
            <a:ext cx="1097280" cy="420624"/>
          </a:xfrm>
          <a:prstGeom prst="roundRect">
            <a:avLst/>
          </a:prstGeom>
          <a:solidFill>
            <a:srgbClr val="EFF6EF"/>
          </a:solidFill>
          <a:ln>
            <a:solidFill>
              <a:srgbClr val="EF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68312" y="3867911"/>
            <a:ext cx="950976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1" i="0">
                <a:solidFill>
                  <a:srgbClr val="0F172A"/>
                </a:solidFill>
                <a:latin typeface="Aptos"/>
              </a:rPr>
              <a:t>estado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48472" y="3776472"/>
            <a:ext cx="1097280" cy="420624"/>
          </a:xfrm>
          <a:prstGeom prst="roundRect">
            <a:avLst/>
          </a:prstGeom>
          <a:solidFill>
            <a:srgbClr val="EFF6EF"/>
          </a:solidFill>
          <a:ln>
            <a:solidFill>
              <a:srgbClr val="EFF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3867911"/>
            <a:ext cx="950976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1" i="0">
                <a:solidFill>
                  <a:srgbClr val="0F172A"/>
                </a:solidFill>
                <a:latin typeface="Aptos"/>
              </a:rPr>
              <a:t>review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40680" y="3776472"/>
            <a:ext cx="795528" cy="0"/>
          </a:xfrm>
          <a:prstGeom prst="line">
            <a:avLst/>
          </a:prstGeom>
          <a:ln w="304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85232" y="4069080"/>
            <a:ext cx="123444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40" b="1" i="0">
                <a:solidFill>
                  <a:srgbClr val="475569"/>
                </a:solidFill>
                <a:latin typeface="Aptos"/>
              </a:rPr>
              <a:t>riesgo
recurrencia
auditoría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736592"/>
            <a:ext cx="237744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1" i="0">
                <a:solidFill>
                  <a:srgbClr val="2D6A4F"/>
                </a:solidFill>
                <a:latin typeface="Aptos"/>
              </a:rPr>
              <a:t>artefactos revisables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No se trata de abandonar el chat web con IA; se trata de saber cuándo el trabajo ya necesita sistema.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EL CASO QUE TODOS RECONOCEN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822960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Un análisis se rompe cuando el contexto vive solo en el chat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1"/>
            <a:ext cx="1783080" cy="114300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2267712"/>
            <a:ext cx="960120" cy="246888"/>
          </a:xfrm>
          <a:prstGeom prst="round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83210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633472"/>
            <a:ext cx="148132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0" i="0">
                <a:solidFill>
                  <a:srgbClr val="475569"/>
                </a:solidFill>
                <a:latin typeface="Aptos"/>
              </a:rPr>
              <a:t>pregunta de negocio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40" y="2651760"/>
            <a:ext cx="411480" cy="0"/>
          </a:xfrm>
          <a:prstGeom prst="line">
            <a:avLst/>
          </a:prstGeom>
          <a:ln w="177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2084831"/>
            <a:ext cx="1783080" cy="1143000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26664" y="2267712"/>
            <a:ext cx="960120" cy="246888"/>
          </a:xfrm>
          <a:prstGeom prst="round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2304288"/>
            <a:ext cx="83210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Datos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633472"/>
            <a:ext cx="148132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0" i="0">
                <a:solidFill>
                  <a:srgbClr val="475569"/>
                </a:solidFill>
                <a:latin typeface="Aptos"/>
              </a:rPr>
              <a:t>fuentes y supuestos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90872" y="2651760"/>
            <a:ext cx="411480" cy="0"/>
          </a:xfrm>
          <a:prstGeom prst="line">
            <a:avLst/>
          </a:prstGeom>
          <a:ln w="177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93792" y="2084831"/>
            <a:ext cx="1783080" cy="1143000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40096" y="2267712"/>
            <a:ext cx="960120" cy="246888"/>
          </a:xfrm>
          <a:prstGeom prst="roundRect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4104" y="2304288"/>
            <a:ext cx="83210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Hipótesis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33472"/>
            <a:ext cx="148132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0" i="0">
                <a:solidFill>
                  <a:srgbClr val="475569"/>
                </a:solidFill>
                <a:latin typeface="Aptos"/>
              </a:rPr>
              <a:t>decisión analítica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04304" y="2651760"/>
            <a:ext cx="411479" cy="0"/>
          </a:xfrm>
          <a:prstGeom prst="line">
            <a:avLst/>
          </a:prstGeom>
          <a:ln w="177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07223" y="2084831"/>
            <a:ext cx="1783080" cy="1143000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53527" y="2267712"/>
            <a:ext cx="960120" cy="246888"/>
          </a:xfrm>
          <a:prstGeom prst="roundRect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304288"/>
            <a:ext cx="83210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7" y="2633472"/>
            <a:ext cx="148132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0" i="0">
                <a:solidFill>
                  <a:srgbClr val="475569"/>
                </a:solidFill>
                <a:latin typeface="Aptos"/>
              </a:rPr>
              <a:t>variables y validación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17736" y="2651760"/>
            <a:ext cx="411479" cy="0"/>
          </a:xfrm>
          <a:prstGeom prst="line">
            <a:avLst/>
          </a:prstGeom>
          <a:ln w="177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0655" y="2084831"/>
            <a:ext cx="1783080" cy="1143000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966959" y="2267712"/>
            <a:ext cx="960120" cy="246888"/>
          </a:xfrm>
          <a:prstGeom prst="roundRect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7" y="2304288"/>
            <a:ext cx="83210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Salida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59" y="2633472"/>
            <a:ext cx="148132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60" b="0" i="0">
                <a:solidFill>
                  <a:srgbClr val="475569"/>
                </a:solidFill>
                <a:latin typeface="Aptos"/>
              </a:rPr>
              <a:t>notebook, memo o modelo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977639"/>
            <a:ext cx="1234440" cy="384048"/>
          </a:xfrm>
          <a:prstGeom prst="rect">
            <a:avLst/>
          </a:prstGeom>
          <a:solidFill>
            <a:srgbClr val="FFFDF8"/>
          </a:solidFill>
          <a:ln w="10160"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069079"/>
            <a:ext cx="1088136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80" b="1" i="0">
                <a:solidFill>
                  <a:srgbClr val="C75C2A"/>
                </a:solidFill>
                <a:latin typeface="Aptos"/>
              </a:rPr>
              <a:t>archivo.xlsx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4343400"/>
            <a:ext cx="1298448" cy="384048"/>
          </a:xfrm>
          <a:prstGeom prst="rect">
            <a:avLst/>
          </a:prstGeom>
          <a:solidFill>
            <a:srgbClr val="FFFDF8"/>
          </a:solidFill>
          <a:ln w="1016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16352" y="4434840"/>
            <a:ext cx="1152144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80" b="1" i="0">
                <a:solidFill>
                  <a:srgbClr val="B42318"/>
                </a:solidFill>
                <a:latin typeface="Aptos"/>
              </a:rPr>
              <a:t>decisión oral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00600" y="3913632"/>
            <a:ext cx="1143000" cy="384048"/>
          </a:xfrm>
          <a:prstGeom prst="rect">
            <a:avLst/>
          </a:prstGeom>
          <a:solidFill>
            <a:srgbClr val="FFFDF8"/>
          </a:solidFill>
          <a:ln w="1016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73752" y="4005072"/>
            <a:ext cx="996696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80" b="1" i="0">
                <a:solidFill>
                  <a:srgbClr val="16324F"/>
                </a:solidFill>
                <a:latin typeface="Aptos"/>
              </a:rPr>
              <a:t>prompt v3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370832"/>
            <a:ext cx="1417320" cy="384048"/>
          </a:xfrm>
          <a:prstGeom prst="rect">
            <a:avLst/>
          </a:prstGeom>
          <a:solidFill>
            <a:srgbClr val="FFFDF8"/>
          </a:solidFill>
          <a:ln w="1016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93992" y="4462272"/>
            <a:ext cx="1271016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80" b="1" i="0">
                <a:solidFill>
                  <a:srgbClr val="2D6A4F"/>
                </a:solidFill>
                <a:latin typeface="Aptos"/>
              </a:rPr>
              <a:t>notebook local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732520" y="3959352"/>
            <a:ext cx="1298448" cy="384048"/>
          </a:xfrm>
          <a:prstGeom prst="rect">
            <a:avLst/>
          </a:prstGeom>
          <a:solidFill>
            <a:srgbClr val="FFFDF8"/>
          </a:solidFill>
          <a:ln w="10160">
            <a:solidFill>
              <a:srgbClr val="E0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5672" y="4050791"/>
            <a:ext cx="1152144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80" b="1" i="0">
                <a:solidFill>
                  <a:srgbClr val="E07A3F"/>
                </a:solidFill>
                <a:latin typeface="Aptos"/>
              </a:rPr>
              <a:t>captura chat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4407408"/>
            <a:ext cx="1097280" cy="384048"/>
          </a:xfrm>
          <a:prstGeom prst="rect">
            <a:avLst/>
          </a:prstGeom>
          <a:solidFill>
            <a:srgbClr val="FFFDF8"/>
          </a:solidFill>
          <a:ln w="1016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31552" y="4498848"/>
            <a:ext cx="950976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80" b="1" i="0">
                <a:solidFill>
                  <a:srgbClr val="B42318"/>
                </a:solidFill>
                <a:latin typeface="Aptos"/>
              </a:rPr>
              <a:t>pendiente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5138928"/>
            <a:ext cx="704088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0F172A"/>
                </a:solidFill>
                <a:latin typeface="Georgia"/>
              </a:rPr>
              <a:t>El trabajo avanza, pero el estado queda disperso.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El problema no es solo la calidad de la respuesta, sino la continuidad del trabajo.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QUÉ CAMBIA CON UN 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859536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Un agente no solo responde: usa herramientas y modifica artefactos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1993392"/>
            <a:ext cx="1234440" cy="1234440"/>
          </a:xfrm>
          <a:prstGeom prst="ellipse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331720"/>
            <a:ext cx="4114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DF8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56432"/>
            <a:ext cx="24231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Georgia"/>
              </a:rPr>
              <a:t>Observar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041648"/>
            <a:ext cx="2084831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ptos"/>
              </a:rPr>
              <a:t>lee contexto, archivos, estado y señales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93008" y="2615184"/>
            <a:ext cx="667512" cy="0"/>
          </a:xfrm>
          <a:prstGeom prst="line">
            <a:avLst/>
          </a:prstGeom>
          <a:ln w="177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5303520" y="1993392"/>
            <a:ext cx="1234440" cy="1234440"/>
          </a:xfrm>
          <a:prstGeom prst="ellipse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2331720"/>
            <a:ext cx="4114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DF8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456432"/>
            <a:ext cx="24231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Georgia"/>
              </a:rPr>
              <a:t>Decidir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041648"/>
            <a:ext cx="2084831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ptos"/>
              </a:rPr>
              <a:t>elige pasos, herramientas y criterios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42048" y="2615184"/>
            <a:ext cx="667511" cy="0"/>
          </a:xfrm>
          <a:prstGeom prst="line">
            <a:avLst/>
          </a:prstGeom>
          <a:ln w="1778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9052559" y="1993392"/>
            <a:ext cx="1234440" cy="1234440"/>
          </a:xfrm>
          <a:prstGeom prst="ellipse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64040" y="2331720"/>
            <a:ext cx="4114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000" b="1" i="0">
                <a:solidFill>
                  <a:srgbClr val="FFFDF8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456432"/>
            <a:ext cx="24231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0F172A"/>
                </a:solidFill>
                <a:latin typeface="Georgia"/>
              </a:rPr>
              <a:t>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4041648"/>
            <a:ext cx="2084831" cy="4206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00" b="0" i="0">
                <a:solidFill>
                  <a:srgbClr val="475569"/>
                </a:solidFill>
                <a:latin typeface="Aptos"/>
              </a:rPr>
              <a:t>edita, consulta, ejecuta y produce 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54680" y="4919472"/>
            <a:ext cx="5897880" cy="62179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02152" y="5074920"/>
            <a:ext cx="530352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600" b="1" i="0">
                <a:solidFill>
                  <a:srgbClr val="B42318"/>
                </a:solidFill>
                <a:latin typeface="Aptos"/>
              </a:rPr>
              <a:t>Responder no necesita permisos. Actuar sí.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Actuar exige límites operativos.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RENDIMIENTO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786384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Los agentes son tan buenos como el entorno que les damos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8" y="1828800"/>
            <a:ext cx="4736592" cy="3566160"/>
          </a:xfrm>
          <a:prstGeom prst="rect">
            <a:avLst/>
          </a:prstGeom>
          <a:solidFill>
            <a:srgbClr val="102A43"/>
          </a:solidFill>
          <a:ln w="10160"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48840"/>
            <a:ext cx="192024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1" i="0">
                <a:solidFill>
                  <a:srgbClr val="EADBC8"/>
                </a:solidFill>
                <a:latin typeface="Consolas"/>
              </a:rPr>
              <a:t>repo de trabajo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2633472"/>
            <a:ext cx="3566160" cy="329184"/>
          </a:xfrm>
          <a:prstGeom prst="rect">
            <a:avLst/>
          </a:prstGeom>
          <a:solidFill>
            <a:srgbClr val="16324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715768"/>
            <a:ext cx="141732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70" b="1" i="0">
                <a:solidFill>
                  <a:srgbClr val="FFFDF8"/>
                </a:solidFill>
                <a:latin typeface="Consolas"/>
              </a:rPr>
              <a:t>AGENTS.md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715768"/>
            <a:ext cx="132588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720" b="0" i="0">
                <a:solidFill>
                  <a:srgbClr val="EADBC8"/>
                </a:solidFill>
                <a:latin typeface="Consolas"/>
              </a:rPr>
              <a:t>reglas y límites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8992" y="3108960"/>
            <a:ext cx="3566160" cy="329184"/>
          </a:xfrm>
          <a:prstGeom prst="rect">
            <a:avLst/>
          </a:prstGeom>
          <a:solidFill>
            <a:srgbClr val="16324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3191256"/>
            <a:ext cx="141732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70" b="1" i="0">
                <a:solidFill>
                  <a:srgbClr val="FFFDF8"/>
                </a:solidFill>
                <a:latin typeface="Consolas"/>
              </a:rPr>
              <a:t>brief.md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191256"/>
            <a:ext cx="132588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720" b="0" i="0">
                <a:solidFill>
                  <a:srgbClr val="EADBC8"/>
                </a:solidFill>
                <a:latin typeface="Consolas"/>
              </a:rPr>
              <a:t>contexto del caso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78992" y="3584448"/>
            <a:ext cx="3566160" cy="329184"/>
          </a:xfrm>
          <a:prstGeom prst="rect">
            <a:avLst/>
          </a:prstGeom>
          <a:solidFill>
            <a:srgbClr val="16324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3666744"/>
            <a:ext cx="141732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70" b="1" i="0">
                <a:solidFill>
                  <a:srgbClr val="FFFDF8"/>
                </a:solidFill>
                <a:latin typeface="Consolas"/>
              </a:rPr>
              <a:t>notebooks/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3666744"/>
            <a:ext cx="132588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720" b="0" i="0">
                <a:solidFill>
                  <a:srgbClr val="EADBC8"/>
                </a:solidFill>
                <a:latin typeface="Consolas"/>
              </a:rPr>
              <a:t>exploración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8992" y="4059935"/>
            <a:ext cx="3566160" cy="329184"/>
          </a:xfrm>
          <a:prstGeom prst="rect">
            <a:avLst/>
          </a:prstGeom>
          <a:solidFill>
            <a:srgbClr val="16324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4142231"/>
            <a:ext cx="141732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70" b="1" i="0">
                <a:solidFill>
                  <a:srgbClr val="FFFDF8"/>
                </a:solidFill>
                <a:latin typeface="Consolas"/>
              </a:rPr>
              <a:t>scripts/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7248" y="4142231"/>
            <a:ext cx="132588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720" b="0" i="0">
                <a:solidFill>
                  <a:srgbClr val="EADBC8"/>
                </a:solidFill>
                <a:latin typeface="Consolas"/>
              </a:rPr>
              <a:t>transformación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4535424"/>
            <a:ext cx="3566160" cy="329184"/>
          </a:xfrm>
          <a:prstGeom prst="rect">
            <a:avLst/>
          </a:prstGeom>
          <a:solidFill>
            <a:srgbClr val="16324F"/>
          </a:solidFill>
          <a:ln w="1016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5296" y="4617720"/>
            <a:ext cx="141732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770" b="1" i="0">
                <a:solidFill>
                  <a:srgbClr val="FFFDF8"/>
                </a:solidFill>
                <a:latin typeface="Consolas"/>
              </a:rPr>
              <a:t>review.md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27248" y="4617720"/>
            <a:ext cx="1325880" cy="12801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720" b="0" i="0">
                <a:solidFill>
                  <a:srgbClr val="EADBC8"/>
                </a:solidFill>
                <a:latin typeface="Consolas"/>
              </a:rPr>
              <a:t>criterio de cierre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1993392"/>
            <a:ext cx="2194560" cy="71323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2" y="2103120"/>
            <a:ext cx="1664208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C75C2A"/>
                </a:solidFill>
                <a:latin typeface="Aptos"/>
              </a:rPr>
              <a:t>archivos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45352" y="2386584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inputs y outputs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59368" y="1993392"/>
            <a:ext cx="2194560" cy="71323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60" y="2103120"/>
            <a:ext cx="1664208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2D6A4F"/>
                </a:solidFill>
                <a:latin typeface="Aptos"/>
              </a:rPr>
              <a:t>notebooks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2386584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análisis ejecutable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80760" y="3017520"/>
            <a:ext cx="2194560" cy="71323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45352" y="3127248"/>
            <a:ext cx="1664208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C75C2A"/>
                </a:solidFill>
                <a:latin typeface="Aptos"/>
              </a:rPr>
              <a:t>queries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45352" y="3410712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datos permitidos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59368" y="3017520"/>
            <a:ext cx="2194560" cy="71323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127248"/>
            <a:ext cx="1664208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2D6A4F"/>
                </a:solidFill>
                <a:latin typeface="Aptos"/>
              </a:rPr>
              <a:t>scripts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410712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transformación reproducible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4041648"/>
            <a:ext cx="2194560" cy="71323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45352" y="4151376"/>
            <a:ext cx="1664208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C75C2A"/>
                </a:solidFill>
                <a:latin typeface="Aptos"/>
              </a:rPr>
              <a:t>metadata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5352" y="4434840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contexto del caso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59368" y="4041648"/>
            <a:ext cx="2194560" cy="71323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23960" y="4151376"/>
            <a:ext cx="1664208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2D6A4F"/>
                </a:solidFill>
                <a:latin typeface="Aptos"/>
              </a:rPr>
              <a:t>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23960" y="4434840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criterio de cierre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Herramientas, contexto e instrucciones son parte del diseño, no accesorios.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SISTEMA MÍNIMO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905256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No necesitamos una carpeta única;
necesitamos responsabilidades claras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10744200" cy="384048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75688"/>
            <a:ext cx="219456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C75C2A"/>
                </a:solidFill>
                <a:latin typeface="Aptos"/>
              </a:rPr>
              <a:t>Responsabilidad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2463" y="2075688"/>
            <a:ext cx="2926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C75C2A"/>
                </a:solidFill>
                <a:latin typeface="Aptos"/>
              </a:rPr>
              <a:t>Qué debe existir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2075688"/>
            <a:ext cx="2926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C75C2A"/>
                </a:solidFill>
                <a:latin typeface="Aptos"/>
              </a:rPr>
              <a:t>Puede vivir como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2688" y="2432303"/>
            <a:ext cx="10085832" cy="0"/>
          </a:xfrm>
          <a:prstGeom prst="line">
            <a:avLst/>
          </a:prstGeom>
          <a:ln w="635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69264" y="2542032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0F172A"/>
                </a:solidFill>
                <a:latin typeface="Aptos"/>
              </a:rPr>
              <a:t>Reglas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2542032"/>
            <a:ext cx="2834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límites, tono, definición de listo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0024" y="2542032"/>
            <a:ext cx="373075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instrucciones, guía, plantilla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2916935"/>
            <a:ext cx="10085832" cy="0"/>
          </a:xfrm>
          <a:prstGeom prst="line">
            <a:avLst/>
          </a:prstGeom>
          <a:ln w="635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9264" y="3026663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0F172A"/>
                </a:solidFill>
                <a:latin typeface="Aptos"/>
              </a:rPr>
              <a:t>Contexto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3026663"/>
            <a:ext cx="2834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fuentes y marco del caso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0024" y="3026663"/>
            <a:ext cx="373075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brief, issue, doc compartido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32688" y="3401568"/>
            <a:ext cx="10085832" cy="0"/>
          </a:xfrm>
          <a:prstGeom prst="line">
            <a:avLst/>
          </a:prstGeom>
          <a:ln w="635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9264" y="3511296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0F172A"/>
                </a:solidFill>
                <a:latin typeface="Aptos"/>
              </a:rPr>
              <a:t>Datos permitidos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2463" y="3511296"/>
            <a:ext cx="2834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qué se puede leer o tocar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3511296"/>
            <a:ext cx="373075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policy, scopes, carpeta segura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" y="3886200"/>
            <a:ext cx="10085832" cy="0"/>
          </a:xfrm>
          <a:prstGeom prst="line">
            <a:avLst/>
          </a:prstGeom>
          <a:ln w="635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69264" y="3995928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0F172A"/>
                </a:solidFill>
                <a:latin typeface="Aptos"/>
              </a:rPr>
              <a:t>Estado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3" y="3995928"/>
            <a:ext cx="2834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avance, decisiones, pendientes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995928"/>
            <a:ext cx="373075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state.md, tablero,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2688" y="4370832"/>
            <a:ext cx="10085832" cy="0"/>
          </a:xfrm>
          <a:prstGeom prst="line">
            <a:avLst/>
          </a:prstGeom>
          <a:ln w="635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9264" y="4480560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0F172A"/>
                </a:solidFill>
                <a:latin typeface="Aptos"/>
              </a:rPr>
              <a:t>Outputs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3" y="4480560"/>
            <a:ext cx="2834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artefactos editables y revisables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0024" y="4480560"/>
            <a:ext cx="373075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notebook, script, memo, pptx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32688" y="4855464"/>
            <a:ext cx="10085832" cy="0"/>
          </a:xfrm>
          <a:prstGeom prst="line">
            <a:avLst/>
          </a:prstGeom>
          <a:ln w="635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9264" y="4965192"/>
            <a:ext cx="20116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0F172A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12463" y="4965192"/>
            <a:ext cx="283464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control humano y cierre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50024" y="4965192"/>
            <a:ext cx="373075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19" b="0" i="0">
                <a:solidFill>
                  <a:srgbClr val="475569"/>
                </a:solidFill>
                <a:latin typeface="Aptos"/>
              </a:rPr>
              <a:t>checklist, PR, aprobación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La estructura debe ser adaptable, pero las responsabilidades no son opcionales.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SEGURIDAD OPERATIVA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841248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La autonomía solo escala con permisos pequeños y revisión humana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627632"/>
            <a:ext cx="10972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B42318"/>
                </a:solidFill>
                <a:latin typeface="Aptos"/>
              </a:rPr>
              <a:t>Riesgo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627632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D6A4F"/>
                </a:solidFill>
                <a:latin typeface="Aptos"/>
              </a:rPr>
              <a:t>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956816"/>
            <a:ext cx="3977639" cy="438912"/>
          </a:xfrm>
          <a:prstGeom prst="roundRect">
            <a:avLst/>
          </a:prstGeom>
          <a:solidFill>
            <a:srgbClr val="FFF7F3"/>
          </a:solidFill>
          <a:ln w="10160">
            <a:solidFill>
              <a:srgbClr val="EB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1956816"/>
            <a:ext cx="3977639" cy="438912"/>
          </a:xfrm>
          <a:prstGeom prst="roundRect">
            <a:avLst/>
          </a:prstGeom>
          <a:solidFill>
            <a:srgbClr val="F1F8F3"/>
          </a:solidFill>
          <a:ln w="10160">
            <a:solidFill>
              <a:srgbClr val="BF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66544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B42318"/>
                </a:solidFill>
                <a:latin typeface="Aptos"/>
              </a:rPr>
              <a:t>Datos sensibles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2066544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2D6A4F"/>
                </a:solidFill>
                <a:latin typeface="Aptos"/>
              </a:rPr>
              <a:t>fuentes permitidas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74920" y="2176272"/>
            <a:ext cx="1892808" cy="0"/>
          </a:xfrm>
          <a:prstGeom prst="line">
            <a:avLst/>
          </a:prstGeom>
          <a:ln w="1651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2633472"/>
            <a:ext cx="3977639" cy="438912"/>
          </a:xfrm>
          <a:prstGeom prst="roundRect">
            <a:avLst/>
          </a:prstGeom>
          <a:solidFill>
            <a:srgbClr val="FFF7F3"/>
          </a:solidFill>
          <a:ln w="10160">
            <a:solidFill>
              <a:srgbClr val="EB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69480" y="2633472"/>
            <a:ext cx="3977639" cy="438912"/>
          </a:xfrm>
          <a:prstGeom prst="roundRect">
            <a:avLst/>
          </a:prstGeom>
          <a:solidFill>
            <a:srgbClr val="F1F8F3"/>
          </a:solidFill>
          <a:ln w="10160">
            <a:solidFill>
              <a:srgbClr val="BF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2743200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B42318"/>
                </a:solidFill>
                <a:latin typeface="Aptos"/>
              </a:rPr>
              <a:t>Acciones amplias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743200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2D6A4F"/>
                </a:solidFill>
                <a:latin typeface="Aptos"/>
              </a:rPr>
              <a:t>scopes pequeños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74920" y="2852928"/>
            <a:ext cx="1892808" cy="0"/>
          </a:xfrm>
          <a:prstGeom prst="line">
            <a:avLst/>
          </a:prstGeom>
          <a:ln w="1651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3310128"/>
            <a:ext cx="3977639" cy="438912"/>
          </a:xfrm>
          <a:prstGeom prst="roundRect">
            <a:avLst/>
          </a:prstGeom>
          <a:solidFill>
            <a:srgbClr val="FFF7F3"/>
          </a:solidFill>
          <a:ln w="10160">
            <a:solidFill>
              <a:srgbClr val="EB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3310128"/>
            <a:ext cx="3977639" cy="438912"/>
          </a:xfrm>
          <a:prstGeom prst="roundRect">
            <a:avLst/>
          </a:prstGeom>
          <a:solidFill>
            <a:srgbClr val="F1F8F3"/>
          </a:solidFill>
          <a:ln w="10160">
            <a:solidFill>
              <a:srgbClr val="BF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419856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B42318"/>
                </a:solidFill>
                <a:latin typeface="Aptos"/>
              </a:rPr>
              <a:t>Entorno incierto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3419856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2D6A4F"/>
                </a:solidFill>
                <a:latin typeface="Aptos"/>
              </a:rPr>
              <a:t>sandbox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74920" y="3529584"/>
            <a:ext cx="1892808" cy="0"/>
          </a:xfrm>
          <a:prstGeom prst="line">
            <a:avLst/>
          </a:prstGeom>
          <a:ln w="1651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4400" y="3986783"/>
            <a:ext cx="3977639" cy="438912"/>
          </a:xfrm>
          <a:prstGeom prst="roundRect">
            <a:avLst/>
          </a:prstGeom>
          <a:solidFill>
            <a:srgbClr val="FFF7F3"/>
          </a:solidFill>
          <a:ln w="10160">
            <a:solidFill>
              <a:srgbClr val="EB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269480" y="3986783"/>
            <a:ext cx="3977639" cy="438912"/>
          </a:xfrm>
          <a:prstGeom prst="roundRect">
            <a:avLst/>
          </a:prstGeom>
          <a:solidFill>
            <a:srgbClr val="F1F8F3"/>
          </a:solidFill>
          <a:ln w="10160">
            <a:solidFill>
              <a:srgbClr val="BF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4096511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B42318"/>
                </a:solidFill>
                <a:latin typeface="Aptos"/>
              </a:rPr>
              <a:t>Cambio irreversible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4096511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2D6A4F"/>
                </a:solidFill>
                <a:latin typeface="Aptos"/>
              </a:rPr>
              <a:t>approvals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74920" y="4206240"/>
            <a:ext cx="1892808" cy="0"/>
          </a:xfrm>
          <a:prstGeom prst="line">
            <a:avLst/>
          </a:prstGeom>
          <a:ln w="1651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" y="4663440"/>
            <a:ext cx="3977639" cy="438912"/>
          </a:xfrm>
          <a:prstGeom prst="roundRect">
            <a:avLst/>
          </a:prstGeom>
          <a:solidFill>
            <a:srgbClr val="FFF7F3"/>
          </a:solidFill>
          <a:ln w="10160">
            <a:solidFill>
              <a:srgbClr val="EBC2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69480" y="4663440"/>
            <a:ext cx="3977639" cy="438912"/>
          </a:xfrm>
          <a:prstGeom prst="roundRect">
            <a:avLst/>
          </a:prstGeom>
          <a:solidFill>
            <a:srgbClr val="F1F8F3"/>
          </a:solidFill>
          <a:ln w="10160">
            <a:solidFill>
              <a:srgbClr val="BFD4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4773168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B42318"/>
                </a:solidFill>
                <a:latin typeface="Aptos"/>
              </a:rPr>
              <a:t>Auditoría débil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4773168"/>
            <a:ext cx="338328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40" b="1" i="0">
                <a:solidFill>
                  <a:srgbClr val="2D6A4F"/>
                </a:solidFill>
                <a:latin typeface="Aptos"/>
              </a:rPr>
              <a:t>logs y diffs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74920" y="4882896"/>
            <a:ext cx="1892808" cy="0"/>
          </a:xfrm>
          <a:prstGeom prst="line">
            <a:avLst/>
          </a:prstGeom>
          <a:ln w="16510">
            <a:solidFill>
              <a:srgbClr val="C75C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12280" y="5724144"/>
            <a:ext cx="4434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Fuentes: OWASP LLM06 Excessive Agency; NIST AI 600-1 Generative AI Profile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Los controles no frenan el uso de agentes; son lo que permite usarlos en trabajo real.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TRADUCCIÓN A DATA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841248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Para análisis y features, el estado visible es parte del método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063240" cy="333756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48840"/>
            <a:ext cx="23774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1" i="0">
                <a:solidFill>
                  <a:srgbClr val="102A43"/>
                </a:solidFill>
                <a:latin typeface="Georgia"/>
              </a:rPr>
              <a:t>state.md o equivalente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88920"/>
            <a:ext cx="2057400" cy="1554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Aptos"/>
              </a:rPr>
              <a:t>pregunta actual
fuentes usadas
hipótesis vigentes
decisiones tomadas
pendientes
criterio de cierre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2971800"/>
            <a:ext cx="6995161" cy="0"/>
          </a:xfrm>
          <a:prstGeom prst="line">
            <a:avLst/>
          </a:prstGeom>
          <a:ln w="1524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4498848" y="2807208"/>
            <a:ext cx="329184" cy="329184"/>
          </a:xfrm>
          <a:prstGeom prst="ellipse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95344" y="3456432"/>
            <a:ext cx="1554480" cy="8046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9935" y="3611880"/>
            <a:ext cx="1207008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19" b="1" i="0">
                <a:solidFill>
                  <a:srgbClr val="16324F"/>
                </a:solidFill>
                <a:latin typeface="Aptos"/>
              </a:rPr>
              <a:t>fuentes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1648" y="3913632"/>
            <a:ext cx="12344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19" b="0" i="0">
                <a:solidFill>
                  <a:srgbClr val="475569"/>
                </a:solidFill>
                <a:latin typeface="Aptos"/>
              </a:rPr>
              <a:t>datos permitidos</a:t>
            </a:r>
          </a:p>
        </p:txBody>
      </p:sp>
      <p:sp>
        <p:nvSpPr>
          <p:cNvPr id="14" name="Oval 13"/>
          <p:cNvSpPr/>
          <p:nvPr/>
        </p:nvSpPr>
        <p:spPr>
          <a:xfrm>
            <a:off x="6199632" y="2807208"/>
            <a:ext cx="329184" cy="329184"/>
          </a:xfrm>
          <a:prstGeom prst="ellipse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96128" y="3456432"/>
            <a:ext cx="1554480" cy="8046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3611880"/>
            <a:ext cx="1207008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19" b="1" i="0">
                <a:solidFill>
                  <a:srgbClr val="C75C2A"/>
                </a:solidFill>
                <a:latin typeface="Aptos"/>
              </a:rPr>
              <a:t>notebooks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2432" y="3913632"/>
            <a:ext cx="12344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19" b="0" i="0">
                <a:solidFill>
                  <a:srgbClr val="475569"/>
                </a:solidFill>
                <a:latin typeface="Aptos"/>
              </a:rPr>
              <a:t>exploración</a:t>
            </a:r>
          </a:p>
        </p:txBody>
      </p:sp>
      <p:sp>
        <p:nvSpPr>
          <p:cNvPr id="18" name="Oval 17"/>
          <p:cNvSpPr/>
          <p:nvPr/>
        </p:nvSpPr>
        <p:spPr>
          <a:xfrm>
            <a:off x="7900416" y="2807208"/>
            <a:ext cx="329184" cy="329184"/>
          </a:xfrm>
          <a:prstGeom prst="ellipse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96912" y="3456432"/>
            <a:ext cx="1554480" cy="8046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3611880"/>
            <a:ext cx="1207008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19" b="1" i="0">
                <a:solidFill>
                  <a:srgbClr val="2D6A4F"/>
                </a:solidFill>
                <a:latin typeface="Aptos"/>
              </a:rPr>
              <a:t>scripts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3913632"/>
            <a:ext cx="12344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19" b="0" i="0">
                <a:solidFill>
                  <a:srgbClr val="475569"/>
                </a:solidFill>
                <a:latin typeface="Aptos"/>
              </a:rPr>
              <a:t>transformación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0" y="2807208"/>
            <a:ext cx="329184" cy="329184"/>
          </a:xfrm>
          <a:prstGeom prst="ellipse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97696" y="3456432"/>
            <a:ext cx="1554480" cy="8046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8C8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62288" y="3611880"/>
            <a:ext cx="1207008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19" b="1" i="0">
                <a:solidFill>
                  <a:srgbClr val="2D6A4F"/>
                </a:solidFill>
                <a:latin typeface="Aptos"/>
              </a:rPr>
              <a:t>outputs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913632"/>
            <a:ext cx="123444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819" b="0" i="0">
                <a:solidFill>
                  <a:srgbClr val="475569"/>
                </a:solidFill>
                <a:latin typeface="Aptos"/>
              </a:rPr>
              <a:t>artefactos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736592"/>
            <a:ext cx="2331720" cy="566928"/>
          </a:xfrm>
          <a:prstGeom prst="roundRect">
            <a:avLst/>
          </a:prstGeom>
          <a:solidFill>
            <a:srgbClr val="F8F1E8"/>
          </a:solidFill>
          <a:ln w="10160"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16952" y="4919472"/>
            <a:ext cx="1810512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050" b="1" i="0">
                <a:solidFill>
                  <a:srgbClr val="C75C2A"/>
                </a:solidFill>
                <a:latin typeface="Aptos"/>
              </a:rPr>
              <a:t>revisión humana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5376672"/>
            <a:ext cx="544068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80" b="1" i="0">
                <a:solidFill>
                  <a:srgbClr val="0F172A"/>
                </a:solidFill>
                <a:latin typeface="Georgia"/>
              </a:rPr>
              <a:t>El estado visible conecta lo que se hizo, por qué y qué falta.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Trazabilidad no es documentación extra; permite revisar, retomar y transferir el trabajo.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475569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C75C2A"/>
                </a:solidFill>
                <a:latin typeface="Aptos"/>
              </a:rPr>
              <a:t>CRITERIO DE ADOPCIÓN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"/>
            <a:ext cx="768096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0F172A"/>
                </a:solidFill>
                <a:latin typeface="Georgia"/>
              </a:rPr>
              <a:t>El sistema mínimo debe ayudar más de lo que estorba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47088"/>
            <a:ext cx="4800600" cy="12618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9848" y="2048256"/>
            <a:ext cx="1600200" cy="246888"/>
          </a:xfrm>
          <a:prstGeom prst="roundRect">
            <a:avLst/>
          </a:prstGeom>
          <a:solidFill>
            <a:srgbClr val="16324F"/>
          </a:solidFill>
          <a:ln>
            <a:solidFill>
              <a:srgbClr val="163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084832"/>
            <a:ext cx="147218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Exploración abierta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32304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Georgia"/>
              </a:rPr>
              <a:t>Chat web o convención ligera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38862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baja consecuencia, alta ambigüedad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47088"/>
            <a:ext cx="4800600" cy="12618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56248" y="2048256"/>
            <a:ext cx="1600200" cy="246888"/>
          </a:xfrm>
          <a:prstGeom prst="roundRect">
            <a:avLst/>
          </a:prstGeom>
          <a:solidFill>
            <a:srgbClr val="2D6A4F"/>
          </a:solidFill>
          <a:ln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2084832"/>
            <a:ext cx="147218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Trabajo recurrente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2432304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Georgia"/>
              </a:rPr>
              <a:t>Workspace mínimo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38862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se repite, se transfiere, se revisa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602736"/>
            <a:ext cx="4800600" cy="12618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" y="3803904"/>
            <a:ext cx="1600200" cy="246888"/>
          </a:xfrm>
          <a:prstGeom prst="round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33856" y="3840480"/>
            <a:ext cx="147218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Trabajo sensible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" y="4187952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Georgia"/>
              </a:rPr>
              <a:t>Permisos y revisión explícita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90288"/>
            <a:ext cx="38862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datos, cambios o decisiones con riesgo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602736"/>
            <a:ext cx="4800600" cy="1261872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56248" y="3803904"/>
            <a:ext cx="1600200" cy="246888"/>
          </a:xfrm>
          <a:prstGeom prst="roundRect">
            <a:avLst/>
          </a:prstGeom>
          <a:solidFill>
            <a:srgbClr val="C75C2A"/>
          </a:solidFill>
          <a:ln>
            <a:solidFill>
              <a:srgbClr val="C75C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0256" y="3840480"/>
            <a:ext cx="1472184" cy="1463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750" b="1" i="0">
                <a:solidFill>
                  <a:srgbClr val="FFFDF8"/>
                </a:solidFill>
                <a:latin typeface="Aptos"/>
              </a:rPr>
              <a:t>Automatización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4187952"/>
            <a:ext cx="406908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  <a:latin typeface="Georgia"/>
              </a:rPr>
              <a:t>Evals, rollback y monitoreo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590288"/>
            <a:ext cx="388620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475569"/>
                </a:solidFill>
                <a:latin typeface="Aptos"/>
              </a:rPr>
              <a:t>acciones repetibles con costo de error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1737360"/>
            <a:ext cx="0" cy="3474720"/>
          </a:xfrm>
          <a:prstGeom prst="line">
            <a:avLst/>
          </a:prstGeom>
          <a:ln w="12700">
            <a:solidFill>
              <a:srgbClr val="D8C8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063240" y="5440680"/>
            <a:ext cx="621792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50" b="1" i="0">
                <a:solidFill>
                  <a:srgbClr val="102A43"/>
                </a:solidFill>
                <a:latin typeface="Georgia"/>
              </a:rPr>
              <a:t>más fricción solo cuando compra trazabilidad o reduce riesgo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EADBC8"/>
          </a:solidFill>
          <a:ln>
            <a:solidFill>
              <a:srgbClr val="EADB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6291072"/>
            <a:ext cx="10058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850" b="1" i="0">
                <a:solidFill>
                  <a:srgbClr val="C75C2A"/>
                </a:solidFill>
                <a:latin typeface="Aptos"/>
              </a:rPr>
              <a:t>LECTURA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6236208"/>
            <a:ext cx="978408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20" b="1" i="0">
                <a:solidFill>
                  <a:srgbClr val="0F172A"/>
                </a:solidFill>
                <a:latin typeface="Aptos"/>
              </a:rPr>
              <a:t>No todo amerita agente; el criterio es recurrencia, sensibilidad, trazabilidad y costo de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osing-workbench-rgb.jpg"/>
          <p:cNvPicPr>
            <a:picLocks noChangeAspect="1"/>
          </p:cNvPicPr>
          <p:nvPr/>
        </p:nvPicPr>
        <p:blipFill>
          <a:blip r:embed="rId2"/>
          <a:srcRect l="20059" r="20059"/>
          <a:stretch>
            <a:fillRect/>
          </a:stretch>
        </p:blipFill>
        <p:spPr>
          <a:xfrm>
            <a:off x="4892040" y="0"/>
            <a:ext cx="729691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715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0" cy="82296"/>
          </a:xfrm>
          <a:prstGeom prst="rect">
            <a:avLst/>
          </a:prstGeom>
          <a:solidFill>
            <a:srgbClr val="E07A3F"/>
          </a:solidFill>
          <a:ln>
            <a:solidFill>
              <a:srgbClr val="E07A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37392" y="219456"/>
            <a:ext cx="502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800" b="1" i="0">
                <a:solidFill>
                  <a:srgbClr val="EADBC8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66928"/>
            <a:ext cx="4297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1" i="0">
                <a:solidFill>
                  <a:srgbClr val="EADBC8"/>
                </a:solidFill>
                <a:latin typeface="Aptos"/>
              </a:rPr>
              <a:t>CIERRE EDITORIAL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77824"/>
            <a:ext cx="493776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2350" b="1" i="0">
                <a:solidFill>
                  <a:srgbClr val="FFFDF8"/>
                </a:solidFill>
                <a:latin typeface="Georgia"/>
              </a:rPr>
              <a:t>La IA no reemplaza
el sistema de trabajo.
Lo exige.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3364992"/>
            <a:ext cx="3749040" cy="0"/>
          </a:xfrm>
          <a:prstGeom prst="line">
            <a:avLst/>
          </a:prstGeom>
          <a:ln w="15240">
            <a:solidFill>
              <a:srgbClr val="E07A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3886200"/>
            <a:ext cx="3886200" cy="6217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620" b="1" i="0">
                <a:solidFill>
                  <a:srgbClr val="FFFDF8"/>
                </a:solidFill>
                <a:latin typeface="Georgia"/>
              </a:rPr>
              <a:t>Darle un lugar seguro donde trabajar.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