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4d08d30be7425b" /><Relationship Type="http://schemas.openxmlformats.org/officeDocument/2006/relationships/extended-properties" Target="/docProps/app.xml" Id="R4fcce6607d764c81" /><Relationship Type="http://schemas.openxmlformats.org/officeDocument/2006/relationships/officeDocument" Target="/ppt/presentation.xml" Id="Rbff48bb2a87b4d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0660d58f0c4b99"/>
  </p:sldMasterIdLst>
  <p:notesMasterIdLst>
    <p:notesMasterId xmlns:r="http://schemas.openxmlformats.org/officeDocument/2006/relationships" r:id="R8479a33114bc4590"/>
  </p:notesMasterIdLst>
  <p:sldIdLst>
    <p:sldId xmlns:r="http://schemas.openxmlformats.org/officeDocument/2006/relationships" id="256" r:id="Rb11054af1d0540e8"/>
    <p:sldId xmlns:r="http://schemas.openxmlformats.org/officeDocument/2006/relationships" id="257" r:id="R419393be853c4c53"/>
    <p:sldId xmlns:r="http://schemas.openxmlformats.org/officeDocument/2006/relationships" id="258" r:id="R87ab8bed4d6940d5"/>
    <p:sldId xmlns:r="http://schemas.openxmlformats.org/officeDocument/2006/relationships" id="259" r:id="R7a686989a4034bce"/>
    <p:sldId xmlns:r="http://schemas.openxmlformats.org/officeDocument/2006/relationships" id="260" r:id="R35fdfd1ec9ce43a7"/>
    <p:sldId xmlns:r="http://schemas.openxmlformats.org/officeDocument/2006/relationships" id="261" r:id="R10851be166504953"/>
    <p:sldId xmlns:r="http://schemas.openxmlformats.org/officeDocument/2006/relationships" id="262" r:id="R6df5a6899a0343fb"/>
    <p:sldId xmlns:r="http://schemas.openxmlformats.org/officeDocument/2006/relationships" id="263" r:id="R42cfa499d1ab4a8d"/>
    <p:sldId xmlns:r="http://schemas.openxmlformats.org/officeDocument/2006/relationships" id="264" r:id="R517608cb90494922"/>
    <p:sldId xmlns:r="http://schemas.openxmlformats.org/officeDocument/2006/relationships" id="265" r:id="Re80951c6f53e40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656dc53ec74ec8" /><Relationship Type="http://schemas.openxmlformats.org/officeDocument/2006/relationships/slideMaster" Target="/ppt/slideMasters/slideMaster1.xml" Id="R1f0660d58f0c4b99" /><Relationship Type="http://schemas.openxmlformats.org/officeDocument/2006/relationships/notesMaster" Target="/ppt/notesMasters/notesMaster1.xml" Id="R8479a33114bc4590" /><Relationship Type="http://schemas.openxmlformats.org/officeDocument/2006/relationships/presProps" Target="/ppt/presProps.xml" Id="R937ac049bbb8421f" /><Relationship Type="http://schemas.openxmlformats.org/officeDocument/2006/relationships/viewProps" Target="/ppt/viewProps.xml" Id="Rbfadd084356a4e5d" /><Relationship Type="http://schemas.openxmlformats.org/officeDocument/2006/relationships/tableStyles" Target="/ppt/tableStyles.xml" Id="R507e4c0c6bd94300" /><Relationship Type="http://schemas.openxmlformats.org/officeDocument/2006/relationships/slide" Target="/ppt/slides/slide1.xml" Id="Rb11054af1d0540e8" /><Relationship Type="http://schemas.openxmlformats.org/officeDocument/2006/relationships/slide" Target="/ppt/slides/slide2.xml" Id="R419393be853c4c53" /><Relationship Type="http://schemas.openxmlformats.org/officeDocument/2006/relationships/slide" Target="/ppt/slides/slide3.xml" Id="R87ab8bed4d6940d5" /><Relationship Type="http://schemas.openxmlformats.org/officeDocument/2006/relationships/slide" Target="/ppt/slides/slide4.xml" Id="R7a686989a4034bce" /><Relationship Type="http://schemas.openxmlformats.org/officeDocument/2006/relationships/slide" Target="/ppt/slides/slide5.xml" Id="R35fdfd1ec9ce43a7" /><Relationship Type="http://schemas.openxmlformats.org/officeDocument/2006/relationships/slide" Target="/ppt/slides/slide6.xml" Id="R10851be166504953" /><Relationship Type="http://schemas.openxmlformats.org/officeDocument/2006/relationships/slide" Target="/ppt/slides/slide7.xml" Id="R6df5a6899a0343fb" /><Relationship Type="http://schemas.openxmlformats.org/officeDocument/2006/relationships/slide" Target="/ppt/slides/slide8.xml" Id="R42cfa499d1ab4a8d" /><Relationship Type="http://schemas.openxmlformats.org/officeDocument/2006/relationships/slide" Target="/ppt/slides/slide9.xml" Id="R517608cb90494922" /><Relationship Type="http://schemas.openxmlformats.org/officeDocument/2006/relationships/slide" Target="/ppt/slides/slide10.xml" Id="Re80951c6f53e40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7129c2ead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21a49c167a4543" /><Relationship Type="http://schemas.openxmlformats.org/officeDocument/2006/relationships/notesMaster" Target="/ppt/notesMasters/notesMaster1.xml" Id="Ra0dbaf26db7b40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407f0d08314578" /><Relationship Type="http://schemas.openxmlformats.org/officeDocument/2006/relationships/notesMaster" Target="/ppt/notesMasters/notesMaster1.xml" Id="R456bbcb219a747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953687ba244d63" /><Relationship Type="http://schemas.openxmlformats.org/officeDocument/2006/relationships/notesMaster" Target="/ppt/notesMasters/notesMaster1.xml" Id="R30ce1eb5672847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a910ab54604228" /><Relationship Type="http://schemas.openxmlformats.org/officeDocument/2006/relationships/notesMaster" Target="/ppt/notesMasters/notesMaster1.xml" Id="R28fa75f815c04b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0205058ab44266" /><Relationship Type="http://schemas.openxmlformats.org/officeDocument/2006/relationships/notesMaster" Target="/ppt/notesMasters/notesMaster1.xml" Id="Rb1fcda7f25da43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1bf691ee8a431a" /><Relationship Type="http://schemas.openxmlformats.org/officeDocument/2006/relationships/notesMaster" Target="/ppt/notesMasters/notesMaster1.xml" Id="Rfe104b0f10fe4c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aa8dcc91714679" /><Relationship Type="http://schemas.openxmlformats.org/officeDocument/2006/relationships/notesMaster" Target="/ppt/notesMasters/notesMaster1.xml" Id="Rb2eb015d4ef24a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5cc602373402c" /><Relationship Type="http://schemas.openxmlformats.org/officeDocument/2006/relationships/notesMaster" Target="/ppt/notesMasters/notesMaster1.xml" Id="R2d920f2b479b49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b9be5c593d4012" /><Relationship Type="http://schemas.openxmlformats.org/officeDocument/2006/relationships/notesMaster" Target="/ppt/notesMasters/notesMaster1.xml" Id="Re16c1ce1ed794c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c2354e790b4c57" /><Relationship Type="http://schemas.openxmlformats.org/officeDocument/2006/relationships/notesMaster" Target="/ppt/notesMasters/notesMaster1.xml" Id="R069df53cbd914c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066c10ce142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f5ece7ef864897" /><Relationship Type="http://schemas.openxmlformats.org/officeDocument/2006/relationships/slideLayout" Target="/ppt/slideLayouts/slideLayout1.xml" Id="Rde1c09875a894e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1c09875a894e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3bd7e6e0f4965" /><Relationship Type="http://schemas.openxmlformats.org/officeDocument/2006/relationships/notesSlide" Target="/ppt/notesSlides/notesSlide1.xml" Id="R4d917b2470774a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67f8b3c1442fd" /><Relationship Type="http://schemas.openxmlformats.org/officeDocument/2006/relationships/notesSlide" Target="/ppt/notesSlides/notesSlide2.xml" Id="Re4d0b526563d45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9550098e047f9" /><Relationship Type="http://schemas.openxmlformats.org/officeDocument/2006/relationships/notesSlide" Target="/ppt/notesSlides/notesSlide3.xml" Id="R8633ff7fb8f949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d619bf2f047a9" /><Relationship Type="http://schemas.openxmlformats.org/officeDocument/2006/relationships/notesSlide" Target="/ppt/notesSlides/notesSlide4.xml" Id="Ra6e31f0f4ce3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8e2e351384723" /><Relationship Type="http://schemas.openxmlformats.org/officeDocument/2006/relationships/notesSlide" Target="/ppt/notesSlides/notesSlide5.xml" Id="Ra5b1af7f257e4e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cd39dfb084154" /><Relationship Type="http://schemas.openxmlformats.org/officeDocument/2006/relationships/notesSlide" Target="/ppt/notesSlides/notesSlide6.xml" Id="R9b879f67051c4c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493bfbeea4c54" /><Relationship Type="http://schemas.openxmlformats.org/officeDocument/2006/relationships/notesSlide" Target="/ppt/notesSlides/notesSlide7.xml" Id="R10f96000fa324b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6009fa0654daa" /><Relationship Type="http://schemas.openxmlformats.org/officeDocument/2006/relationships/notesSlide" Target="/ppt/notesSlides/notesSlide8.xml" Id="Rec5297a6b8464e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a97fdcb3146f2" /><Relationship Type="http://schemas.openxmlformats.org/officeDocument/2006/relationships/notesSlide" Target="/ppt/notesSlides/notesSlide9.xml" Id="Rc8d398dd0a0c4b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06bd88fad4171" /><Relationship Type="http://schemas.openxmlformats.org/officeDocument/2006/relationships/image" Target="/ppt/media/image.png" Id="Rbb7f99b59b224265" /><Relationship Type="http://schemas.openxmlformats.org/officeDocument/2006/relationships/notesSlide" Target="/ppt/notesSlides/notesSlide10.xml" Id="R39aed46603da44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0866B3-E12C-447B-B5BA-052CB593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48EE5-1DD6-485B-A995-AC77E25E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F8D98-8F01-4BD7-ADA2-47A02894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CHARLA PARA IA E INFRAESTRUCTURA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DBD64-DAEE-4222-97DB-D947A140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647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El eterno retorno:</a:t>
            </a:r>
          </a:p>
          <a:p xmlns:a="http://schemas.openxmlformats.org/drawingml/2006/main">
            <a:pPr algn="l">
              <a:defRPr sz="37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¿volveremos a</a:t>
            </a:r>
          </a:p>
          <a:p xmlns:a="http://schemas.openxmlformats.org/drawingml/2006/main">
            <a:pPr algn="l">
              <a:defRPr sz="37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on-premise?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E244C-ACF7-4D6D-85BC-CD5CF241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590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Los LLMs están reabriendo una pregunta que la nube parecía haber cerrado: dónde conviene correr la inteligencia cuando el costo por token se dispara.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26CDC-080E-48CB-92E9-A11B11FD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4191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11430">
            <a:solidFill>
              <a:srgbClr val="3553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FDD06-3ABC-4986-8CA0-6481B2CE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00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GANCHO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1F8D5-A5B5-471B-83D3-609D4060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1925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No porque la nube haya fallado, sino porque la economía de los LLMs está obligando a revisar la arquitectura.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FDF61-91E8-450E-A6E5-6706170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433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10+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8A0C8-6AF3-46EB-8E78-FA568B4D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671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2E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9E2EC"/>
                </a:solidFill>
                <a:latin typeface="Aptos Mono"/>
                <a:ea typeface="Aptos Mono"/>
                <a:cs typeface="Aptos Mono"/>
              </a:rPr>
              <a:t>años de hegemonía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365A3-1DF7-4100-8DE5-B2375849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A9869-FDA0-45A6-8658-BD717510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671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2E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9E2EC"/>
                </a:solidFill>
                <a:latin typeface="Aptos Mono"/>
                <a:ea typeface="Aptos Mono"/>
                <a:cs typeface="Aptos Mono"/>
              </a:rPr>
              <a:t>fuerzas en tensión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F809F-F62F-4306-8A2C-678DFD8A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433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26FF7-9A4A-4DAE-8805-0DB81DA2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6715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2E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9E2EC"/>
                </a:solidFill>
                <a:latin typeface="Aptos Mono"/>
                <a:ea typeface="Aptos Mono"/>
                <a:cs typeface="Aptos Mono"/>
              </a:rPr>
              <a:t>pregunta central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F69F8-9E9A-4AAC-A727-6825BE67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243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A4A21-D94E-418D-893B-5D4D8FD1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91025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COSTO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67A5B-92FD-441C-AACC-0C6375C2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62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tokens e inferencia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5DD4D-1A62-49D2-9A02-1DF789F2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244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CF126-DF89-4695-AD58-77F5C86A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91075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983D0-D68F-41CF-B847-3B050D76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62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dato y cumplimiento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6C918-3BA3-41A2-AFDE-1C33CAC0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244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597BF-8E15-4A5C-83FB-19C6560F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91125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CALIDAD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269F0-84F5-4AAF-AFEF-BC46B745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62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frontier vs open 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DB2A3-E6F3-42B5-902F-69749DB8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52450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B914B-D580-4259-BC01-F4A1D589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91175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ESCALA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8DB230-1AE4-4FB2-9B8A-93C6F818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562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usuarios y concurrencia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E22CE-497F-4C9E-9584-C814D921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Hook central: los LLMs reabren la pregunta de dónde conviene correr la inteligencia.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96ECCC-E519-4229-ACCC-0FE6BD26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650807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C9185-497F-49C3-B9DF-17794A0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41A50-4AE8-4787-8F20-5671721D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94FB4-E87E-4687-905B-229E1671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6918D-4BC0-425A-9172-5DEC0A5B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nube ganó porque resolvía problemas reales que el datacenter propio hacía más caros y lentos.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58A15-7E0C-438E-BDE4-32696289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3909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24EE9-A885-4600-8211-AA3DA9CA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Hace 10 años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1D36E-EED1-4501-BFEF-3AA0FA32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A3497-EE9D-4FCE-892A-ABC49CD3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Compra y renovación de hardware.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BF2D2-3765-4409-B4AC-878E6CB8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AD9F2-9F40-47CF-94CA-E3EF86F3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Mantenimiento de servidores y capacidad.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37A69-1C30-4403-AE7E-2346C9C6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50063-1CA8-42A0-9FD2-879AD94D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Equipos especializados para operar datacenter.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A2AE4-325D-44D1-A42C-AE90E3AD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D6512-14C4-49A9-A717-CAC65419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Escalabilidad más lenta y disponibilidad más costosa.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09888-6074-468C-8795-82F81979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33909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DCFEC-009A-4F11-9425-F33474F0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La promesa 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66282-ACCF-475F-BE52-7D4135DA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8DF75-2B3A-4D88-A80A-22D7C928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Elasticidad y provisioning rápido.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5D1EB-19D5-42AF-B049-ABFA4A00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A2451-ADB6-44AD-B28E-08B92331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Menos fricción operativa.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EF4DC-CC7D-4B86-88C7-29DA05D9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2973A-7CA7-45E6-9553-B0D25ED2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5285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Servicios administrados y mejor time-to-market.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DE18C2-A16A-4201-B858-05D607E4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B4838-1CD2-4B43-902B-DE8DACE5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672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Costo más fácil de aprobar frente a capex tradicional.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06542E-E30B-4061-BA5A-51FE744E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36766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2EECE-9A27-4A9F-B8AA-CE314C9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 importante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19183-2B66-4E4E-8A1D-95309021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952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La nube no se impuso por moda.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Se impuso porque para muchísimos workloads era mejor en disponibilidad, velocidad y economía operativa.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La charla no discute eso. Discute si los LLMs cambian la ecuación para un subconjunto de casos.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BCAAF-026A-4122-8FBF-17FEC7E5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Punto de partida: el cloud shift fue racional y sigue siéndolo para gran parte del software.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D92302-58DB-459F-888B-429DCF38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397182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4B17DC-BB8E-475C-8CC0-5A1EF204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8B229-2BC9-46E7-B89F-A17861F2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0CD14-2FFA-4060-B539-1AF5501B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EL CAMBIO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C2B44-2E53-4293-A149-534A398B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Los LLMs introducen un gasto distinto: recurrente, probabilístico y fácil de inflar sin darse cuenta.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1155C-E3DF-4A12-B551-0C798C5E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1068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33E62-9D46-4024-ACEC-B28CFC92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Precios de referencia oficiales por 1M tokens al 2026-06-02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B597C-E20A-4B51-87B9-A8D5358F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Modelo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84271-ED37-4341-8BD7-663B47C8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F7B6B-79B2-457A-BFCD-A9FA628B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EC635-0FA0-487D-B6AF-DCF06F26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Lectura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E72FE-06B6-4EDA-BBF2-DE866C7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19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1069D-7EC4-4C66-B84C-BE10918B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GPT-5.5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7CC4E-6517-48B4-BA3A-4D612AF1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$5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57BA3-A474-490F-9397-89CE3B4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05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$30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16CD0-CFE1-4AC6-A325-3E9CF93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frontier caro, sobre todo por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7759C-3003-4402-98D2-1AEF2D22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GPT-5.4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1C6CB-B81A-4659-84B9-76878419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$2.5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78265-95EE-478D-B87D-A83227F4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$15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CC29F-1565-4215-8181-54E165C3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más barato, pero sigue siendo premium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3BD4E-C1DF-4737-A031-561EC004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19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BE2FA-0776-47D2-B360-C6CD0B5E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Claude Opus 4.8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E530E-866C-455B-B4E8-9BC31827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$5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6255F-EAA5-4DBD-B9B8-AC81DC3F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05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$25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C16278-CAD7-42A9-9FE5-498D88E2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muy competitivo en calidad, pero no barato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E0BEF-66D8-4D36-9136-2C3571DE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Claude Sonnet 4.6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EEA6B1-737F-41A5-A79A-007B39FC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053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$3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151CAF-A5A6-4D08-8AF3-D54A6182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053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$15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5D1784-081C-4FA0-86D1-B91E254A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ruta intermedia más razonable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A69CDC-483D-4B8E-BAF8-9F8A1DFD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19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3EB5FF-668A-4656-BB72-2A553E15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Claude Haiku 4.5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003A6D-69A1-48B7-B11B-90D3936B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053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$1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89272A-EEE3-4CDD-AB31-DA8E4E5F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053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$5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4ED513-7770-483B-86A6-AAD42BC2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053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mucho más económico para tareas ligeras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8E3EB6-2695-4B6A-B954-699DAEE4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$150-$250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0C499B-B42B-404B-902D-F21AA570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Claude Code enterprise por dev/mes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D6222A-B8BB-47F3-9659-06343E01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43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4C3060-F1C1-4348-84CD-D22874BF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673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palancas del costo: volumen y modelo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063C65-30F0-4F42-9B51-EE8D3E1F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CB30D9-CBE3-4E58-AD83-3FD3DD4B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673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riesgo: uso sin disciplina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3C9EB6-DAD5-4AB6-BE0F-B2F60B7A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Fuentes: OpenAI pricing, Anthropic pricing y Claude Code costs.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3CE158-D6B7-4B6E-85C6-1D911C14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10844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998A83-84E1-473D-BC36-53BFA25F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0A1C3-61F5-4554-9461-29062FC1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437E8-B725-41C3-896C-F7539230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B42318"/>
                </a:solidFill>
                <a:latin typeface="Aptos Mono"/>
                <a:ea typeface="Aptos Mono"/>
                <a:cs typeface="Aptos Mono"/>
              </a:rPr>
              <a:t>MERCADO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6552C-C0F5-4D67-8B39-24261211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preocupación por costos ya no es teórica: hay casos documentados de presupuestos agotados, licencias recortadas y uso gamificado.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B9762-1CCB-46F1-8E4E-DE032370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D8EF5-BB3C-48CE-B28C-74B8DCEE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8793D-5E96-4650-8236-CD0A7D15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Fortune, 2026-05-26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B25CA-7E5F-49A3-8778-1BA28A4A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Había consumido su presupuesto anual de IA en cuatro meses y el gasto se volvía más difícil de justificar.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8D4A3-30E3-4BE9-9BE9-BF4B720A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11430">
            <a:solidFill>
              <a:srgbClr val="F2C2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60A39-B7F2-4B21-BAB0-8905C9CB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Cliente citado por Axios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5C607-595D-4059-8E38-0440F00C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Axios, 2026-05-28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11D9A-3CAF-4F82-83ED-E723B364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Gastó 500 millones de dólares en un solo mes por no poner límites de uso sobre Claude.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89A71-43A0-4DA3-895E-E8209187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B02EC-4431-4BD5-AAE1-BA2071D6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Microsoft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4ABCE-9004-4658-A215-EA4CCB93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Axios, 2026-05-28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A46AE-9BEE-4F77-9599-82B17299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Canceló la mayoría de sus licencias internas de Claude Code, en parte por costos, citando a The Verge.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D21A9-3EAA-46F7-9227-E2B3854B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46DC7-C966-4DF8-8A73-EE2FEA2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86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Meta y Amazon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9F18B-30FA-497D-8C3A-E59D4790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0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The Information + Fortune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4FA4A-8073-4495-9FC1-187D1101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Aparecen patrones de leaderboard, tokenmaxxing y uso inflado, señal de gobernanza debil.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9475C-3B40-43E9-BD0D-05411363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Las señales no prueban un retorno masivo, pero sí prueban presión económica real.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99753-1B89-45EB-A0DF-9BD1E5D6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76179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CE7A21-D7A1-404B-90B4-628955ED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67F66-941C-42B8-B985-FBF2D85A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6D876-283A-4E3B-8114-8FDD722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ESCENARIOS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642C1-94FC-457F-A9A6-F0DEE0AD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 pocos usuarios la nube sigue ganando. Con uso intensivo y recurrente, la pregunta on-premise deja de sonar exótica.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2D280-CC47-45D1-9F65-DF96A283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143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6F11B-42EA-4769-ADA8-DB4155DE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Escenario A: 50 personas, uso moderado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FFC03-94BE-4C3E-B1BD-EC8BA339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$16.5k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F280B-818C-418C-8248-1A3EB12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GPT-5.5 / 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EE260-FE85-4644-8AFA-9F00E2D2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765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$15k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8B18B-7738-47D2-92FD-C1CC9387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00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Opus 4.8 / 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DAD72-7745-4ABA-9F4E-4667E76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$9k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7AD24-105E-444E-93D7-7B41E955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00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Sonnet 4.6 / 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79E43-87E7-4A0E-A2A7-E2B1AF49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Lectura: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Ya es un gasto visible, pero en muchos casos todavía no compensa traer hardware, serving y operación dentro de casa. La nube sigue siendo la opción más simple.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4BB19-63FC-4BA9-A568-2A974942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56197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1E953-7D36-49B3-A6B6-80D4BC48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Escenario B: 200 personas, uso intensivo y agentes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444A2-8FF6-459D-8F57-3AE2A374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$220k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DE605-8A9F-4D7E-8CCB-339B7651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04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GPT-5.5 / 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CCF2F-40AB-45C7-A19B-5055BF90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$200k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5B09E-64C4-470E-8A73-B860EF8F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04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Opus 4.8 / 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0CFD7-A4E1-48C7-B9B9-D3B5399A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765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$120k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24AB4-71E5-41CA-AB0B-4B00BF23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004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Sonnet 4.6 / 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376E6-B847-4CC8-BB30-1E4BD7D0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Lectura: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este nivel, la empresa ya debería comparar seriamente el gasto recurrente por tokens contra alternativas privadas o híbridas. No porque cloud sea mala, sino porque la escala cambia la ecuación.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0D036-9717-4C80-BDB6-A3ED8A5B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Escenarios ilustrativos construidos con precios oficiales de OpenAI y Anthropic.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D2C23-993C-4252-B624-0233A4A6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47739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BC6730-8A3C-4CD3-A84E-B22A9A2F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8B7B8-27EA-48A9-BF7D-AD03182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B84B5-F77F-450E-9B5F-8EA4637A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CONDICIONES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4F332-9289-4DB7-9009-D795DF8A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Volver a infraestructura controlada solo tiene sentido si se cumplen varias condiciones al mismo tiempo.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F3E8A-FB3A-4E87-B26D-16CCF9C9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3340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E22F5-BA2D-4D60-BD13-6F53F5D9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 que tendría que ser cierto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6A628-C781-4423-8788-7E1DF7ED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55154-F1BD-45A6-B807-938EDA38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Demanda relativamente estable.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1A5D9-4DD4-4B03-9A43-E771AAFF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154FF-485D-4497-84E8-20F89AE5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Volumen alto y recurrente.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6514A-15C6-466D-9E89-5DFA26B7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D103C-FB94-4EA4-9F9E-0815C443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Modelo open source suficientemente bueno.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74801-76CD-4F5B-BF1B-837DD26F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1B98D-ED55-4693-9480-4F8C90EE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Equipo capaz de operar hardware y serving.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B80FA-112F-4074-A8BD-87EA0E0E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4C2F4-CB92-4409-B95E-992CDF72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Tolerancia a menor elasticidad que cloud.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45A16-1C41-406F-8B06-3A24BECD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4292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11430">
            <a:solidFill>
              <a:srgbClr val="F2C2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697FB-F191-4CDD-851A-3D012AE2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Lo que no hay que subestimar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85CB7-6A00-4F98-A5DB-D7AC5F09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36C57-A7C8-4BF7-B485-4887AC5B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Compra o alquiler de hardware especializado.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31FB1-15C0-4D66-B320-1F0A9D0E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89DE4-2D80-4ACF-B5BA-CC611865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61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Capacidad, disponibilidad y monitoreo.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CD153-E2E8-4B34-9108-064EF1F2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7DD1AC-43B1-4007-B530-77562E3C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099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Seguridad, patching y refresh de infraestructura.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C3CB9-A91B-4DCF-9312-68CBC235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4F421-A0B8-48F1-AAF0-CA048DA8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338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Costo de oportunidad frente a frontier models mejores.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ED230B-4BB3-46E7-B909-C5441A2D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67F1E-EF0C-4BD8-A427-28C6FDA7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Necesidad de plataforma y MLOps más fuerte.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026892-BD38-437C-B31E-08AEB6E7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On-premise no es solo costo por GPU; es una disciplina operativa completa.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E4D2A-889D-474D-B569-0EA08D9D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447377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E2CE48-18FC-4925-AE5E-8C52E415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D7EB6-2D58-4882-8464-D360C417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C3E2E-3BAA-4993-BED6-239834C5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TRADEOFF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4DCE7-8C4F-423E-908F-F419FD16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decisión correcta no es cloud versus on-premise en abstracto. Es qué workload merece cada una.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1ED3C-A165-433E-9B6F-59F7FE85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110680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B566C-86F0-487F-9ADF-DA661C18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Comparación ejecutiva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EF2B4-8DAA-4AA5-8A95-6DA6D4F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Dimensión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4077-0414-4FB7-A3E9-CB4735EB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Cloud / proveedores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F08B1-66B6-4B24-852D-9FA82E39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Infraestructura controlada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97E04-5DB7-4E39-82CF-4E3FBEA9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019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5BA63-4ADF-4BEA-A948-E7202E8B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Elasticidad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E120F-4DFA-41D7-A6CB-AF5CFEEA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muy alta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72AF3-BE68-48A1-A12C-0C63ADF1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limitada por capacidad instalada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04E70-630A-4B22-8F27-38D51824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Acceso a modelos frontier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64EAE-3B5A-492D-9238-D077D51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inmediato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3F91F-E22B-4EDD-8BB7-AA5E64C2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limitado o inexistente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A2991-8D41-433B-A5C5-10ED6CD3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19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2F072-5F81-4317-BC38-88722789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Costo marginal bajo volumen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7BEC7-D641-4F69-9EEB-D3BF5629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mejor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654BE-13A3-46DE-9294-E9D9AC35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290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39CA3-2774-4160-834A-FA2412B7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Costo marginal alto volumen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71458-9E32-4F69-84D7-70837327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29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puede explotar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E39AC-455C-4153-AD8F-82C7AF04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291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puede mejorar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591C17-EEE7-47D9-86A0-ED502555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19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EF430-97EA-426B-9F32-D0FA5801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836C5-863E-4125-A00B-275C6134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85BB2-E488-427F-86D7-C6E51E81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291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compleja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B206C9-4D49-4740-B1FF-E95AA8F9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Control del dato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50A48-94A4-44E0-8184-21DCA924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292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menor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FDBB8-7A7C-4AB0-BF73-AAB9B3AE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29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mayor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BF1738-E954-4551-9A52-EFB94D14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19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0">
            <a:solidFill>
              <a:srgbClr val="FAF7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911309-3089-4C6C-82BC-39621C6F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Time-to-market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00BEE-9AF2-4C12-A1A7-9E07B6DF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mejor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ACB954-4700-43E3-B16F-4F61D4F6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4292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54E3FE-8B55-4E8F-AD93-73E0067C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68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940512-1C92-4B72-BF3D-A2F290D4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19825"/>
            <a:ext cx="1057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El retorno no es al pasado: es a una arquitectura más segmentada por costo, riesgo y calidad requerida.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0D0442-EB5C-4C4F-A297-42EB9E28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La unidad de decisión no es la empresa completa: es cada workload.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01CEA3-C486-482F-BB22-884D5866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35983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72AF7D-AA44-4071-A73E-072FAA73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CC20E-19C2-4359-880A-C7013830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EB4D9-AF9A-45C6-ABBF-D4591EE2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NUEVA FRONTERA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1CB17-0E5A-4EA3-BE52-EE497DF9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076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Cuando la inteligencia cabe en tu laptop, la nube deja de ser el destino obligatorio de cada prompt.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8316B-787D-45A5-BD90-DFEB651F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2971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13B45-7365-446C-A295-79C387C0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2438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DF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DF8"/>
                </a:solidFill>
                <a:latin typeface="Aptos Mono"/>
                <a:ea typeface="Aptos Mono"/>
                <a:cs typeface="Aptos Mono"/>
              </a:rPr>
              <a:t>ORQUESTADOR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18C46-1413-48A8-AC71-9EF49BE0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255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clasifica costo, riesgo y calidad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993B0-CEA0-4293-9B74-84863E8B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82420-5807-4719-8B63-6A8421C2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71800"/>
            <a:ext cx="7181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811FA-5835-45EB-813B-1179048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718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E9DAE-C466-40DE-89D6-6416DBF3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718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235ED-5AB0-4DFA-89A2-665DA8AD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A8193-A2FE-4F3A-ACA4-49ADE29C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CAPACIDAD 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B59D4-25B8-420A-958A-D67CCD1B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RTX Spark + modelos de pesos abiertos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E9B02-272C-4915-88CF-F7E7B508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62300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93D95-4363-4576-BDA2-2C4301F2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ESCALA A CLOUD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C60F6-CB37-4D50-8294-D5B10239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385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suscripción, APIs y frontier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41D15-ADC3-4136-846F-0D7C6BB1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3DE61-55EF-467A-9285-EA036C52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volumen frecuente y repetitivo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47590-578A-4FF3-B3A3-59AB5635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B1905-E17C-44DC-A877-E6535557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agentes persistentes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9E577-B1C1-4654-AB47-74C25D4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E6566-2172-422D-884E-C7F9C9EF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documentos privados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22E69-938B-4677-A4CD-5718E594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A86811-BEE8-4C0E-8338-3EAA379D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5777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tareas intensivas en iteraciones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C4B35D-C060-44B7-9492-37BDBC1B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61E11B-E136-4254-A004-6FB8423E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planificación compleja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B52AB3-45EE-42C9-9611-C1607475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3B9E43-B323-40E1-9CC4-5D65704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672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máxima calidad disponible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27D1B1-8BB6-41C9-9067-CA27EA2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29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017236-FA23-4EA2-B44A-7E6F2173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casos ambiguos o excepcionales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98F1D4-3D00-4064-84F1-880B8428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24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solidFill>
              <a:srgbClr val="C75C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634775-CC90-4171-AD47-F6057473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5777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picos de demanda y capacidades no locales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2E4BAD-E42A-450A-9452-EAA9575C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BC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43518E-2BF1-4F81-A8DC-5B2711A8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86250"/>
            <a:ext cx="2781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RTX SPARK | ANUNCIO 2026-05-31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62E7F9-B6E8-4A67-B680-1DAC78CE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72000"/>
            <a:ext cx="2781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Hasta 128 GB de memoria unificada</a:t>
            </a:r>
          </a:p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Hasta 1 petaflop FP4 de AI compute</a:t>
            </a:r>
          </a:p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LLMs de hasta 120B localmente</a:t>
            </a:r>
          </a:p>
          <a:p xmlns:a="http://schemas.openxmlformats.org/drawingml/2006/main">
            <a:pPr algn="ctr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Disponibilidad: otoño de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516FBE-BF80-4E4B-8122-B1C15152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1068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E8756C-A171-4E78-BB6E-A3AAA561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1061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El modelo local no necesita ser siempre mejor: necesita absorber el volumen y reservar la nube para donde su calidad adicional realmente importa.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2F0AAF-C2B0-4E49-84A8-1CCC4D7C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Fuente: NVIDIA Newsroom, 2026-05-31. Señal tecnológica; precio, rendimiento real y TCO aún deben validarse.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C92D09-BA01-4105-8D92-5B6A91C7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411907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5716C1-4C37-4F5C-B6F6-557EBF88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11364-E83B-45BE-91A4-FA5F8222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F9B58-D137-4806-A347-63759411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CONCLUSIÓN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11802-021D-43B5-891E-B4EE833F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respuesta madura no es volver completamente a on-premise. Es rediseñar la arquitectura para no pagar de más por inteligencia.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510BA-46CC-40FD-83CC-3F4E07F7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2956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06249-54CD-4CC2-BD18-DF295FFB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solidFill>
              <a:srgbClr val="E07A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8CD00-EFE6-4969-97C3-D9B848A5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FAD00-0B69-49AD-BABE-A8369428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La nube sigue ganando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EDF4D-68AB-430B-9251-3CAC4133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Para equipos pequeños, demanda variable, experimentación rápida y frontier models, cloud sigue siendo la mejor opción.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92B09-9D2A-4EB3-8AFD-EF6FAC0F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2956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1"/>
          </a:solidFill>
          <a:ln xmlns:a="http://schemas.openxmlformats.org/drawingml/2006/main" w="11430">
            <a:solidFill>
              <a:srgbClr val="DDD3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1F018-AE16-4E31-8D38-8B72881B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52783-D792-494E-A5C5-FD04FBFE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rPr>
              <a:t>COSTO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92E3F-BC58-4611-82C2-1D4C2E79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 que cambia con LLMs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8DCE6-36EF-4F2D-9BE3-F8F2F535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inferencia intensiva y sin gobierno puede convertir la inteligencia en un gasto recurrente muy difícil de justificar.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61592-96F2-4E46-8F85-B31C962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2956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3553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32E63-0269-4D2B-B462-BA5161E4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72259-6A89-45A2-A4D2-BC468F2E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DF8"/>
                </a:solidFill>
                <a:latin typeface="Aptos Mono"/>
                <a:ea typeface="Aptos Mono"/>
                <a:cs typeface="Aptos Mono"/>
              </a:rPr>
              <a:t>HÍBRIDO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26A85-80D7-4D86-8128-06D32EE3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La respuesta realista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C3D36-251D-4402-9273-B8EEB6F8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Segmentar workloads: cloud para unos casos, infraestructura controlada para otros, con disciplina económica y operativa.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D28556-2CA3-4C5E-88F8-ED7CC1E2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11068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BC8"/>
          </a:solidFill>
          <a:ln xmlns:a="http://schemas.openxmlformats.org/drawingml/2006/main" w="0">
            <a:solidFill>
              <a:srgbClr val="DDD3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EC3C3-1AB1-4BE2-8353-8CF0AD43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91225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Mi recomendación: antes de hablar de volver a on-premise, midan, segmenten y gobiernen el consumo de 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58BDC-82EB-4071-99AB-A11FF530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La arquitectura correcta empieza con FinOps, observabilidad y criterio por workload.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21C98-164F-4A5C-99BC-1291382F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58386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f99b59b22426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D78E4-4ED9-47A9-B4B0-52F6A069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21">
              <a:alpha val="80000"/>
            </a:srgbClr>
          </a:solidFill>
          <a:ln xmlns:a="http://schemas.openxmlformats.org/drawingml/2006/main" w="0">
            <a:solidFill>
              <a:srgbClr val="081321">
                <a:alpha val="8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ABDA7-CD68-4F7F-A744-BFDA97A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E575A-26F6-4B0B-8D35-367C0299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5334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Cloud is about how computing is done, not where.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A4B29-0CD9-414B-AA63-47FCF757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La conclusión no es nostalgia por el datacenter. La conclusión es que la arquitectura de IA vuelve a ser una decisión económica, no solo tecnológica.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37AA9-5C62-474E-91B1-BBFD34E6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C8B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C8B3"/>
                </a:solidFill>
                <a:latin typeface="Aptos"/>
                <a:ea typeface="Aptos"/>
                <a:cs typeface="Aptos"/>
              </a:rPr>
              <a:t>Paul Maritz, sobre cloud computing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9DACD-6854-453E-B0B7-D1782B3C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1047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Fuente: VMware Tanzu, 2018-04-29.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0B974-487D-4FC6-A186-F8BAE719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89146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2026-06-13T05:14:26.6650000Z</dcterms:created>
  <dcterms:modified xsi:type="dcterms:W3CDTF">2026-06-13T05:14:26.6650000Z</dcterms:modified>
</coreProperties>
</file>