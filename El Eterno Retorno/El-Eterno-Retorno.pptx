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b88f8bbd07f4bae" /><Relationship Type="http://schemas.openxmlformats.org/officeDocument/2006/relationships/extended-properties" Target="/docProps/app.xml" Id="R92bcc46fae3d4028" /><Relationship Type="http://schemas.openxmlformats.org/officeDocument/2006/relationships/officeDocument" Target="/ppt/presentation.xml" Id="R1d594f83639b428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8aa14443c214660"/>
  </p:sldMasterIdLst>
  <p:notesMasterIdLst>
    <p:notesMasterId xmlns:r="http://schemas.openxmlformats.org/officeDocument/2006/relationships" r:id="R1739b050b23f4ca7"/>
  </p:notesMasterIdLst>
  <p:sldIdLst>
    <p:sldId xmlns:r="http://schemas.openxmlformats.org/officeDocument/2006/relationships" id="256" r:id="R799bcf3d911d4f03"/>
    <p:sldId xmlns:r="http://schemas.openxmlformats.org/officeDocument/2006/relationships" id="257" r:id="R1a62dc4f6fb5459e"/>
    <p:sldId xmlns:r="http://schemas.openxmlformats.org/officeDocument/2006/relationships" id="258" r:id="R8c3d5631c95b4148"/>
    <p:sldId xmlns:r="http://schemas.openxmlformats.org/officeDocument/2006/relationships" id="259" r:id="Rb0a15ed87cc34233"/>
    <p:sldId xmlns:r="http://schemas.openxmlformats.org/officeDocument/2006/relationships" id="260" r:id="Rf937326cf2ca4c92"/>
    <p:sldId xmlns:r="http://schemas.openxmlformats.org/officeDocument/2006/relationships" id="261" r:id="R20df1cd6fef34f48"/>
    <p:sldId xmlns:r="http://schemas.openxmlformats.org/officeDocument/2006/relationships" id="262" r:id="Rb564721663e54edc"/>
    <p:sldId xmlns:r="http://schemas.openxmlformats.org/officeDocument/2006/relationships" id="263" r:id="Rb424520c057e49df"/>
    <p:sldId xmlns:r="http://schemas.openxmlformats.org/officeDocument/2006/relationships" id="264" r:id="R4f7b7e90936047b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717c5736ff34ab6" /><Relationship Type="http://schemas.openxmlformats.org/officeDocument/2006/relationships/slideMaster" Target="/ppt/slideMasters/slideMaster1.xml" Id="Re8aa14443c214660" /><Relationship Type="http://schemas.openxmlformats.org/officeDocument/2006/relationships/notesMaster" Target="/ppt/notesMasters/notesMaster1.xml" Id="R1739b050b23f4ca7" /><Relationship Type="http://schemas.openxmlformats.org/officeDocument/2006/relationships/presProps" Target="/ppt/presProps.xml" Id="R11cd359d48604ec1" /><Relationship Type="http://schemas.openxmlformats.org/officeDocument/2006/relationships/viewProps" Target="/ppt/viewProps.xml" Id="R7b3eb351201e4f12" /><Relationship Type="http://schemas.openxmlformats.org/officeDocument/2006/relationships/tableStyles" Target="/ppt/tableStyles.xml" Id="Ref8c6d4e207d457e" /><Relationship Type="http://schemas.openxmlformats.org/officeDocument/2006/relationships/slide" Target="/ppt/slides/slide1.xml" Id="R799bcf3d911d4f03" /><Relationship Type="http://schemas.openxmlformats.org/officeDocument/2006/relationships/slide" Target="/ppt/slides/slide2.xml" Id="R1a62dc4f6fb5459e" /><Relationship Type="http://schemas.openxmlformats.org/officeDocument/2006/relationships/slide" Target="/ppt/slides/slide3.xml" Id="R8c3d5631c95b4148" /><Relationship Type="http://schemas.openxmlformats.org/officeDocument/2006/relationships/slide" Target="/ppt/slides/slide4.xml" Id="Rb0a15ed87cc34233" /><Relationship Type="http://schemas.openxmlformats.org/officeDocument/2006/relationships/slide" Target="/ppt/slides/slide5.xml" Id="Rf937326cf2ca4c92" /><Relationship Type="http://schemas.openxmlformats.org/officeDocument/2006/relationships/slide" Target="/ppt/slides/slide6.xml" Id="R20df1cd6fef34f48" /><Relationship Type="http://schemas.openxmlformats.org/officeDocument/2006/relationships/slide" Target="/ppt/slides/slide7.xml" Id="Rb564721663e54edc" /><Relationship Type="http://schemas.openxmlformats.org/officeDocument/2006/relationships/slide" Target="/ppt/slides/slide8.xml" Id="Rb424520c057e49df" /><Relationship Type="http://schemas.openxmlformats.org/officeDocument/2006/relationships/slide" Target="/ppt/slides/slide9.xml" Id="R4f7b7e90936047b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e85197b4ff6472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980514c3e8d4a93" /><Relationship Type="http://schemas.openxmlformats.org/officeDocument/2006/relationships/notesMaster" Target="/ppt/notesMasters/notesMaster1.xml" Id="Rd320d683138b4f2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80fa5832f964a38" /><Relationship Type="http://schemas.openxmlformats.org/officeDocument/2006/relationships/notesMaster" Target="/ppt/notesMasters/notesMaster1.xml" Id="R1d16b2943ed24f0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bcb8d8c55f44ab7" /><Relationship Type="http://schemas.openxmlformats.org/officeDocument/2006/relationships/notesMaster" Target="/ppt/notesMasters/notesMaster1.xml" Id="Rd0688756f60e40e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b39ff3c5f6142a1" /><Relationship Type="http://schemas.openxmlformats.org/officeDocument/2006/relationships/notesMaster" Target="/ppt/notesMasters/notesMaster1.xml" Id="R3f468fd7ef084be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9a241d37dd74c55" /><Relationship Type="http://schemas.openxmlformats.org/officeDocument/2006/relationships/notesMaster" Target="/ppt/notesMasters/notesMaster1.xml" Id="Ra70e05aa6d1d492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2688a5ef83348e1" /><Relationship Type="http://schemas.openxmlformats.org/officeDocument/2006/relationships/notesMaster" Target="/ppt/notesMasters/notesMaster1.xml" Id="R23c186eb366f487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a9520d0189c4beb" /><Relationship Type="http://schemas.openxmlformats.org/officeDocument/2006/relationships/notesMaster" Target="/ppt/notesMasters/notesMaster1.xml" Id="R667c01fe7fc845a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554d5b0533c4d38" /><Relationship Type="http://schemas.openxmlformats.org/officeDocument/2006/relationships/notesMaster" Target="/ppt/notesMasters/notesMaster1.xml" Id="R2c337b7399ac400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686b7d07d884939" /><Relationship Type="http://schemas.openxmlformats.org/officeDocument/2006/relationships/notesMaster" Target="/ppt/notesMasters/notesMaster1.xml" Id="R6dd2f374d782445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e588bdd9ae44b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c567d7371c54e3c" /><Relationship Type="http://schemas.openxmlformats.org/officeDocument/2006/relationships/slideLayout" Target="/ppt/slideLayouts/slideLayout1.xml" Id="R8ca3e369624a4f0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ca3e369624a4f0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4f916f7ca34df9" /><Relationship Type="http://schemas.openxmlformats.org/officeDocument/2006/relationships/notesSlide" Target="/ppt/notesSlides/notesSlide1.xml" Id="Rbecbe2290baa4b0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4c3c082b4a4b76" /><Relationship Type="http://schemas.openxmlformats.org/officeDocument/2006/relationships/notesSlide" Target="/ppt/notesSlides/notesSlide2.xml" Id="Ra6d966e03e17470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d987bc18664275" /><Relationship Type="http://schemas.openxmlformats.org/officeDocument/2006/relationships/notesSlide" Target="/ppt/notesSlides/notesSlide3.xml" Id="R920fd65439334d6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02e94722b441c4" /><Relationship Type="http://schemas.openxmlformats.org/officeDocument/2006/relationships/notesSlide" Target="/ppt/notesSlides/notesSlide4.xml" Id="R0996f8c6c170445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e995f9cfd845f7" /><Relationship Type="http://schemas.openxmlformats.org/officeDocument/2006/relationships/notesSlide" Target="/ppt/notesSlides/notesSlide5.xml" Id="Rfb0e44c50387438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c3a09968ad4a95" /><Relationship Type="http://schemas.openxmlformats.org/officeDocument/2006/relationships/notesSlide" Target="/ppt/notesSlides/notesSlide6.xml" Id="R6ae0cabc46164b5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17f26079a34a2b" /><Relationship Type="http://schemas.openxmlformats.org/officeDocument/2006/relationships/notesSlide" Target="/ppt/notesSlides/notesSlide7.xml" Id="Rb451d12dae4e487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2f74b4f8854520" /><Relationship Type="http://schemas.openxmlformats.org/officeDocument/2006/relationships/notesSlide" Target="/ppt/notesSlides/notesSlide8.xml" Id="R0bcd4dac4f21436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3830aafd1740e9" /><Relationship Type="http://schemas.openxmlformats.org/officeDocument/2006/relationships/image" Target="/ppt/media/image.png" Id="R6df72b58b30249b5" /><Relationship Type="http://schemas.openxmlformats.org/officeDocument/2006/relationships/notesSlide" Target="/ppt/notesSlides/notesSlide9.xml" Id="Rd5380219da49403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6242897-9DC4-4F82-BF9F-A51D00E0C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9691E5-A3ED-4895-8342-CD900AE99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17145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F"/>
          </a:solidFill>
          <a:ln xmlns:a="http://schemas.openxmlformats.org/drawingml/2006/main" w="0">
            <a:solidFill>
              <a:srgbClr val="E07A3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F7AF21-59E7-4251-9B47-7EF3A6FF5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3C8B3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F3C8B3"/>
                </a:solidFill>
                <a:latin typeface="Aptos Mono"/>
                <a:ea typeface="Aptos Mono"/>
                <a:cs typeface="Aptos Mono"/>
              </a:rPr>
              <a:t>CHARLA PARA IA E INFRAESTRUCTURA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6D539A-F7FA-480E-9EBA-7DAF67AC9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200150"/>
            <a:ext cx="64770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FFFDF8"/>
                </a:solidFill>
                <a:latin typeface="Aptos Display"/>
                <a:ea typeface="Aptos Display"/>
                <a:cs typeface="Aptos Display"/>
              </a:defRPr>
            </a:pPr>
            <a:r>
              <a:rPr sz="3750" b="1">
                <a:solidFill>
                  <a:srgbClr val="FFFDF8"/>
                </a:solidFill>
                <a:latin typeface="Aptos Display"/>
                <a:ea typeface="Aptos Display"/>
                <a:cs typeface="Aptos Display"/>
              </a:rPr>
              <a:t>El eterno retorno:</a:t>
            </a:r>
          </a:p>
          <a:p xmlns:a="http://schemas.openxmlformats.org/drawingml/2006/main">
            <a:pPr algn="l">
              <a:defRPr sz="3750" b="1">
                <a:solidFill>
                  <a:srgbClr val="FFFDF8"/>
                </a:solidFill>
                <a:latin typeface="Aptos Display"/>
                <a:ea typeface="Aptos Display"/>
                <a:cs typeface="Aptos Display"/>
              </a:defRPr>
            </a:pPr>
            <a:r>
              <a:rPr sz="3750" b="1">
                <a:solidFill>
                  <a:srgbClr val="FFFDF8"/>
                </a:solidFill>
                <a:latin typeface="Aptos Display"/>
                <a:ea typeface="Aptos Display"/>
                <a:cs typeface="Aptos Display"/>
              </a:rPr>
              <a:t>¿volveremos a</a:t>
            </a:r>
          </a:p>
          <a:p xmlns:a="http://schemas.openxmlformats.org/drawingml/2006/main">
            <a:pPr algn="l">
              <a:defRPr sz="3750" b="1">
                <a:solidFill>
                  <a:srgbClr val="FFFDF8"/>
                </a:solidFill>
                <a:latin typeface="Aptos Display"/>
                <a:ea typeface="Aptos Display"/>
                <a:cs typeface="Aptos Display"/>
              </a:defRPr>
            </a:pPr>
            <a:r>
              <a:rPr sz="3750" b="1">
                <a:solidFill>
                  <a:srgbClr val="FFFDF8"/>
                </a:solidFill>
                <a:latin typeface="Aptos Display"/>
                <a:ea typeface="Aptos Display"/>
                <a:cs typeface="Aptos Display"/>
              </a:rPr>
              <a:t>on-premise?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E4796A-6531-45B3-8B56-ECEBED0D5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5905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9E2E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D9E2EC"/>
                </a:solidFill>
                <a:latin typeface="Aptos"/>
                <a:ea typeface="Aptos"/>
                <a:cs typeface="Aptos"/>
              </a:rPr>
              <a:t>Los LLMs estan reabriendo una pregunta que la nube parecia haber cerrado: donde conviene correr la inteligencia cuando el costo por token se dispara.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7F8AD2-6475-4B09-8848-F8CC53512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876300"/>
            <a:ext cx="4191000" cy="495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324F"/>
          </a:solidFill>
          <a:ln xmlns:a="http://schemas.openxmlformats.org/drawingml/2006/main" w="11430">
            <a:solidFill>
              <a:srgbClr val="35536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A74BC5-B05A-4D92-9AEA-7CBEB607B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200150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3C8B3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F3C8B3"/>
                </a:solidFill>
                <a:latin typeface="Aptos Mono"/>
                <a:ea typeface="Aptos Mono"/>
                <a:cs typeface="Aptos Mono"/>
              </a:rPr>
              <a:t>GANCHO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7B94A9-CF49-453F-8165-68770AB74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619250"/>
            <a:ext cx="33337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DF8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FFDF8"/>
                </a:solidFill>
                <a:latin typeface="Aptos Display"/>
                <a:ea typeface="Aptos Display"/>
                <a:cs typeface="Aptos Display"/>
              </a:rPr>
              <a:t>No porque la nube haya fallado, sino porque la economia de los LLMs esta obligando a revisar la arquitectura.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E1571A-D140-460B-AE0E-F2C98C8F3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543300"/>
            <a:ext cx="114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FDF8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FFDF8"/>
                </a:solidFill>
                <a:latin typeface="Aptos Display"/>
                <a:ea typeface="Aptos Display"/>
                <a:cs typeface="Aptos Display"/>
              </a:rPr>
              <a:t>10+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8E491B-1035-4DE5-965B-C4C1EE9CD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867150"/>
            <a:ext cx="1809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D9E2EC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D9E2EC"/>
                </a:solidFill>
                <a:latin typeface="Aptos Mono"/>
                <a:ea typeface="Aptos Mono"/>
                <a:cs typeface="Aptos Mono"/>
              </a:rPr>
              <a:t>anos de hegemonia cloud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25898E-DF0A-4641-9B03-F31AEFCE0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543300"/>
            <a:ext cx="114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FDF8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FFDF8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41D989-796E-4099-AF4F-B12847DED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867150"/>
            <a:ext cx="1809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D9E2EC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D9E2EC"/>
                </a:solidFill>
                <a:latin typeface="Aptos Mono"/>
                <a:ea typeface="Aptos Mono"/>
                <a:cs typeface="Aptos Mono"/>
              </a:rPr>
              <a:t>fuerzas en tension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5555BB-7995-439F-828F-1B19FE2F8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3543300"/>
            <a:ext cx="1143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FDF8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FFFDF8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5C1067-BD50-4E7A-A723-254C189BF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3867150"/>
            <a:ext cx="1809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D9E2EC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D9E2EC"/>
                </a:solidFill>
                <a:latin typeface="Aptos Mono"/>
                <a:ea typeface="Aptos Mono"/>
                <a:cs typeface="Aptos Mono"/>
              </a:rPr>
              <a:t>pregunta central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0F0EB8-AF68-498B-8CFE-BB977B3AE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324350"/>
            <a:ext cx="800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F"/>
          </a:solidFill>
          <a:ln xmlns:a="http://schemas.openxmlformats.org/drawingml/2006/main" w="0">
            <a:solidFill>
              <a:srgbClr val="E07A3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E314F5-4CA7-4111-A7C1-9A58F1DDD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391025"/>
            <a:ext cx="609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02A43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02A43"/>
                </a:solidFill>
                <a:latin typeface="Aptos Mono"/>
                <a:ea typeface="Aptos Mono"/>
                <a:cs typeface="Aptos Mono"/>
              </a:rPr>
              <a:t>COSTO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0FE2E7-84E8-425D-A414-3F9440B6C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362450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9E2E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9E2EC"/>
                </a:solidFill>
                <a:latin typeface="Aptos"/>
                <a:ea typeface="Aptos"/>
                <a:cs typeface="Aptos"/>
              </a:rPr>
              <a:t>tokens e inferencia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5625A6-A3A5-4931-98CA-07D28ABCC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724400"/>
            <a:ext cx="800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F"/>
          </a:solidFill>
          <a:ln xmlns:a="http://schemas.openxmlformats.org/drawingml/2006/main" w="0">
            <a:solidFill>
              <a:srgbClr val="E07A3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77696A-FE9D-47C6-9B20-BAB10C6FA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791075"/>
            <a:ext cx="609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02A43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02A43"/>
                </a:solidFill>
                <a:latin typeface="Aptos Mono"/>
                <a:ea typeface="Aptos Mono"/>
                <a:cs typeface="Aptos Mono"/>
              </a:rPr>
              <a:t>CONTROL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24AD39-D9F1-4371-A2D0-253DB8178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762500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9E2E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9E2EC"/>
                </a:solidFill>
                <a:latin typeface="Aptos"/>
                <a:ea typeface="Aptos"/>
                <a:cs typeface="Aptos"/>
              </a:rPr>
              <a:t>dato y cumplimiento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ADDC54-0A2B-41B3-A1FF-78C764236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5124450"/>
            <a:ext cx="800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F"/>
          </a:solidFill>
          <a:ln xmlns:a="http://schemas.openxmlformats.org/drawingml/2006/main" w="0">
            <a:solidFill>
              <a:srgbClr val="E07A3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8E6D87-41BD-470C-B2A9-6AAEA856B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191125"/>
            <a:ext cx="609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02A43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02A43"/>
                </a:solidFill>
                <a:latin typeface="Aptos Mono"/>
                <a:ea typeface="Aptos Mono"/>
                <a:cs typeface="Aptos Mono"/>
              </a:rPr>
              <a:t>CALIDAD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28DBE7-B8FB-4DD8-B256-D685046DD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5162550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9E2E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9E2EC"/>
                </a:solidFill>
                <a:latin typeface="Aptos"/>
                <a:ea typeface="Aptos"/>
                <a:cs typeface="Aptos"/>
              </a:rPr>
              <a:t>frontier vs open source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7A59B02-9A6D-4D10-84E3-2BAB0FDF8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5524500"/>
            <a:ext cx="800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F"/>
          </a:solidFill>
          <a:ln xmlns:a="http://schemas.openxmlformats.org/drawingml/2006/main" w="0">
            <a:solidFill>
              <a:srgbClr val="E07A3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A76B028-1913-4D42-B347-89B4CE8AC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591175"/>
            <a:ext cx="609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02A43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02A43"/>
                </a:solidFill>
                <a:latin typeface="Aptos Mono"/>
                <a:ea typeface="Aptos Mono"/>
                <a:cs typeface="Aptos Mono"/>
              </a:rPr>
              <a:t>ESCALA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40AE79-72FE-46F1-A808-4A07495B5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5562600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9E2E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9E2EC"/>
                </a:solidFill>
                <a:latin typeface="Aptos"/>
                <a:ea typeface="Aptos"/>
                <a:cs typeface="Aptos"/>
              </a:rPr>
              <a:t>usuarios y concurrencia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CB3309B-6035-43B1-9F70-603D948F8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10477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Hook central: los LLMs reabren la pregunta de donde conviene correr la inteligencia.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4C56369-8345-4236-BB38-B4DF5A073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96050"/>
            <a:ext cx="38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C75C2A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C75C2A"/>
                </a:solidFill>
                <a:latin typeface="Aptos Mono"/>
                <a:ea typeface="Aptos Mono"/>
                <a:cs typeface="Aptos Mono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553231078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78002B8-1424-4613-BF3A-0DD45D36A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0E8"/>
          </a:solidFill>
          <a:ln xmlns:a="http://schemas.openxmlformats.org/drawingml/2006/main" w="0">
            <a:solidFill>
              <a:srgbClr val="F4F0E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AFB73E-A42C-4801-90A9-BBE574E90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1809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5C2A"/>
          </a:solidFill>
          <a:ln xmlns:a="http://schemas.openxmlformats.org/drawingml/2006/main" w="0">
            <a:solidFill>
              <a:srgbClr val="C75C2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D8CF90-1687-47A6-A283-98479B712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5C2A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C75C2A"/>
                </a:solidFill>
                <a:latin typeface="Aptos Mono"/>
                <a:ea typeface="Aptos Mono"/>
                <a:cs typeface="Aptos Mono"/>
              </a:rPr>
              <a:t>CONTEXT0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4F179E-1112-4FC7-9353-8DC7087F7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95350"/>
            <a:ext cx="87630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La nube gano porque resolvia problemas reales que el datacenter propio hacia mas caros y lentos.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81B516-DFE3-4A4A-B110-15F6CE35B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38350"/>
            <a:ext cx="33909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DD3C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3CF7B2-3620-48BD-8A42-C3E392BD0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66950"/>
            <a:ext cx="1333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Hace 10 anos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0194DB-DAAA-4B39-8DEE-4EB75BC9C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003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F"/>
          </a:solidFill>
          <a:ln xmlns:a="http://schemas.openxmlformats.org/drawingml/2006/main" w="0">
            <a:solidFill>
              <a:srgbClr val="E07A3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E75960-BC06-4ED2-AF5F-0EC95D72E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724150"/>
            <a:ext cx="2724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Compra y renovacion de hardware.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8B26ED-84AB-468D-9793-07B5F2BA2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242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F"/>
          </a:solidFill>
          <a:ln xmlns:a="http://schemas.openxmlformats.org/drawingml/2006/main" w="0">
            <a:solidFill>
              <a:srgbClr val="E07A3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9E608C-3A5C-4DF6-B2D0-01F7237F2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048000"/>
            <a:ext cx="2724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Mantenimiento de servidores y capacidad.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6A416F-308C-4A6D-A855-06A513EA5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480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F"/>
          </a:solidFill>
          <a:ln xmlns:a="http://schemas.openxmlformats.org/drawingml/2006/main" w="0">
            <a:solidFill>
              <a:srgbClr val="E07A3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B776A6-D8D2-4620-8F34-7EFBD7ED7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371850"/>
            <a:ext cx="2724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Equipos especializados para operar datacenter.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5DEB9A-CE19-450E-B30C-318C388C8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719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F"/>
          </a:solidFill>
          <a:ln xmlns:a="http://schemas.openxmlformats.org/drawingml/2006/main" w="0">
            <a:solidFill>
              <a:srgbClr val="E07A3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D4E77D-CB70-4F88-800F-970E84C82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695700"/>
            <a:ext cx="2724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Escalabilidad mas lenta y disponibilidad mas costosa.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1D7F8D-8E50-4D92-A7CC-BA01F5BFF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038350"/>
            <a:ext cx="33909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DD3C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268CF9-953D-49D8-93DD-C68E12502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2669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La promesa cloud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51D5A4-A7B7-4684-A393-D54ED3A55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8003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A4F"/>
          </a:solidFill>
          <a:ln xmlns:a="http://schemas.openxmlformats.org/drawingml/2006/main" w="0">
            <a:solidFill>
              <a:srgbClr val="2D6A4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26C314-39EE-4984-A3A9-9345DD676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724150"/>
            <a:ext cx="2724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Elasticidad y provisioning rapido.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1C670DE-5722-4DCD-B40E-79ACF1E85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1242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A4F"/>
          </a:solidFill>
          <a:ln xmlns:a="http://schemas.openxmlformats.org/drawingml/2006/main" w="0">
            <a:solidFill>
              <a:srgbClr val="2D6A4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FCC5A6-D4A6-4E37-83C4-16E2DD5C2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048000"/>
            <a:ext cx="2724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Menos friccion operativa.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0D92C1-9889-4C90-BC0D-F01407FC1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4480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A4F"/>
          </a:solidFill>
          <a:ln xmlns:a="http://schemas.openxmlformats.org/drawingml/2006/main" w="0">
            <a:solidFill>
              <a:srgbClr val="2D6A4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0AE352-8833-434D-9E20-CDB4C9070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371850"/>
            <a:ext cx="2724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Servicios administrados y mejor time-to-market.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6206334-C91E-41CB-B167-96BE3AC12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7719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A4F"/>
          </a:solidFill>
          <a:ln xmlns:a="http://schemas.openxmlformats.org/drawingml/2006/main" w="0">
            <a:solidFill>
              <a:srgbClr val="2D6A4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EE07B55-1A24-47D3-9E4C-382F76137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695700"/>
            <a:ext cx="2724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Costo mas facil de aprobar frente a capex tradicional.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43A514E-8166-4A7C-8FC5-466BC8BFA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038350"/>
            <a:ext cx="367665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7F1"/>
          </a:solidFill>
          <a:ln xmlns:a="http://schemas.openxmlformats.org/drawingml/2006/main" w="11430">
            <a:solidFill>
              <a:srgbClr val="DDD3C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191C275-87DD-4AC2-8C54-01F3404FD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266950"/>
            <a:ext cx="152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Lo importante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C3B3053-5B28-4F46-85CE-99B020B42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24150"/>
            <a:ext cx="295275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F172A"/>
                </a:solidFill>
                <a:latin typeface="Aptos"/>
                <a:ea typeface="Aptos"/>
                <a:cs typeface="Aptos"/>
              </a:rPr>
              <a:t>La nube no se impuso por moda.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F172A"/>
                </a:solidFill>
                <a:latin typeface="Aptos"/>
                <a:ea typeface="Aptos"/>
                <a:cs typeface="Aptos"/>
              </a:rPr>
              <a:t>Se impuso porque para muchisimos workloads era mejor en disponibilidad, velocidad y economia operativa.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F172A"/>
                </a:solidFill>
                <a:latin typeface="Aptos"/>
                <a:ea typeface="Aptos"/>
                <a:cs typeface="Aptos"/>
              </a:rPr>
              <a:t>La charla no discute eso. Discute si los LLMs cambian la ecuacion para un subconjunto de casos.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D1503BA-64C8-4C4B-B082-9F30008FD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10477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Punto de partida: el cloud shift fue racional y sigue siendolo para gran parte del software.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7DF24D4-1CF3-4912-8574-D2D93F3CC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96050"/>
            <a:ext cx="38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C75C2A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C75C2A"/>
                </a:solidFill>
                <a:latin typeface="Aptos Mono"/>
                <a:ea typeface="Aptos Mono"/>
                <a:cs typeface="Aptos Mono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91416472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E59BF12-B185-4A2B-9AE9-65DB120B0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0E8"/>
          </a:solidFill>
          <a:ln xmlns:a="http://schemas.openxmlformats.org/drawingml/2006/main" w="0">
            <a:solidFill>
              <a:srgbClr val="F4F0E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B74879-4BF3-4495-83C7-A2DA489DA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1809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5C2A"/>
          </a:solidFill>
          <a:ln xmlns:a="http://schemas.openxmlformats.org/drawingml/2006/main" w="0">
            <a:solidFill>
              <a:srgbClr val="C75C2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298298-AD2D-43D2-8169-B19A6A67E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5C2A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C75C2A"/>
                </a:solidFill>
                <a:latin typeface="Aptos Mono"/>
                <a:ea typeface="Aptos Mono"/>
                <a:cs typeface="Aptos Mono"/>
              </a:rPr>
              <a:t>EL CAMBIO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2C602F-39B2-48A7-94B8-6F065C58C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95350"/>
            <a:ext cx="87630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Los LLMs introducen un gasto distinto: recurrente, probabilistico y facil de inflar sin darse cuenta.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8591F7-C26F-4975-907D-109BBC034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57400"/>
            <a:ext cx="1106805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DD3C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824FB0-2A17-4F80-A95B-01F117141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86000"/>
            <a:ext cx="4095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Precios de referencia oficiales por 1M tokens al 2026-06-02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CC53C9-FC58-4C5B-BD70-8B4CFFC50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24150"/>
            <a:ext cx="1905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75569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475569"/>
                </a:solidFill>
                <a:latin typeface="Aptos Mono"/>
                <a:ea typeface="Aptos Mono"/>
                <a:cs typeface="Aptos Mono"/>
              </a:rPr>
              <a:t>Modelo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632227-DAE7-430F-8574-FEB9E2F92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7241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75569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475569"/>
                </a:solidFill>
                <a:latin typeface="Aptos Mono"/>
                <a:ea typeface="Aptos Mono"/>
                <a:cs typeface="Aptos Mono"/>
              </a:rPr>
              <a:t>Input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0C6ACA-D5BB-45A9-83ED-3C507F1BD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7241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75569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475569"/>
                </a:solidFill>
                <a:latin typeface="Aptos Mono"/>
                <a:ea typeface="Aptos Mono"/>
                <a:cs typeface="Aptos Mono"/>
              </a:rPr>
              <a:t>Output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FE552D-8D62-495F-AAE4-27CBFEC12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24150"/>
            <a:ext cx="4286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75569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475569"/>
                </a:solidFill>
                <a:latin typeface="Aptos Mono"/>
                <a:ea typeface="Aptos Mono"/>
                <a:cs typeface="Aptos Mono"/>
              </a:rPr>
              <a:t>Lectura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4832EC-772B-49EE-A8AB-5B3077B68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48000"/>
            <a:ext cx="10191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7F1"/>
          </a:solidFill>
          <a:ln xmlns:a="http://schemas.openxmlformats.org/drawingml/2006/main" w="0">
            <a:solidFill>
              <a:srgbClr val="FAF7F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3895DA-49CA-4B80-B4F7-AD58E02F1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05150"/>
            <a:ext cx="1905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GPT-5.5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ABC8DE-F24A-4AE5-A2D8-1A23045C1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1051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D6A4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D6A4F"/>
                </a:solidFill>
                <a:latin typeface="Aptos"/>
                <a:ea typeface="Aptos"/>
                <a:cs typeface="Aptos"/>
              </a:rPr>
              <a:t>$5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A71928-E29A-4432-BEA4-B7DB023B2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1051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B42318"/>
                </a:solidFill>
                <a:latin typeface="Aptos"/>
                <a:ea typeface="Aptos"/>
                <a:cs typeface="Aptos"/>
              </a:rPr>
              <a:t>$30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589FE7-48D0-4F10-A5D6-1A119B9DF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105150"/>
            <a:ext cx="4286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frontier caro, sobre todo por output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6CCDFA-60F8-4A2D-82D1-EA6F04D10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05200"/>
            <a:ext cx="1905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GPT-5.4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2B5BD9-C037-4028-9E03-AE849CF05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50520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D6A4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D6A4F"/>
                </a:solidFill>
                <a:latin typeface="Aptos"/>
                <a:ea typeface="Aptos"/>
                <a:cs typeface="Aptos"/>
              </a:rPr>
              <a:t>$2.5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3EBC73-70AC-45CD-A0F5-291BBEC21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50520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B42318"/>
                </a:solidFill>
                <a:latin typeface="Aptos"/>
                <a:ea typeface="Aptos"/>
                <a:cs typeface="Aptos"/>
              </a:rPr>
              <a:t>$15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7BBD21-1E3A-4651-A37D-92163D00B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505200"/>
            <a:ext cx="4286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mas barato, pero sigue siendo premium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D4B820-DA59-48B3-82EE-84638313A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48100"/>
            <a:ext cx="10191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7F1"/>
          </a:solidFill>
          <a:ln xmlns:a="http://schemas.openxmlformats.org/drawingml/2006/main" w="0">
            <a:solidFill>
              <a:srgbClr val="FAF7F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585A89-282C-410F-A229-02196FCF6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05250"/>
            <a:ext cx="1905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Claude Opus 4.8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5C761A2-D55F-4642-8CEC-778AE3F52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39052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D6A4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D6A4F"/>
                </a:solidFill>
                <a:latin typeface="Aptos"/>
                <a:ea typeface="Aptos"/>
                <a:cs typeface="Aptos"/>
              </a:rPr>
              <a:t>$5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5564D8-4BA9-45B9-AA3B-E3C9A3E42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9052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B42318"/>
                </a:solidFill>
                <a:latin typeface="Aptos"/>
                <a:ea typeface="Aptos"/>
                <a:cs typeface="Aptos"/>
              </a:rPr>
              <a:t>$25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5D0CE60-BCC7-453B-A792-3F8DCC52A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05250"/>
            <a:ext cx="4286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muy competitivo en calidad, pero no barato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0632914-22CB-490C-9926-E55AA6086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05300"/>
            <a:ext cx="1905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Claude Sonnet 4.6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0D82E72-173D-4A80-8D38-D69FE59B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30530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D6A4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D6A4F"/>
                </a:solidFill>
                <a:latin typeface="Aptos"/>
                <a:ea typeface="Aptos"/>
                <a:cs typeface="Aptos"/>
              </a:rPr>
              <a:t>$3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B0B65EC-E936-4D04-9FF5-F48B8AF13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30530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B42318"/>
                </a:solidFill>
                <a:latin typeface="Aptos"/>
                <a:ea typeface="Aptos"/>
                <a:cs typeface="Aptos"/>
              </a:rPr>
              <a:t>$15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AE8AC7B-5EE9-496A-BD6B-70F1384A8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305300"/>
            <a:ext cx="4286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ruta intermedia mas razonable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5A13194-F3C1-4191-8AE2-58E514CCF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48200"/>
            <a:ext cx="10191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7F1"/>
          </a:solidFill>
          <a:ln xmlns:a="http://schemas.openxmlformats.org/drawingml/2006/main" w="0">
            <a:solidFill>
              <a:srgbClr val="FAF7F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65030C9-B24F-428C-A519-F6CD957E6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05350"/>
            <a:ext cx="1905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Claude Haiku 4.5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8150460-C005-4EC4-B9FB-DC464C7D4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7053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D6A4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D6A4F"/>
                </a:solidFill>
                <a:latin typeface="Aptos"/>
                <a:ea typeface="Aptos"/>
                <a:cs typeface="Aptos"/>
              </a:rPr>
              <a:t>$1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D79E99F-0E06-47FB-B0BA-79D7EC1D7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7053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B42318"/>
                </a:solidFill>
                <a:latin typeface="Aptos"/>
                <a:ea typeface="Aptos"/>
                <a:cs typeface="Aptos"/>
              </a:rPr>
              <a:t>$5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874A14E-07FE-4A3E-A0D1-8441A7D86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705350"/>
            <a:ext cx="4286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mucho mas economico para tareas ligeras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7D60689-FB02-4525-821D-2DF74EEC3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43500"/>
            <a:ext cx="2190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$150-$250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711E9FE-5C0E-46E3-9E39-0A6361DA5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67350"/>
            <a:ext cx="2190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75569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475569"/>
                </a:solidFill>
                <a:latin typeface="Aptos Mono"/>
                <a:ea typeface="Aptos Mono"/>
                <a:cs typeface="Aptos Mono"/>
              </a:rPr>
              <a:t>Claude Code enterprise por dev/mes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268AF0C-B49D-4835-9EA3-9DAA45F61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143500"/>
            <a:ext cx="2476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3987437-03C1-4D28-BFA5-0AEF5B6DD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46735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75569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475569"/>
                </a:solidFill>
                <a:latin typeface="Aptos Mono"/>
                <a:ea typeface="Aptos Mono"/>
                <a:cs typeface="Aptos Mono"/>
              </a:rPr>
              <a:t>palancas del costo: volumen y modelo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491C753-0F02-486C-86B2-4EF5E6767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1435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AABBE36-D2BE-4393-8C9A-0011FBE74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467350"/>
            <a:ext cx="2095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75569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475569"/>
                </a:solidFill>
                <a:latin typeface="Aptos Mono"/>
                <a:ea typeface="Aptos Mono"/>
                <a:cs typeface="Aptos Mono"/>
              </a:rPr>
              <a:t>riesgo: uso sin disciplina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44FB5B6-ECE2-4FFB-940E-71B62300A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10477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Fuentes: OpenAI pricing, Anthropic pricing y Claude Code costs.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F680144-BA04-4D8F-9D1D-EEDBBE42F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96050"/>
            <a:ext cx="38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C75C2A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C75C2A"/>
                </a:solidFill>
                <a:latin typeface="Aptos Mono"/>
                <a:ea typeface="Aptos Mono"/>
                <a:cs typeface="Aptos Mono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24279761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340837A-DC47-4B63-84FC-1074FE93D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0E8"/>
          </a:solidFill>
          <a:ln xmlns:a="http://schemas.openxmlformats.org/drawingml/2006/main" w="0">
            <a:solidFill>
              <a:srgbClr val="F4F0E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C84FF2-831A-4906-B03A-CC256F033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1809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7BB1EA-B0EB-4647-8123-C148DB93F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42318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B42318"/>
                </a:solidFill>
                <a:latin typeface="Aptos Mono"/>
                <a:ea typeface="Aptos Mono"/>
                <a:cs typeface="Aptos Mono"/>
              </a:rPr>
              <a:t>MERCADO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46B515-2CF1-4223-9E09-FDEFB0A7E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95350"/>
            <a:ext cx="87630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La preocupacion por costos ya no es teorica: hay casos documentados de presupuestos agotados, licencias recortadas y uso gamificado.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42ECF5-B049-4B84-A695-A5BD9406D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71700"/>
            <a:ext cx="53340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DD3C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DA21AE-D713-49F1-B661-6E1FE5703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6220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Uber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6AB1AD-CB67-417F-8612-94FD7EBEA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86050"/>
            <a:ext cx="3048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75569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475569"/>
                </a:solidFill>
                <a:latin typeface="Aptos Mono"/>
                <a:ea typeface="Aptos Mono"/>
                <a:cs typeface="Aptos Mono"/>
              </a:rPr>
              <a:t>Fortune, 2026-05-26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3462A4-F315-41CE-8889-D45A6A17E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90850"/>
            <a:ext cx="4762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Habia consumido su presupuesto anual de IA en cuatro meses y el gasto se volvia mas dificil de justificar.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5C6984-C78E-4C6F-98BB-BCA1834D8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71700"/>
            <a:ext cx="53340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F5"/>
          </a:solidFill>
          <a:ln xmlns:a="http://schemas.openxmlformats.org/drawingml/2006/main" w="11430">
            <a:solidFill>
              <a:srgbClr val="F2C2B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ED5100-4AFD-49F9-BC9D-333965137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6220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B42318"/>
                </a:solidFill>
                <a:latin typeface="Aptos"/>
                <a:ea typeface="Aptos"/>
                <a:cs typeface="Aptos"/>
              </a:rPr>
              <a:t>Cliente citado por Axios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1DD5A9-6384-4A4B-9A30-3A6DF2E24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86050"/>
            <a:ext cx="3048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75569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475569"/>
                </a:solidFill>
                <a:latin typeface="Aptos Mono"/>
                <a:ea typeface="Aptos Mono"/>
                <a:cs typeface="Aptos Mono"/>
              </a:rPr>
              <a:t>Axios, 2026-05-28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C58FED-BA20-4A81-A8BE-C4EBE50E9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990850"/>
            <a:ext cx="4762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Gasto 500 millones de dolares en un solo mes por no poner limites de uso sobre Claude.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368A71-6D27-48A6-A1EC-3AD8FD48E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95750"/>
            <a:ext cx="53340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DD3C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939B0C-B920-495C-9BF8-68D2224E6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862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Microsoft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8A0C8E-D217-4FDE-9B41-A17524E81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10100"/>
            <a:ext cx="3048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75569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475569"/>
                </a:solidFill>
                <a:latin typeface="Aptos Mono"/>
                <a:ea typeface="Aptos Mono"/>
                <a:cs typeface="Aptos Mono"/>
              </a:rPr>
              <a:t>Axios, 2026-05-28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9E5CC8-ABD5-47EB-AEE5-94C280571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14900"/>
            <a:ext cx="4762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Cancelo la mayoria de sus licencias internas de Claude Code, en parte por costos, citando a The Verge.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7245FB-30BB-4489-9061-5B8913BB8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95750"/>
            <a:ext cx="53340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DD3C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BF7015-A196-4347-8A66-727595116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2862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Meta y Amazon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C7DC00-E280-4138-B226-18ECE4E1E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610100"/>
            <a:ext cx="3048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75569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475569"/>
                </a:solidFill>
                <a:latin typeface="Aptos Mono"/>
                <a:ea typeface="Aptos Mono"/>
                <a:cs typeface="Aptos Mono"/>
              </a:rPr>
              <a:t>The Information + Fortune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3F8528-A360-486C-AA60-DDA78A588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914900"/>
            <a:ext cx="4762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Aparecen patrones de leaderboard, tokenmaxxing y uso inflado, señal de gobernanza debil.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34B8D55-F061-4162-B337-8FBE5E5EC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10477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Las senales no prueban un retorno masivo, pero si prueban presion economica real.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BE4880-C8C0-4BF0-9623-B6DCDED9C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96050"/>
            <a:ext cx="38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C75C2A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C75C2A"/>
                </a:solidFill>
                <a:latin typeface="Aptos Mono"/>
                <a:ea typeface="Aptos Mono"/>
                <a:cs typeface="Aptos Mono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12968897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1F3B9D8-EF29-48EB-88E0-1C9872C3C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0E8"/>
          </a:solidFill>
          <a:ln xmlns:a="http://schemas.openxmlformats.org/drawingml/2006/main" w="0">
            <a:solidFill>
              <a:srgbClr val="F4F0E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C90DE0-C4AF-4DD2-AC95-0F50B2219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1809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A4F"/>
          </a:solidFill>
          <a:ln xmlns:a="http://schemas.openxmlformats.org/drawingml/2006/main" w="0">
            <a:solidFill>
              <a:srgbClr val="2D6A4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5F056C-70BC-4978-978B-75042B5B2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D6A4F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2D6A4F"/>
                </a:solidFill>
                <a:latin typeface="Aptos Mono"/>
                <a:ea typeface="Aptos Mono"/>
                <a:cs typeface="Aptos Mono"/>
              </a:rPr>
              <a:t>ESCENARIOS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CB08EC-AC75-4933-9FAB-617F7D94D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95350"/>
            <a:ext cx="87630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Con pocos usuarios la nube sigue ganando. Con uso intensivo y recurrente, la pregunta on-premise deja de sonar exotica.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1041A5-057F-4AC8-B7C5-53C60A25C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95500"/>
            <a:ext cx="5143500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DD3C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54BA4D-0D18-45EF-9AF9-D0BCA199B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3048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Escenario A: 50 personas, uso moderado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1A93A8-000C-4404-849F-8F4B4307E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76550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$16.5k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156085-3AE3-4D5A-8367-26F109690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00400"/>
            <a:ext cx="1428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75569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475569"/>
                </a:solidFill>
                <a:latin typeface="Aptos Mono"/>
                <a:ea typeface="Aptos Mono"/>
                <a:cs typeface="Aptos Mono"/>
              </a:rPr>
              <a:t>GPT-5.5 / mes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6DDD0E-9A17-4ED2-9C1A-8E2DE348D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876550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$15k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78C464-0E4F-41F9-86E3-3F91A8E66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200400"/>
            <a:ext cx="1428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75569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475569"/>
                </a:solidFill>
                <a:latin typeface="Aptos Mono"/>
                <a:ea typeface="Aptos Mono"/>
                <a:cs typeface="Aptos Mono"/>
              </a:rPr>
              <a:t>Opus 4.8 / mes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D935E9-6D59-42B7-88BD-AB1CFEF39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876550"/>
            <a:ext cx="1428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$9k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D55278-3F83-49B3-B491-22493C354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200400"/>
            <a:ext cx="1428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75569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475569"/>
                </a:solidFill>
                <a:latin typeface="Aptos Mono"/>
                <a:ea typeface="Aptos Mono"/>
                <a:cs typeface="Aptos Mono"/>
              </a:rPr>
              <a:t>Sonnet 4.6 / mes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1B05E5-7A9D-4058-B3CE-84C796C2A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95700"/>
            <a:ext cx="4286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Lectura: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Ya es un gasto visible, pero en muchos casos todavia no compensa traer hardware, serving y operacion dentro de casa. La nube sigue siendo la opcion mas simple.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904239-2226-47AE-962D-5F6B67ECB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095500"/>
            <a:ext cx="5619750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7F1"/>
          </a:solidFill>
          <a:ln xmlns:a="http://schemas.openxmlformats.org/drawingml/2006/main" w="11430">
            <a:solidFill>
              <a:srgbClr val="DDD3C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07A5AE-BE99-455D-9825-31702C728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324100"/>
            <a:ext cx="3619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Escenario B: 200 personas, uso intensivo y agentes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446918-80A9-496A-9FCF-6ECC052BE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76550"/>
            <a:ext cx="152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$220k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2283AB-28B2-402B-B834-0E417D23F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200400"/>
            <a:ext cx="152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75569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475569"/>
                </a:solidFill>
                <a:latin typeface="Aptos Mono"/>
                <a:ea typeface="Aptos Mono"/>
                <a:cs typeface="Aptos Mono"/>
              </a:rPr>
              <a:t>GPT-5.5 / mes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37D973-E452-4538-907B-C9F3D3715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876550"/>
            <a:ext cx="152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$200k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842B50-B378-440F-B7AE-D6332C41D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200400"/>
            <a:ext cx="152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75569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475569"/>
                </a:solidFill>
                <a:latin typeface="Aptos Mono"/>
                <a:ea typeface="Aptos Mono"/>
                <a:cs typeface="Aptos Mono"/>
              </a:rPr>
              <a:t>Opus 4.8 / mes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7E62A2-9E93-4175-B384-03B6FBE02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76550"/>
            <a:ext cx="152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$120k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28343B-B590-4EBA-8DF6-4AD1266EF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200400"/>
            <a:ext cx="152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475569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475569"/>
                </a:solidFill>
                <a:latin typeface="Aptos Mono"/>
                <a:ea typeface="Aptos Mono"/>
                <a:cs typeface="Aptos Mono"/>
              </a:rPr>
              <a:t>Sonnet 4.6 / mes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8C19E5-2C7F-4906-87F3-4B104A232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695700"/>
            <a:ext cx="4762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Lectura: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A este nivel, la empresa ya deberia comparar seriamente el gasto recurrente por tokens contra alternativas privadas o hibridas. No porque cloud sea mala, sino porque la escala cambia la ecuacion.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82D3B2-D7C9-4E6E-81E7-9E14AE4FD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10477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Escenarios ilustrativos construidos con precios oficiales de OpenAI y Anthropic.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50FD900-0AF6-4C22-8B1C-89A54C0B3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96050"/>
            <a:ext cx="38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C75C2A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C75C2A"/>
                </a:solidFill>
                <a:latin typeface="Aptos Mono"/>
                <a:ea typeface="Aptos Mono"/>
                <a:cs typeface="Aptos Mono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3343959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895A92C-7D5D-41E9-A6AA-A3E92B7D8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0E8"/>
          </a:solidFill>
          <a:ln xmlns:a="http://schemas.openxmlformats.org/drawingml/2006/main" w="0">
            <a:solidFill>
              <a:srgbClr val="F4F0E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0CE68F-1DD7-4ACB-8E23-72367BD89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1809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5C2A"/>
          </a:solidFill>
          <a:ln xmlns:a="http://schemas.openxmlformats.org/drawingml/2006/main" w="0">
            <a:solidFill>
              <a:srgbClr val="C75C2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654524-EE27-42EF-B475-371F36CA4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5C2A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C75C2A"/>
                </a:solidFill>
                <a:latin typeface="Aptos Mono"/>
                <a:ea typeface="Aptos Mono"/>
                <a:cs typeface="Aptos Mono"/>
              </a:rPr>
              <a:t>CONDICIONES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1F77A9-6D46-41F5-B81B-436965E7D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95350"/>
            <a:ext cx="87630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Volver a infraestructura controlada solo tiene sentido si se cumplen varias condiciones al mismo tiempo.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3781AD-EE05-476B-B788-A1B5E7B93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76450"/>
            <a:ext cx="5334000" cy="3562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DD3C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F74263-0192-460C-9356-6A1BBE79B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05050"/>
            <a:ext cx="2667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Lo que tendria que ser cierto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A8C352-1806-4FE2-BB54-B96FAC9C9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38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F"/>
          </a:solidFill>
          <a:ln xmlns:a="http://schemas.openxmlformats.org/drawingml/2006/main" w="0">
            <a:solidFill>
              <a:srgbClr val="E07A3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4778C3-9EBD-4098-A692-52594866A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762250"/>
            <a:ext cx="4286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Demanda relativamente estable.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A96ECC-2946-43E7-B652-1F2304111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623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F"/>
          </a:solidFill>
          <a:ln xmlns:a="http://schemas.openxmlformats.org/drawingml/2006/main" w="0">
            <a:solidFill>
              <a:srgbClr val="E07A3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C6424B-8F44-437E-866C-99C8D70B4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086100"/>
            <a:ext cx="4286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Volumen alto y recurrente.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D366D5-E2E6-44EB-B893-574E8CD7B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861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F"/>
          </a:solidFill>
          <a:ln xmlns:a="http://schemas.openxmlformats.org/drawingml/2006/main" w="0">
            <a:solidFill>
              <a:srgbClr val="E07A3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2EACC7-650B-4D7A-AACE-1C63ADDAD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409950"/>
            <a:ext cx="4286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Modelo open source suficientemente bueno.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6EB666-E50F-479A-9813-D71CE845B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100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F"/>
          </a:solidFill>
          <a:ln xmlns:a="http://schemas.openxmlformats.org/drawingml/2006/main" w="0">
            <a:solidFill>
              <a:srgbClr val="E07A3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AABCAC-0FB2-4EB2-8C8C-80BCDAD3C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733800"/>
            <a:ext cx="4286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Equipo capaz de operar hardware y serving.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A806B1-2CB7-48B2-BD5B-55F67C8B1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33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F"/>
          </a:solidFill>
          <a:ln xmlns:a="http://schemas.openxmlformats.org/drawingml/2006/main" w="0">
            <a:solidFill>
              <a:srgbClr val="E07A3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8B2BC2-9515-4449-BA34-79B73D61E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57650"/>
            <a:ext cx="4286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Tolerancia a menor elasticidad que cloud.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A962A0-99AC-417D-978F-85C5C0334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76450"/>
            <a:ext cx="5429250" cy="3562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F5"/>
          </a:solidFill>
          <a:ln xmlns:a="http://schemas.openxmlformats.org/drawingml/2006/main" w="11430">
            <a:solidFill>
              <a:srgbClr val="F2C2B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34F1FA-1114-4ADA-AC6F-E9CF5FE2D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305050"/>
            <a:ext cx="285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B42318"/>
                </a:solidFill>
                <a:latin typeface="Aptos"/>
                <a:ea typeface="Aptos"/>
                <a:cs typeface="Aptos"/>
              </a:rPr>
              <a:t>Lo que no hay que subestimar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D46A9A-49F5-4743-9AF8-EF5DBC914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38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2C303F4-327A-4A91-852D-CC07FCDC2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762250"/>
            <a:ext cx="4476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Compra o alquiler de hardware especializado.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4BD06F5-07A5-45EA-BCB2-AB197FA13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1623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850234-965E-4475-A48E-293C0EC48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86100"/>
            <a:ext cx="4476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Capacidad, disponibilidad y monitoreo.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079226-4EFE-49B4-9339-7F0BBDA2D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4861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2C75C42-8276-4CE9-AB38-AEC43E446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409950"/>
            <a:ext cx="4476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Seguridad, patching y refresh de infraestructura.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1E71F3-D4A7-439A-A796-4A6E243BD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8100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A5C6A46-3BE7-40B1-9B4D-B720016B5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733800"/>
            <a:ext cx="4476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Costo de oportunidad frente a frontier models mejores.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B8F9CDE-5DFF-4B85-88E5-8893A7F7A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133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B8A3692-E05F-4B80-8079-EC0F0C0EC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057650"/>
            <a:ext cx="4476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Necesidad de plataforma y MLOps mas fuerte.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64C28AC-15FD-4A37-8463-E6C521D8F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10477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On-premise no es solo costo por GPU; es una disciplina operativa completa.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49F5BA5-05E4-4613-B326-FAF94A3EA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96050"/>
            <a:ext cx="38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C75C2A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C75C2A"/>
                </a:solidFill>
                <a:latin typeface="Aptos Mono"/>
                <a:ea typeface="Aptos Mono"/>
                <a:cs typeface="Aptos Mono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98080576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2529C33-8A9B-4267-8555-CB19EA329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0E8"/>
          </a:solidFill>
          <a:ln xmlns:a="http://schemas.openxmlformats.org/drawingml/2006/main" w="0">
            <a:solidFill>
              <a:srgbClr val="F4F0E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44A755-E07C-4495-820A-F4A40A05F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1809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5C2A"/>
          </a:solidFill>
          <a:ln xmlns:a="http://schemas.openxmlformats.org/drawingml/2006/main" w="0">
            <a:solidFill>
              <a:srgbClr val="C75C2A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DDA950-0863-4D0C-9088-1351338FE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75C2A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C75C2A"/>
                </a:solidFill>
                <a:latin typeface="Aptos Mono"/>
                <a:ea typeface="Aptos Mono"/>
                <a:cs typeface="Aptos Mono"/>
              </a:rPr>
              <a:t>TRADEOFF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DCC147-6C4C-424C-BE96-DF33B3C5E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95350"/>
            <a:ext cx="87630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La decision correcta no es cloud versus on-premise en abstracto. Es que workload merece cada una.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11F4C8-1A71-47D9-9CEB-ED185E8B0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19300"/>
            <a:ext cx="11068050" cy="384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DD3C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88AC9F-A65C-4227-BE69-E29763A8A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47900"/>
            <a:ext cx="2286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Comparacion ejecutiva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F9FCBD-6CC8-4077-8309-914F30AC7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47950"/>
            <a:ext cx="2286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75569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475569"/>
                </a:solidFill>
                <a:latin typeface="Aptos Mono"/>
                <a:ea typeface="Aptos Mono"/>
                <a:cs typeface="Aptos Mono"/>
              </a:rPr>
              <a:t>Dimension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7F0A06-21FE-43E1-95B9-FE73EEEEC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6479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75569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475569"/>
                </a:solidFill>
                <a:latin typeface="Aptos Mono"/>
                <a:ea typeface="Aptos Mono"/>
                <a:cs typeface="Aptos Mono"/>
              </a:rPr>
              <a:t>Cloud / proveedores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2DF2ED-1927-4F47-BE3B-15CB2D01E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647950"/>
            <a:ext cx="3619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75569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475569"/>
                </a:solidFill>
                <a:latin typeface="Aptos Mono"/>
                <a:ea typeface="Aptos Mono"/>
                <a:cs typeface="Aptos Mono"/>
              </a:rPr>
              <a:t>Infraestructura controlada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40E080-5296-47D4-A4FD-084C35490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71800"/>
            <a:ext cx="10191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7F1"/>
          </a:solidFill>
          <a:ln xmlns:a="http://schemas.openxmlformats.org/drawingml/2006/main" w="0">
            <a:solidFill>
              <a:srgbClr val="FAF7F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6F4677-D80B-42AF-A8AF-87353ED43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28950"/>
            <a:ext cx="2286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Elasticidad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38D647-04E0-4B8C-ABDA-61F0D7266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0289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muy alta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647E40-2256-44E9-9F83-77AB055BF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028950"/>
            <a:ext cx="3619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limitada por capacidad instalada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DCC0B8-0E67-48C6-A795-98484127A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29000"/>
            <a:ext cx="2286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Acceso a modelos frontier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77ECF7-E914-41DA-A009-478F929FE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42900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inmediato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674A16-83F2-452C-A788-E2B2BDA8A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429000"/>
            <a:ext cx="3619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limitado o inexistente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1A4B4B-AB2A-4721-ACA8-546671E14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71900"/>
            <a:ext cx="10191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7F1"/>
          </a:solidFill>
          <a:ln xmlns:a="http://schemas.openxmlformats.org/drawingml/2006/main" w="0">
            <a:solidFill>
              <a:srgbClr val="FAF7F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9B6EB5-01B3-4BED-B5CC-45CBA9070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29050"/>
            <a:ext cx="2286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Costo marginal bajo volumen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786768-6350-40A5-9790-512194F09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8290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mejor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253CD0-98D7-4779-B76C-895DFEFE7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829050"/>
            <a:ext cx="3619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peor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1624B7-DEC0-470F-81B0-88C2CCCC3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29100"/>
            <a:ext cx="2286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Costo marginal alto volumen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CE43614-13B2-4A8B-8299-FDB174DB3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22910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puede explotar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E81C8A2-124B-4611-8476-3CCA8F937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229100"/>
            <a:ext cx="3619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puede mejorar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8A017C-CE2F-4308-93D8-9E1C4F201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0"/>
            <a:ext cx="10191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7F1"/>
          </a:solidFill>
          <a:ln xmlns:a="http://schemas.openxmlformats.org/drawingml/2006/main" w="0">
            <a:solidFill>
              <a:srgbClr val="FAF7F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FC1D320-8B3D-49DA-8FCD-1A99646FF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29150"/>
            <a:ext cx="2286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Operacion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5271816-54CF-4C48-8EB3-E86C8E848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6291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simple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645A8BE-7A0F-46B2-8F0F-648EBF31D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629150"/>
            <a:ext cx="3619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compleja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74ED454-2B41-4DED-80DD-D74D2C309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29200"/>
            <a:ext cx="2286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Control del dato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3C3EA22-D656-4C8D-8561-522B34D83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02920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menor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B76E11F-BBC3-40FF-956B-760F857D5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5029200"/>
            <a:ext cx="3619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mayor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B276325-B9D4-4D4B-B8BC-252536D0A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10191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7F1"/>
          </a:solidFill>
          <a:ln xmlns:a="http://schemas.openxmlformats.org/drawingml/2006/main" w="0">
            <a:solidFill>
              <a:srgbClr val="FAF7F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83D0046-799F-4723-8FC3-F0ABF6404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29250"/>
            <a:ext cx="2286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Time-to-market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274C3B1-75D8-4BA3-82EC-2F2AD88B1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4292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mejor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928A161-A7D7-4BB8-9B73-558AD885C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5429250"/>
            <a:ext cx="3619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peor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00E91F5-50C0-4A35-87E4-B94D5D49C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15050"/>
            <a:ext cx="110680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solidFill>
              <a:srgbClr val="102A43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01186FD-318C-41F7-A112-A8987AC1C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219825"/>
            <a:ext cx="10572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DF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DF8"/>
                </a:solidFill>
                <a:latin typeface="Aptos"/>
                <a:ea typeface="Aptos"/>
                <a:cs typeface="Aptos"/>
              </a:rPr>
              <a:t>El retorno no es al pasado: es a una arquitectura mas segmentada por costo, riesgo y calidad requerida.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C0845C0-FA8D-4DCC-8E44-5B0776B97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10477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La unidad de decision no es la empresa completa: es cada workload.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F5798A7-3FE1-43B0-8699-0C3118111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96050"/>
            <a:ext cx="38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C75C2A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C75C2A"/>
                </a:solidFill>
                <a:latin typeface="Aptos Mono"/>
                <a:ea typeface="Aptos Mono"/>
                <a:cs typeface="Aptos Mono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48700180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7CAB8BF-CF23-40FE-962F-FA9070408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0E8"/>
          </a:solidFill>
          <a:ln xmlns:a="http://schemas.openxmlformats.org/drawingml/2006/main" w="0">
            <a:solidFill>
              <a:srgbClr val="F4F0E8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53DF6F-4519-4F99-B345-009290527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1809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A4F"/>
          </a:solidFill>
          <a:ln xmlns:a="http://schemas.openxmlformats.org/drawingml/2006/main" w="0">
            <a:solidFill>
              <a:srgbClr val="2D6A4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276720-DE87-4850-978B-6ACC4A80A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D6A4F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2D6A4F"/>
                </a:solidFill>
                <a:latin typeface="Aptos Mono"/>
                <a:ea typeface="Aptos Mono"/>
                <a:cs typeface="Aptos Mono"/>
              </a:rPr>
              <a:t>CONCLUSION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CF8382-7872-482D-830A-7A43EAF4F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95350"/>
            <a:ext cx="87630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La respuesta madura no es volver completamente a on-premise. Es redisenar la arquitectura para no pagar de mas por inteligencia.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90BEB2-8862-447C-A653-1C9BA560F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86000"/>
            <a:ext cx="329565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1430">
            <a:solidFill>
              <a:srgbClr val="DDD3C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57732D-2733-4488-A0E2-14ECC1F41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14600"/>
            <a:ext cx="1047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7A3F"/>
          </a:solidFill>
          <a:ln xmlns:a="http://schemas.openxmlformats.org/drawingml/2006/main" w="0">
            <a:solidFill>
              <a:srgbClr val="E07A3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ED0A63-27DC-467B-80FE-3FF6DD1CC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71750"/>
            <a:ext cx="895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02A43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02A43"/>
                </a:solidFill>
                <a:latin typeface="Aptos Mono"/>
                <a:ea typeface="Aptos Mono"/>
                <a:cs typeface="Aptos Mono"/>
              </a:rPr>
              <a:t>CLOUD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6D6385-EEC4-4686-8D37-F4B821817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289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La nube sigue ganando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80A1F0-171B-4F90-9E6E-2CC1C3F75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38550"/>
            <a:ext cx="2762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Para equipos pequenos, demanda variable, experimentacion rapida y frontier models, cloud sigue siendo la mejor opcion.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4DF9A2-8AD8-479B-9B3C-8F4A7D794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286000"/>
            <a:ext cx="329565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7F1"/>
          </a:solidFill>
          <a:ln xmlns:a="http://schemas.openxmlformats.org/drawingml/2006/main" w="11430">
            <a:solidFill>
              <a:srgbClr val="DDD3C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0DA7CA-4AD6-445B-A80D-3ED9D3298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514600"/>
            <a:ext cx="1047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B4231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AD34A1-D4F4-4C92-9206-6473A1CE8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571750"/>
            <a:ext cx="895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DF8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FFFDF8"/>
                </a:solidFill>
                <a:latin typeface="Aptos Mono"/>
                <a:ea typeface="Aptos Mono"/>
                <a:cs typeface="Aptos Mono"/>
              </a:rPr>
              <a:t>COSTO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36E7B4-A371-42BF-BDC5-3BF95ADEB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0289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Lo que cambia con LLMs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0B4C0D-29FA-43DF-B5CD-753C7C652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638550"/>
            <a:ext cx="2762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La inferencia intensiva y sin gobierno puede convertir la inteligencia en un gasto recurrente muy dificil de justificar.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2A2DEC-7B40-41F1-868C-3B31E4850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286000"/>
            <a:ext cx="329565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11430">
            <a:solidFill>
              <a:srgbClr val="35536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804615-9F16-4823-9C92-6A4D44B67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514600"/>
            <a:ext cx="1047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6A4F"/>
          </a:solidFill>
          <a:ln xmlns:a="http://schemas.openxmlformats.org/drawingml/2006/main" w="0">
            <a:solidFill>
              <a:srgbClr val="2D6A4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0FD38C-1D9E-4E75-B728-525B6C3CF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571750"/>
            <a:ext cx="8953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DF8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FFFDF8"/>
                </a:solidFill>
                <a:latin typeface="Aptos Mono"/>
                <a:ea typeface="Aptos Mono"/>
                <a:cs typeface="Aptos Mono"/>
              </a:rPr>
              <a:t>HIBRIDO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448B90-87AA-4A41-9ECD-680014A2D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0289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DF8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DF8"/>
                </a:solidFill>
                <a:latin typeface="Aptos"/>
                <a:ea typeface="Aptos"/>
                <a:cs typeface="Aptos"/>
              </a:rPr>
              <a:t>La respuesta realista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5AE547-4DFE-4D5D-B779-1165F377F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638550"/>
            <a:ext cx="2762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9E2EC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D9E2EC"/>
                </a:solidFill>
                <a:latin typeface="Aptos"/>
                <a:ea typeface="Aptos"/>
                <a:cs typeface="Aptos"/>
              </a:rPr>
              <a:t>Segmentar workloads: cloud para unos casos, infraestructura controlada para otros, con disciplina economica y operativa.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B16588-C228-438C-999C-B8388E652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67400"/>
            <a:ext cx="11068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DBC8"/>
          </a:solidFill>
          <a:ln xmlns:a="http://schemas.openxmlformats.org/drawingml/2006/main" w="0">
            <a:solidFill>
              <a:srgbClr val="DDD3C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BCF5C8-FF64-4C74-988F-426FD4AA4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91225"/>
            <a:ext cx="10572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1575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Mi recomendacion: antes de hablar de volver a on-premise, midan, segmenten y gobiernen el consumo de IA.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07D4E3-9E12-4F0D-B2FA-8B0F29821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10477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La arquitectura correcta empieza con finops, observabilidad y criterio por workload.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5A39C89-8416-4D7F-8F10-8A02F8CF6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96050"/>
            <a:ext cx="38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C75C2A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C75C2A"/>
                </a:solidFill>
                <a:latin typeface="Aptos Mono"/>
                <a:ea typeface="Aptos Mono"/>
                <a:cs typeface="Aptos Mono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64837504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f72b58b30249b5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99C74C-094B-4BB8-A3F8-08C6E319C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667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321">
              <a:alpha val="80000"/>
            </a:srgbClr>
          </a:solidFill>
          <a:ln xmlns:a="http://schemas.openxmlformats.org/drawingml/2006/main" w="0">
            <a:solidFill>
              <a:srgbClr val="081321">
                <a:alpha val="8000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06A461-8FDD-4CBB-83AC-5D6FC4045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00100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3C8B3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F3C8B3"/>
                </a:solidFill>
                <a:latin typeface="Aptos Mono"/>
                <a:ea typeface="Aptos Mono"/>
                <a:cs typeface="Aptos Mono"/>
              </a:rPr>
              <a:t>CIERRE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5C3A71-D2AF-4970-B219-434C24866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5334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FDF8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FFFDF8"/>
                </a:solidFill>
                <a:latin typeface="Aptos Display"/>
                <a:ea typeface="Aptos Display"/>
                <a:cs typeface="Aptos Display"/>
              </a:rPr>
              <a:t>The cloud is about how you do computing, not where you do computing.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CB653E-B4B4-4F3B-934B-062A707DB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90900"/>
            <a:ext cx="4953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D9E2EC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9E2EC"/>
                </a:solidFill>
                <a:latin typeface="Aptos"/>
                <a:ea typeface="Aptos"/>
                <a:cs typeface="Aptos"/>
              </a:rPr>
              <a:t>La conclusion no es nostalgia por el datacenter. La conclusion es que la arquitectura de IA vuelve a ser una decision economica, no solo tecnologica.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F9CC36-52C0-4FAE-BF8B-F53DF4A5E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43500"/>
            <a:ext cx="495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3C8B3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3C8B3"/>
                </a:solidFill>
                <a:latin typeface="Aptos"/>
                <a:ea typeface="Aptos"/>
                <a:cs typeface="Aptos"/>
              </a:rPr>
              <a:t>Paul Maritz, sobre cloud computing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3F3122-116C-45DC-8064-649E18D86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34150"/>
            <a:ext cx="10477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B7280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B7280"/>
                </a:solidFill>
                <a:latin typeface="Aptos"/>
                <a:ea typeface="Aptos"/>
                <a:cs typeface="Aptos"/>
              </a:rPr>
              <a:t>Cita atribuida a Paul Maritz y ampliamente citada en la literatura sobre cloud.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854881-FE17-49CC-8121-879A4379E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96050"/>
            <a:ext cx="38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C75C2A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C75C2A"/>
                </a:solidFill>
                <a:latin typeface="Aptos Mono"/>
                <a:ea typeface="Aptos Mono"/>
                <a:cs typeface="Aptos Mono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8364288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2026-06-02T18:46:40.0770000Z</dcterms:created>
  <dcterms:modified xsi:type="dcterms:W3CDTF">2026-06-02T18:46:40.0770000Z</dcterms:modified>
</coreProperties>
</file>