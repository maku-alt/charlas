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37960" y="1243584"/>
            <a:ext cx="804672" cy="2560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84264" y="3218688"/>
            <a:ext cx="51206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60" b="1" i="0">
                <a:solidFill>
                  <a:srgbClr val="FFFDF8"/>
                </a:solidFill>
                <a:latin typeface="Aptos"/>
              </a:rPr>
              <a:t>TESIS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6952" y="1554480"/>
            <a:ext cx="804672" cy="25603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3256" y="3529584"/>
            <a:ext cx="51206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60" b="1" i="0">
                <a:solidFill>
                  <a:srgbClr val="FFFDF8"/>
                </a:solidFill>
                <a:latin typeface="Aptos"/>
              </a:rPr>
              <a:t>SPEC</a:t>
            </a:r>
          </a:p>
        </p:txBody>
      </p:sp>
      <p:sp>
        <p:nvSpPr>
          <p:cNvPr id="7" name="Rectangle 6"/>
          <p:cNvSpPr/>
          <p:nvPr/>
        </p:nvSpPr>
        <p:spPr>
          <a:xfrm>
            <a:off x="8695944" y="1243584"/>
            <a:ext cx="804672" cy="2560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2248" y="3218688"/>
            <a:ext cx="51206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60" b="1" i="0">
                <a:solidFill>
                  <a:srgbClr val="FFFDF8"/>
                </a:solidFill>
                <a:latin typeface="Aptos"/>
              </a:rPr>
              <a:t>ARTEFACTO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9774936" y="1554480"/>
            <a:ext cx="804672" cy="25603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3529584"/>
            <a:ext cx="51206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60" b="1" i="0">
                <a:solidFill>
                  <a:srgbClr val="FFFDF8"/>
                </a:solidFill>
                <a:latin typeface="Aptos"/>
              </a:rPr>
              <a:t>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2336"/>
            <a:ext cx="621792" cy="640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E07A3F"/>
                </a:solidFill>
                <a:latin typeface="Aptos"/>
              </a:rPr>
              <a:t>SDD + IA agentica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170432"/>
            <a:ext cx="621792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700" b="1" i="0">
                <a:solidFill>
                  <a:srgbClr val="FFFDF8"/>
                </a:solidFill>
                <a:latin typeface="Georgia"/>
              </a:rPr>
              <a:t>El contexto tambien se disena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615184"/>
            <a:ext cx="54864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0" i="0">
                <a:solidFill>
                  <a:srgbClr val="E9E7DE"/>
                </a:solidFill>
                <a:latin typeface="Aptos"/>
              </a:rPr>
              <a:t>De conversaciones largas a contratos de trabajo que reducen ruido, costo y ambiguedad.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5230368"/>
            <a:ext cx="5212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0">
                <a:solidFill>
                  <a:srgbClr val="CFCBC0"/>
                </a:solidFill>
                <a:latin typeface="Aptos"/>
              </a:rPr>
              <a:t>Para equipos de datos que ya usan IA y necesitan convertir prompts en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428232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1" i="0">
                <a:solidFill>
                  <a:srgbClr val="CFCBC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92608"/>
            <a:ext cx="621792" cy="640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475569"/>
                </a:solidFill>
                <a:latin typeface="Aptos"/>
              </a:rPr>
              <a:t>DEFINICION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896112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SDD: desarrollo guiado por specs para trabajar con agentes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3696" y="420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475569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874519"/>
            <a:ext cx="3154680" cy="347472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9696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FFFDF8"/>
                </a:solidFill>
                <a:latin typeface="Georgia"/>
              </a:rPr>
              <a:t>SDD puede leerse como Spec-Driven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2"/>
            <a:ext cx="233172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20" b="0" i="0">
                <a:solidFill>
                  <a:srgbClr val="E9E7DE"/>
                </a:solidFill>
                <a:latin typeface="Aptos"/>
              </a:rPr>
              <a:t>En simple: antes de pedirle trabajo a un agente, escribimos el contrato de la fase.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572000"/>
            <a:ext cx="2423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1" i="0">
                <a:solidFill>
                  <a:srgbClr val="2D6A4F"/>
                </a:solidFill>
                <a:latin typeface="Aptos"/>
              </a:rPr>
              <a:t>No es mas documentacion; es menos contexto ambiguo.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38528"/>
            <a:ext cx="1243584" cy="301752"/>
          </a:xfrm>
          <a:prstGeom prst="roundRect">
            <a:avLst>
              <a:gd name="adj" fmla="val 32000"/>
            </a:avLst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11680"/>
            <a:ext cx="109728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69" b="1" i="0">
                <a:solidFill>
                  <a:srgbClr val="FFFDF8"/>
                </a:solidFill>
                <a:latin typeface="Aptos"/>
              </a:rPr>
              <a:t>Viene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956816"/>
            <a:ext cx="43891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Georgia"/>
              </a:rPr>
              <a:t>desarrollo guiado por especificaciones y delivery tecnico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359152"/>
            <a:ext cx="4160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ptos"/>
              </a:rPr>
              <a:t>El spec define objetivo, input, limites, salida y criterio de aceptacion.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926080"/>
            <a:ext cx="1243584" cy="301752"/>
          </a:xfrm>
          <a:prstGeom prst="roundRect">
            <a:avLst>
              <a:gd name="adj" fmla="val 32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999232"/>
            <a:ext cx="109728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69" b="1" i="0">
                <a:solidFill>
                  <a:srgbClr val="FFFDF8"/>
                </a:solidFill>
                <a:latin typeface="Aptos"/>
              </a:rPr>
              <a:t>Se adapta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944368"/>
            <a:ext cx="43891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Georgia"/>
              </a:rPr>
              <a:t>agentes, handoffs, herramientas y artefactos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346704"/>
            <a:ext cx="4160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ptos"/>
              </a:rPr>
              <a:t>No depende de un vendor: sirve donde hay instrucciones y transferencia de trabajo.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13631"/>
            <a:ext cx="1243584" cy="301752"/>
          </a:xfrm>
          <a:prstGeom prst="roundRect">
            <a:avLst>
              <a:gd name="adj" fmla="val 32000"/>
            </a:avLst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986783"/>
            <a:ext cx="109728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69" b="1" i="0">
                <a:solidFill>
                  <a:srgbClr val="FFFDF8"/>
                </a:solidFill>
                <a:latin typeface="Aptos"/>
              </a:rPr>
              <a:t>Busca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931920"/>
            <a:ext cx="43891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Georgia"/>
              </a:rPr>
              <a:t>que cada fase reciba solo lo que necesita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334256"/>
            <a:ext cx="4160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ptos"/>
              </a:rPr>
              <a:t>El objetivo es bajar ruido, costo y retrabajo; no prometer autonomia total.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016752"/>
            <a:ext cx="11064240" cy="329184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6080760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Aptos"/>
              </a:rPr>
              <a:t>La idea central: no mandar mas historia; mandar mejor contrato.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92608"/>
            <a:ext cx="621792" cy="640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475569"/>
                </a:solidFill>
                <a:latin typeface="Aptos"/>
              </a:rPr>
              <a:t>DOLOR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Una conversacion larga parece memoria, pero opera como deuda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3696" y="420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475569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65376"/>
            <a:ext cx="4937760" cy="356616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121408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 i="0">
                <a:solidFill>
                  <a:srgbClr val="B42318"/>
                </a:solidFill>
                <a:latin typeface="Georgia"/>
              </a:rPr>
              <a:t>Chat monolitico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2670048"/>
            <a:ext cx="3977639" cy="3017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43200"/>
            <a:ext cx="3758183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FFFDF8"/>
                </a:solidFill>
                <a:latin typeface="Aptos"/>
              </a:rPr>
              <a:t>decisiones viejas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" y="3108960"/>
            <a:ext cx="3566160" cy="30175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82112"/>
            <a:ext cx="33467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FFFDF8"/>
                </a:solidFill>
                <a:latin typeface="Aptos"/>
              </a:rPr>
              <a:t>exploraciones descartadas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3547872"/>
            <a:ext cx="3154680" cy="301752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621024"/>
            <a:ext cx="293522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FFFDF8"/>
                </a:solidFill>
                <a:latin typeface="Aptos"/>
              </a:rPr>
              <a:t>fuentes y notas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" y="3986783"/>
            <a:ext cx="2788920" cy="30175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059935"/>
            <a:ext cx="2569463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FFFDF8"/>
                </a:solidFill>
                <a:latin typeface="Aptos"/>
              </a:rPr>
              <a:t>dudas intermedias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" y="4425696"/>
            <a:ext cx="2331720" cy="30175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498848"/>
            <a:ext cx="2112263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FFFDF8"/>
                </a:solidFill>
                <a:latin typeface="Aptos"/>
              </a:rPr>
              <a:t>outputs previos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65376"/>
            <a:ext cx="4526280" cy="356616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121408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Georgia"/>
              </a:rPr>
              <a:t>Siguiente pedido</a:t>
            </a:r>
          </a:p>
        </p:txBody>
      </p:sp>
      <p:sp>
        <p:nvSpPr>
          <p:cNvPr id="20" name="Oval 19"/>
          <p:cNvSpPr/>
          <p:nvPr/>
        </p:nvSpPr>
        <p:spPr>
          <a:xfrm>
            <a:off x="6784848" y="2807208"/>
            <a:ext cx="73152" cy="73152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706624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recibe todo</a:t>
            </a:r>
          </a:p>
        </p:txBody>
      </p:sp>
      <p:sp>
        <p:nvSpPr>
          <p:cNvPr id="22" name="Oval 21"/>
          <p:cNvSpPr/>
          <p:nvPr/>
        </p:nvSpPr>
        <p:spPr>
          <a:xfrm>
            <a:off x="6784848" y="3282696"/>
            <a:ext cx="73152" cy="73152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182112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paga todo</a:t>
            </a:r>
          </a:p>
        </p:txBody>
      </p:sp>
      <p:sp>
        <p:nvSpPr>
          <p:cNvPr id="24" name="Oval 23"/>
          <p:cNvSpPr/>
          <p:nvPr/>
        </p:nvSpPr>
        <p:spPr>
          <a:xfrm>
            <a:off x="6784848" y="3758184"/>
            <a:ext cx="73152" cy="73152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657600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reinterpreta todo</a:t>
            </a:r>
          </a:p>
        </p:txBody>
      </p:sp>
      <p:sp>
        <p:nvSpPr>
          <p:cNvPr id="26" name="Oval 25"/>
          <p:cNvSpPr/>
          <p:nvPr/>
        </p:nvSpPr>
        <p:spPr>
          <a:xfrm>
            <a:off x="6784848" y="4233672"/>
            <a:ext cx="73152" cy="73152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133087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mezcla fases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90288"/>
            <a:ext cx="3291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102A43"/>
                </a:solidFill>
                <a:latin typeface="Georgia"/>
              </a:rPr>
              <a:t>La ventana larga ayuda. Pero no decide por si sola que informacion sigue viva.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016752"/>
            <a:ext cx="11064240" cy="329184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6080760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Aptos"/>
              </a:rPr>
              <a:t>El problema no es contexto grande. Es contexto sin curadoria.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92608"/>
            <a:ext cx="621792" cy="640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475569"/>
                </a:solidFill>
                <a:latin typeface="Aptos"/>
              </a:rPr>
              <a:t>MECANICA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El spec convierte una fase en una unidad delegable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3696" y="420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475569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2240280" cy="306324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01952"/>
            <a:ext cx="2240280" cy="43891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2860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 i="0">
                <a:solidFill>
                  <a:srgbClr val="FFFDF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011680"/>
            <a:ext cx="146304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FFFDF8"/>
                </a:solidFill>
                <a:latin typeface="Aptos"/>
              </a:rPr>
              <a:t>fase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737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Georgia"/>
              </a:rPr>
              <a:t>que trabajo se delega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4041648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80" b="0" i="0">
                <a:solidFill>
                  <a:srgbClr val="475569"/>
                </a:solidFill>
                <a:latin typeface="Aptos"/>
              </a:rPr>
              <a:t>research, narrativa, build,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7" y="1901952"/>
            <a:ext cx="2240280" cy="306324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7" y="1901952"/>
            <a:ext cx="2240280" cy="438912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029968"/>
            <a:ext cx="22860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 i="0">
                <a:solidFill>
                  <a:srgbClr val="FFFDF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2011680"/>
            <a:ext cx="146304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FFFDF8"/>
                </a:solidFill>
                <a:latin typeface="Aptos"/>
              </a:rPr>
              <a:t>spec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2743200"/>
            <a:ext cx="1737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Georgia"/>
              </a:rPr>
              <a:t>que entra y que queda fuera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4041648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80" b="0" i="0">
                <a:solidFill>
                  <a:srgbClr val="475569"/>
                </a:solidFill>
                <a:latin typeface="Aptos"/>
              </a:rPr>
              <a:t>objetivo, limites, input minimo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901952"/>
            <a:ext cx="2240280" cy="306324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1901952"/>
            <a:ext cx="2240280" cy="43891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29968"/>
            <a:ext cx="22860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 i="0">
                <a:solidFill>
                  <a:srgbClr val="FFFDF8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2011680"/>
            <a:ext cx="146304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FFFDF8"/>
                </a:solidFill>
                <a:latin typeface="Aptos"/>
              </a:rPr>
              <a:t>artefacto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1737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Georgia"/>
              </a:rPr>
              <a:t>que queda escrito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041648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80" b="0" i="0">
                <a:solidFill>
                  <a:srgbClr val="475569"/>
                </a:solidFill>
                <a:latin typeface="Aptos"/>
              </a:rPr>
              <a:t>brief, deck, tabla, patch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567" y="1901952"/>
            <a:ext cx="2240280" cy="306324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6567" y="1901952"/>
            <a:ext cx="2240280" cy="43891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59" y="2029968"/>
            <a:ext cx="22860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 i="0">
                <a:solidFill>
                  <a:srgbClr val="FFFDF8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3" y="2011680"/>
            <a:ext cx="146304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FFFDF8"/>
                </a:solidFill>
                <a:latin typeface="Aptos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2743200"/>
            <a:ext cx="1737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Georgia"/>
              </a:rPr>
              <a:t>que bloquea o deja pasar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4041648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80" b="0" i="0">
                <a:solidFill>
                  <a:srgbClr val="475569"/>
                </a:solidFill>
                <a:latin typeface="Aptos"/>
              </a:rPr>
              <a:t>aceptar, devolver o recortar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016752"/>
            <a:ext cx="11064240" cy="329184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6080760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Aptos"/>
              </a:rPr>
              <a:t>SDD no agrega documentos por gusto: baja la ambiguedad del handoff.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92608"/>
            <a:ext cx="621792" cy="640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475569"/>
                </a:solidFill>
                <a:latin typeface="Aptos"/>
              </a:rPr>
              <a:t>BENCHMARK PROPIO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498079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La reduccion de contexto tambien es dinero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3696" y="420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475569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7132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ptos"/>
              </a:rPr>
              <a:t>Estimacion sobre esta charla, usando caracteres/4 como aproximacion de tokens de entrada.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93392"/>
            <a:ext cx="4983480" cy="315468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 i="0">
                <a:solidFill>
                  <a:srgbClr val="B42318"/>
                </a:solidFill>
                <a:latin typeface="Georgia"/>
              </a:rPr>
              <a:t>Si cada fase recibe 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71216"/>
            <a:ext cx="2011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4200" b="1" i="0">
                <a:solidFill>
                  <a:srgbClr val="B42318"/>
                </a:solidFill>
                <a:latin typeface="Georgia"/>
              </a:rPr>
              <a:t>43.4K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3136392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  <a:latin typeface="Aptos"/>
              </a:rPr>
              <a:t>tokens input aprox.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840480"/>
            <a:ext cx="3520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4 fases x paquete completo de specs + notas.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4443984"/>
            <a:ext cx="4096512" cy="32918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993392"/>
            <a:ext cx="4983480" cy="315468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286000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 i="0">
                <a:solidFill>
                  <a:srgbClr val="2D6A4F"/>
                </a:solidFill>
                <a:latin typeface="Georgia"/>
              </a:rPr>
              <a:t>Si cada fase recibe su contrato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71216"/>
            <a:ext cx="2011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4200" b="1" i="0">
                <a:solidFill>
                  <a:srgbClr val="2D6A4F"/>
                </a:solidFill>
                <a:latin typeface="Georgia"/>
              </a:rPr>
              <a:t>13.0K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136392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  <a:latin typeface="Aptos"/>
              </a:rPr>
              <a:t>tokens input aprox.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6" y="3840480"/>
            <a:ext cx="3520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Research, narrativa, build y review con artefactos acotados.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57416" y="4443984"/>
            <a:ext cx="1225296" cy="32918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46120" y="5266944"/>
            <a:ext cx="5815584" cy="621792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5449824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50" b="1" i="0">
                <a:solidFill>
                  <a:srgbClr val="FFFDF8"/>
                </a:solidFill>
                <a:latin typeface="Georgia"/>
              </a:rPr>
              <a:t>70% menos input reinyectado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486400"/>
            <a:ext cx="1920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1" i="0">
                <a:solidFill>
                  <a:srgbClr val="E07A3F"/>
                </a:solidFill>
                <a:latin typeface="Aptos"/>
              </a:rPr>
              <a:t>~30K tokens ahorrados por corrida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016752"/>
            <a:ext cx="11064240" cy="329184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6080760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Aptos"/>
              </a:rPr>
              <a:t>A $0.50-$5.00 por 1M tokens input, 1,000 corridas similares implican ~$15-$152 solo en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92608"/>
            <a:ext cx="621792" cy="640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475569"/>
                </a:solidFill>
                <a:latin typeface="Aptos"/>
              </a:rPr>
              <a:t>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Separar fases cambia que se puede revisar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3696" y="420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475569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92608" cy="29260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1051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Georgia"/>
              </a:rPr>
              <a:t>Fuente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828800"/>
            <a:ext cx="6035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40" b="0" i="0">
                <a:solidFill>
                  <a:srgbClr val="475569"/>
                </a:solidFill>
                <a:latin typeface="Aptos"/>
              </a:rPr>
              <a:t>claims sensibles visibles antes de disenar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78608"/>
            <a:ext cx="292608" cy="2926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560320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Georgia"/>
              </a:rPr>
              <a:t>Narrativa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578608"/>
            <a:ext cx="6035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40" b="0" i="0">
                <a:solidFill>
                  <a:srgbClr val="475569"/>
                </a:solidFill>
                <a:latin typeface="Aptos"/>
              </a:rPr>
              <a:t>cada slide tiene tesis y 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28415"/>
            <a:ext cx="292608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310127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Georgia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328415"/>
            <a:ext cx="6035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40" b="0" i="0">
                <a:solidFill>
                  <a:srgbClr val="475569"/>
                </a:solidFill>
                <a:latin typeface="Aptos"/>
              </a:rPr>
              <a:t>PPT editable, no captura estatica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078224"/>
            <a:ext cx="292608" cy="29260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059936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Georgia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078224"/>
            <a:ext cx="6035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40" b="0" i="0">
                <a:solidFill>
                  <a:srgbClr val="475569"/>
                </a:solidFill>
                <a:latin typeface="Aptos"/>
              </a:rPr>
              <a:t>texto, render, cierre y evidencia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5074920"/>
            <a:ext cx="10012680" cy="566928"/>
          </a:xfrm>
          <a:prstGeom prst="roundRect">
            <a:avLst>
              <a:gd name="adj" fmla="val 4000"/>
            </a:avLst>
          </a:prstGeom>
          <a:solidFill>
            <a:srgbClr val="E9E7DE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5257800"/>
            <a:ext cx="93268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 i="0">
                <a:solidFill>
                  <a:srgbClr val="102A43"/>
                </a:solidFill>
                <a:latin typeface="Georgia"/>
              </a:rPr>
              <a:t>La review deja de ser una opinion final: se vuelve evidencia acumulada por fase.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016752"/>
            <a:ext cx="11064240" cy="329184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80760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Aptos"/>
              </a:rPr>
              <a:t>El beneficio no es solo costo. Es capacidad de detectar errores 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92608"/>
            <a:ext cx="621792" cy="640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475569"/>
                </a:solidFill>
                <a:latin typeface="Aptos"/>
              </a:rPr>
              <a:t>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SDD falla cuando el contrato cuesta mas que el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3696" y="420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475569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3063240" cy="352044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74519"/>
            <a:ext cx="306324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011680"/>
            <a:ext cx="256032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FFFDF8"/>
                </a:solidFill>
                <a:latin typeface="Aptos"/>
              </a:rPr>
              <a:t>Usar full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825496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249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tesis incierta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282696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1821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claims sensibles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739896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6393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alto costo de error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197096"/>
            <a:ext cx="73152" cy="7315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0965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artefacto importante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1874519"/>
            <a:ext cx="3063240" cy="352044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25696" y="1874519"/>
            <a:ext cx="3063240" cy="45720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011680"/>
            <a:ext cx="256032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FFFDF8"/>
                </a:solidFill>
                <a:latin typeface="Aptos"/>
              </a:rPr>
              <a:t>Usar compact</a:t>
            </a:r>
          </a:p>
        </p:txBody>
      </p:sp>
      <p:sp>
        <p:nvSpPr>
          <p:cNvPr id="20" name="Oval 19"/>
          <p:cNvSpPr/>
          <p:nvPr/>
        </p:nvSpPr>
        <p:spPr>
          <a:xfrm>
            <a:off x="4809744" y="2825496"/>
            <a:ext cx="73152" cy="73152"/>
          </a:xfrm>
          <a:prstGeom prst="ellipse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27249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framing claro</a:t>
            </a:r>
          </a:p>
        </p:txBody>
      </p:sp>
      <p:sp>
        <p:nvSpPr>
          <p:cNvPr id="22" name="Oval 21"/>
          <p:cNvSpPr/>
          <p:nvPr/>
        </p:nvSpPr>
        <p:spPr>
          <a:xfrm>
            <a:off x="4809744" y="3282696"/>
            <a:ext cx="73152" cy="73152"/>
          </a:xfrm>
          <a:prstGeom prst="ellipse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31821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pocas fuentes</a:t>
            </a:r>
          </a:p>
        </p:txBody>
      </p:sp>
      <p:sp>
        <p:nvSpPr>
          <p:cNvPr id="24" name="Oval 23"/>
          <p:cNvSpPr/>
          <p:nvPr/>
        </p:nvSpPr>
        <p:spPr>
          <a:xfrm>
            <a:off x="4809744" y="3739896"/>
            <a:ext cx="73152" cy="73152"/>
          </a:xfrm>
          <a:prstGeom prst="ellipse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4336" y="36393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riesgo moderado</a:t>
            </a:r>
          </a:p>
        </p:txBody>
      </p:sp>
      <p:sp>
        <p:nvSpPr>
          <p:cNvPr id="26" name="Oval 25"/>
          <p:cNvSpPr/>
          <p:nvPr/>
        </p:nvSpPr>
        <p:spPr>
          <a:xfrm>
            <a:off x="4809744" y="4197096"/>
            <a:ext cx="73152" cy="73152"/>
          </a:xfrm>
          <a:prstGeom prst="ellipse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74336" y="40965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build rapido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1874519"/>
            <a:ext cx="3063240" cy="352044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1874519"/>
            <a:ext cx="3063240" cy="4572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1" y="2011680"/>
            <a:ext cx="256032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FFFDF8"/>
                </a:solidFill>
                <a:latin typeface="Aptos"/>
              </a:rPr>
              <a:t>Evitar overhead</a:t>
            </a:r>
          </a:p>
        </p:txBody>
      </p:sp>
      <p:sp>
        <p:nvSpPr>
          <p:cNvPr id="31" name="Oval 30"/>
          <p:cNvSpPr/>
          <p:nvPr/>
        </p:nvSpPr>
        <p:spPr>
          <a:xfrm>
            <a:off x="8522207" y="2825496"/>
            <a:ext cx="73152" cy="73152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799" y="27249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tarea minima</a:t>
            </a:r>
          </a:p>
        </p:txBody>
      </p:sp>
      <p:sp>
        <p:nvSpPr>
          <p:cNvPr id="33" name="Oval 32"/>
          <p:cNvSpPr/>
          <p:nvPr/>
        </p:nvSpPr>
        <p:spPr>
          <a:xfrm>
            <a:off x="8522207" y="3282696"/>
            <a:ext cx="73152" cy="73152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799" y="31821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sin handoff</a:t>
            </a:r>
          </a:p>
        </p:txBody>
      </p:sp>
      <p:sp>
        <p:nvSpPr>
          <p:cNvPr id="35" name="Oval 34"/>
          <p:cNvSpPr/>
          <p:nvPr/>
        </p:nvSpPr>
        <p:spPr>
          <a:xfrm>
            <a:off x="8522207" y="3739896"/>
            <a:ext cx="73152" cy="73152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799" y="36393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sin decision material</a:t>
            </a:r>
          </a:p>
        </p:txBody>
      </p:sp>
      <p:sp>
        <p:nvSpPr>
          <p:cNvPr id="37" name="Oval 36"/>
          <p:cNvSpPr/>
          <p:nvPr/>
        </p:nvSpPr>
        <p:spPr>
          <a:xfrm>
            <a:off x="8522207" y="4197096"/>
            <a:ext cx="73152" cy="73152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799" y="4096512"/>
            <a:ext cx="2029967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0F172A"/>
                </a:solidFill>
                <a:latin typeface="Aptos"/>
              </a:rPr>
              <a:t>mejor respuesta directa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016752"/>
            <a:ext cx="11064240" cy="329184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6080760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Aptos"/>
              </a:rPr>
              <a:t>La metodologia debe ser proporcional al costo de equivocarse.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92608"/>
            <a:ext cx="621792" cy="64008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80" b="1" i="0">
                <a:solidFill>
                  <a:srgbClr val="475569"/>
                </a:solidFill>
                <a:latin typeface="Aptos"/>
              </a:rPr>
              <a:t>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Como empezar sin convertirlo en burocracia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3696" y="420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475569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3246120" cy="3401568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57984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FFFDF8"/>
                </a:solidFill>
                <a:latin typeface="Georgia"/>
              </a:rPr>
              <a:t>Primer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834640"/>
            <a:ext cx="22402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E9E7DE"/>
                </a:solidFill>
                <a:latin typeface="Aptos"/>
              </a:rPr>
              <a:t>Un spec de una pagina: objetivo, input minimo, output esperado y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4315968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1" i="0">
                <a:solidFill>
                  <a:srgbClr val="E07A3F"/>
                </a:solidFill>
                <a:latin typeface="Aptos"/>
              </a:rPr>
              <a:t>Si no cabe en una pagina, aun no esta listo para delegar.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65376"/>
            <a:ext cx="420624" cy="42062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984248"/>
            <a:ext cx="146304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FFFDF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1901952"/>
            <a:ext cx="3931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Georgia"/>
              </a:rPr>
              <a:t>Elegir fase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651760"/>
            <a:ext cx="420624" cy="420624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770632"/>
            <a:ext cx="146304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FFFDF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688336"/>
            <a:ext cx="3931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Georgia"/>
              </a:rPr>
              <a:t>Recortar contexto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438144"/>
            <a:ext cx="420624" cy="42062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557015"/>
            <a:ext cx="146304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FFFDF8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474720"/>
            <a:ext cx="3931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Georgia"/>
              </a:rPr>
              <a:t>Pedir artefacto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224528"/>
            <a:ext cx="420624" cy="42062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343400"/>
            <a:ext cx="146304" cy="91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FFFDF8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4261104"/>
            <a:ext cx="3931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Georgia"/>
              </a:rPr>
              <a:t>Revisar con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016752"/>
            <a:ext cx="11064240" cy="329184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6080760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Aptos"/>
              </a:rPr>
              <a:t>Empieza con menos pasos, no con mas agentes.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-background-sty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371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 i="0">
                <a:solidFill>
                  <a:srgbClr val="E07A3F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544068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 i="0">
                <a:solidFill>
                  <a:srgbClr val="FFFDF8"/>
                </a:solidFill>
                <a:latin typeface="Georgia"/>
              </a:rPr>
              <a:t>No delegues memoria. Delega contratos.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407408"/>
            <a:ext cx="507492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E9E7DE"/>
                </a:solidFill>
                <a:latin typeface="Aptos"/>
              </a:rPr>
              <a:t>El futuro del trabajo con IA no es hablar mas largo; es entregar unidades de trabajo mas claras, mas baratas y mas revisables.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419088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1" i="0">
                <a:solidFill>
                  <a:srgbClr val="CFCBC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