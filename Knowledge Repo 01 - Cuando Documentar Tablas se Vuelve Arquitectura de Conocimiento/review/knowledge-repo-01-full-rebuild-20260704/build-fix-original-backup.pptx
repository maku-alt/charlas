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9b1441d2f74d8f" /><Relationship Type="http://schemas.openxmlformats.org/officeDocument/2006/relationships/extended-properties" Target="/docProps/app.xml" Id="Rd53c7b4e6b8a4421" /><Relationship Type="http://schemas.openxmlformats.org/officeDocument/2006/relationships/officeDocument" Target="/ppt/presentation.xml" Id="R123bc20a5b5245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1773bc7ce940d0"/>
  </p:sldMasterIdLst>
  <p:notesMasterIdLst>
    <p:notesMasterId xmlns:r="http://schemas.openxmlformats.org/officeDocument/2006/relationships" r:id="R98e84244fe6946e9"/>
  </p:notesMasterIdLst>
  <p:sldIdLst>
    <p:sldId xmlns:r="http://schemas.openxmlformats.org/officeDocument/2006/relationships" id="256" r:id="Ra0c8864bd43d4aa7"/>
    <p:sldId xmlns:r="http://schemas.openxmlformats.org/officeDocument/2006/relationships" id="257" r:id="R2b629d3bcc3542da"/>
    <p:sldId xmlns:r="http://schemas.openxmlformats.org/officeDocument/2006/relationships" id="258" r:id="Rf76530482e6148b8"/>
    <p:sldId xmlns:r="http://schemas.openxmlformats.org/officeDocument/2006/relationships" id="259" r:id="Rbee5a18237d44044"/>
    <p:sldId xmlns:r="http://schemas.openxmlformats.org/officeDocument/2006/relationships" id="260" r:id="R048ab54897ec4e26"/>
    <p:sldId xmlns:r="http://schemas.openxmlformats.org/officeDocument/2006/relationships" id="261" r:id="Rb230352b6f9f48a8"/>
    <p:sldId xmlns:r="http://schemas.openxmlformats.org/officeDocument/2006/relationships" id="262" r:id="R65d1b8719e83474b"/>
    <p:sldId xmlns:r="http://schemas.openxmlformats.org/officeDocument/2006/relationships" id="263" r:id="R17046ec314a04bdf"/>
    <p:sldId xmlns:r="http://schemas.openxmlformats.org/officeDocument/2006/relationships" id="264" r:id="Rb2cbd8170de34dc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816f051a324a0f" /><Relationship Type="http://schemas.openxmlformats.org/officeDocument/2006/relationships/slideMaster" Target="/ppt/slideMasters/slideMaster1.xml" Id="R301773bc7ce940d0" /><Relationship Type="http://schemas.openxmlformats.org/officeDocument/2006/relationships/notesMaster" Target="/ppt/notesMasters/notesMaster1.xml" Id="R98e84244fe6946e9" /><Relationship Type="http://schemas.openxmlformats.org/officeDocument/2006/relationships/presProps" Target="/ppt/presProps.xml" Id="Ra733f424b9bc4ad1" /><Relationship Type="http://schemas.openxmlformats.org/officeDocument/2006/relationships/tableStyles" Target="/ppt/tableStyles.xml" Id="R06342f7176524c5c" /><Relationship Type="http://schemas.openxmlformats.org/officeDocument/2006/relationships/slide" Target="/ppt/slides/slide1.xml" Id="Ra0c8864bd43d4aa7" /><Relationship Type="http://schemas.openxmlformats.org/officeDocument/2006/relationships/slide" Target="/ppt/slides/slide2.xml" Id="R2b629d3bcc3542da" /><Relationship Type="http://schemas.openxmlformats.org/officeDocument/2006/relationships/slide" Target="/ppt/slides/slide3.xml" Id="Rf76530482e6148b8" /><Relationship Type="http://schemas.openxmlformats.org/officeDocument/2006/relationships/slide" Target="/ppt/slides/slide4.xml" Id="Rbee5a18237d44044" /><Relationship Type="http://schemas.openxmlformats.org/officeDocument/2006/relationships/slide" Target="/ppt/slides/slide5.xml" Id="R048ab54897ec4e26" /><Relationship Type="http://schemas.openxmlformats.org/officeDocument/2006/relationships/slide" Target="/ppt/slides/slide6.xml" Id="Rb230352b6f9f48a8" /><Relationship Type="http://schemas.openxmlformats.org/officeDocument/2006/relationships/slide" Target="/ppt/slides/slide7.xml" Id="R65d1b8719e83474b" /><Relationship Type="http://schemas.openxmlformats.org/officeDocument/2006/relationships/slide" Target="/ppt/slides/slide8.xml" Id="R17046ec314a04bdf" /><Relationship Type="http://schemas.openxmlformats.org/officeDocument/2006/relationships/slide" Target="/ppt/slides/slide9.xml" Id="Rb2cbd8170de34d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c9a46aec224f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8568" dir="4721404">
              <a:srgbClr val="0F172A">
                <a:alpha val="13000"/>
              </a:srgbClr>
            </a:outerShdw>
          </a:effectLst>
        </a:effectStyle>
        <a:effectStyle>
          <a:effectLst>
            <a:outerShdw blurRad="95250" dist="39273" dir="4557825">
              <a:srgbClr val="0F172A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fa91bf9bb64051" /><Relationship Type="http://schemas.openxmlformats.org/officeDocument/2006/relationships/notesMaster" Target="/ppt/notesMasters/notesMaster1.xml" Id="R547d0224c46647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c229f0d2974cec" /><Relationship Type="http://schemas.openxmlformats.org/officeDocument/2006/relationships/notesMaster" Target="/ppt/notesMasters/notesMaster1.xml" Id="Rd67f50bab9e646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5712fa54ce4dbe" /><Relationship Type="http://schemas.openxmlformats.org/officeDocument/2006/relationships/notesMaster" Target="/ppt/notesMasters/notesMaster1.xml" Id="R8d0b059f3a5444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ace5ab302d45e4" /><Relationship Type="http://schemas.openxmlformats.org/officeDocument/2006/relationships/notesMaster" Target="/ppt/notesMasters/notesMaster1.xml" Id="R6f198ea7f9334f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8d31165ed74ff4" /><Relationship Type="http://schemas.openxmlformats.org/officeDocument/2006/relationships/notesMaster" Target="/ppt/notesMasters/notesMaster1.xml" Id="R6540077dfd5248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201fe2a0824118" /><Relationship Type="http://schemas.openxmlformats.org/officeDocument/2006/relationships/notesMaster" Target="/ppt/notesMasters/notesMaster1.xml" Id="R0d7795dc42784a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e36e72b0434935" /><Relationship Type="http://schemas.openxmlformats.org/officeDocument/2006/relationships/notesMaster" Target="/ppt/notesMasters/notesMaster1.xml" Id="R54a27eec6bc94c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69606e2e704e4b" /><Relationship Type="http://schemas.openxmlformats.org/officeDocument/2006/relationships/notesMaster" Target="/ppt/notesMasters/notesMaster1.xml" Id="Rd548ea64d57e47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1a5dd9948040cd" /><Relationship Type="http://schemas.openxmlformats.org/officeDocument/2006/relationships/notesMaster" Target="/ppt/notesMasters/notesMaster1.xml" Id="Rf3e14d5bb5f44e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e11415baff46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04469bef9c42cd" /><Relationship Type="http://schemas.openxmlformats.org/officeDocument/2006/relationships/slideLayout" Target="/ppt/slideLayouts/slideLayout1.xml" Id="R42f59de5571e49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f59de5571e49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8568" dir="4721404">
              <a:srgbClr val="0F172A">
                <a:alpha val="13000"/>
              </a:srgbClr>
            </a:outerShdw>
          </a:effectLst>
        </a:effectStyle>
        <a:effectStyle>
          <a:effectLst>
            <a:outerShdw blurRad="95250" dist="39273" dir="4557825">
              <a:srgbClr val="0F172A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20dbb489ef4a77" /><Relationship Type="http://schemas.openxmlformats.org/officeDocument/2006/relationships/notesSlide" Target="/ppt/notesSlides/notesSlide1.xml" Id="R69dfc39b20dd44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da8d9e13f42c3" /><Relationship Type="http://schemas.openxmlformats.org/officeDocument/2006/relationships/notesSlide" Target="/ppt/notesSlides/notesSlide2.xml" Id="Rb6918a29a0604b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b606c218a4f62" /><Relationship Type="http://schemas.openxmlformats.org/officeDocument/2006/relationships/notesSlide" Target="/ppt/notesSlides/notesSlide3.xml" Id="Rf5a58f35dd4b46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adfa971ed409c" /><Relationship Type="http://schemas.openxmlformats.org/officeDocument/2006/relationships/notesSlide" Target="/ppt/notesSlides/notesSlide4.xml" Id="R9aa4d3f407d940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4ab08091374400" /><Relationship Type="http://schemas.openxmlformats.org/officeDocument/2006/relationships/notesSlide" Target="/ppt/notesSlides/notesSlide5.xml" Id="Rf3c1f9438eea4c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d2f5b8ff044db" /><Relationship Type="http://schemas.openxmlformats.org/officeDocument/2006/relationships/notesSlide" Target="/ppt/notesSlides/notesSlide6.xml" Id="R4d431176dcb142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898d045fa4b2b" /><Relationship Type="http://schemas.openxmlformats.org/officeDocument/2006/relationships/notesSlide" Target="/ppt/notesSlides/notesSlide7.xml" Id="R617106f305e04d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1d19ab33342de" /><Relationship Type="http://schemas.openxmlformats.org/officeDocument/2006/relationships/notesSlide" Target="/ppt/notesSlides/notesSlide8.xml" Id="Ra8e4ad78395c42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16933798c140e7" /><Relationship Type="http://schemas.openxmlformats.org/officeDocument/2006/relationships/image" Target="/ppt/media/image.png" Id="R2d670cd7de00432c" /><Relationship Type="http://schemas.openxmlformats.org/officeDocument/2006/relationships/notesSlide" Target="/ppt/notesSlides/notesSlide9.xml" Id="R9f988e571da941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48AC4A-D4FC-4BB9-8A83-26FFF313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33B5F9-8324-4157-AFBF-5697515C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14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E8045-2591-485E-B542-56AB62A8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EADBC8"/>
                </a:solidFill>
              </a:defRPr>
            </a:pPr>
            <a:r>
              <a:rPr sz="1050" b="1" i="0">
                <a:solidFill>
                  <a:srgbClr val="EADBC8"/>
                </a:solidFill>
              </a:rPr>
              <a:t>TESIS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DB35E-A609-40B6-9B95-0599932D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519112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0" i="0">
                <a:solidFill>
                  <a:srgbClr val="FFFDF8"/>
                </a:solidFill>
              </a:defRPr>
            </a:pPr>
            <a:r>
              <a:rPr sz="3300" b="0" i="0">
                <a:solidFill>
                  <a:srgbClr val="FFFDF8"/>
                </a:solidFill>
              </a:rPr>
              <a:t>Documentar tablas deja de ser documentacion cuando el equipo necesita memoria comun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E76883-FC56-4118-AF50-ECC32DC5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D7E0EA"/>
                </a:solidFill>
              </a:defRPr>
            </a:pPr>
            <a:r>
              <a:rPr sz="1650" b="0" i="0">
                <a:solidFill>
                  <a:srgbClr val="D7E0EA"/>
                </a:solidFill>
              </a:rPr>
              <a:t>El problema no es escribir mas; es conectar y mantener lo que el equipo ya sabe.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C3FA20-53A9-43F5-9E8A-CC879546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457950" y="2428875"/>
            <a:ext cx="1876425" cy="2181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5C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A0E92F-785A-4DA8-8CB0-BFD95CA1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504825" cy="2428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D6A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878FBC-0D89-4E08-8CEA-DF6E394E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2219325" cy="1476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07A3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AC5F34-8D6D-46AE-9351-FA94CD00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334375" y="990600"/>
            <a:ext cx="1457325" cy="1438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4231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BDBB62-92B1-4B25-90E2-F7EDF23E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286500" y="1162050"/>
            <a:ext cx="2047875" cy="126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ADB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E539CA-28C1-4727-954E-57EE8520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352550"/>
            <a:ext cx="3143250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6C8B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62A44C-D454-4F94-A3C1-B5FA74E7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5430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0F172A"/>
                </a:solidFill>
              </a:defRPr>
            </a:pPr>
            <a:r>
              <a:rPr sz="1875" b="1" i="0">
                <a:solidFill>
                  <a:srgbClr val="0F172A"/>
                </a:solidFill>
              </a:rPr>
              <a:t>clientes.md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C8E456-53FB-46BE-BABC-37A6D5E7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00250"/>
            <a:ext cx="2686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9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E4DB9B-3D79-4497-A39F-57571D21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288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475569"/>
                </a:solidFill>
              </a:defRPr>
            </a:pPr>
            <a:r>
              <a:rPr sz="825" b="1" i="0">
                <a:solidFill>
                  <a:srgbClr val="475569"/>
                </a:solidFill>
              </a:rPr>
              <a:t>owner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CFDA72-8132-4985-896C-B221D14A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193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2D6A4F"/>
                </a:solidFill>
              </a:defRPr>
            </a:pPr>
            <a:r>
              <a:rPr sz="1275" b="1" i="0">
                <a:solidFill>
                  <a:srgbClr val="2D6A4F"/>
                </a:solidFill>
              </a:rPr>
              <a:t>growth-data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6E8648-8D46-4A0A-9446-64D47470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288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475569"/>
                </a:solidFill>
              </a:defRPr>
            </a:pPr>
            <a:r>
              <a:rPr sz="825" b="1" i="0">
                <a:solidFill>
                  <a:srgbClr val="475569"/>
                </a:solidFill>
              </a:rPr>
              <a:t>freshness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8842D8-80FF-4ECF-88EA-B2ED9AF8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193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C75C2A"/>
                </a:solidFill>
              </a:defRPr>
            </a:pPr>
            <a:r>
              <a:rPr sz="1275" b="1" i="0">
                <a:solidFill>
                  <a:srgbClr val="C75C2A"/>
                </a:solidFill>
              </a:rPr>
              <a:t>diaria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B4B8F1-AF42-4406-8895-6995C850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194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475569"/>
                </a:solidFill>
              </a:defRPr>
            </a:pPr>
            <a:r>
              <a:rPr sz="825" b="1" i="0">
                <a:solidFill>
                  <a:srgbClr val="475569"/>
                </a:solidFill>
              </a:rPr>
              <a:t>uso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225CB9-A178-4672-8553-81145847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099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0F172A"/>
                </a:solidFill>
              </a:defRPr>
            </a:pPr>
            <a:r>
              <a:rPr sz="1275" b="1" i="0">
                <a:solidFill>
                  <a:srgbClr val="0F172A"/>
                </a:solidFill>
              </a:rPr>
              <a:t>churn / ventas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16ABE3-A10C-4A56-93F7-89984343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38650"/>
            <a:ext cx="1257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5C2A"/>
          </a:solidFill>
          <a:ln xmlns:a="http://schemas.openxmlformats.org/drawingml/2006/main" w="9525">
            <a:solidFill>
              <a:srgbClr val="C75C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DF8"/>
                </a:solidFill>
              </a:defRPr>
            </a:pPr>
            <a:r>
              <a:rPr sz="1050" b="1">
                <a:solidFill>
                  <a:srgbClr val="FFFDF8"/>
                </a:solidFill>
              </a:rPr>
              <a:t>metricas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3651EE-3C40-4870-94B5-B3D486F9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86300"/>
            <a:ext cx="1257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6A4F"/>
          </a:solidFill>
          <a:ln xmlns:a="http://schemas.openxmlformats.org/drawingml/2006/main" w="9525">
            <a:solidFill>
              <a:srgbClr val="2D6A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DF8"/>
                </a:solidFill>
              </a:defRPr>
            </a:pPr>
            <a:r>
              <a:rPr sz="1050" b="1">
                <a:solidFill>
                  <a:srgbClr val="FFFDF8"/>
                </a:solidFill>
              </a:rPr>
              <a:t>decisiones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A4AB09-EB3F-477B-B08D-5366A0D4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33800"/>
            <a:ext cx="1257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7A3F"/>
          </a:solidFill>
          <a:ln xmlns:a="http://schemas.openxmlformats.org/drawingml/2006/main" w="9525">
            <a:solidFill>
              <a:srgbClr val="E07A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DF8"/>
                </a:solidFill>
              </a:defRPr>
            </a:pPr>
            <a:r>
              <a:rPr sz="1050" b="1">
                <a:solidFill>
                  <a:srgbClr val="FFFDF8"/>
                </a:solidFill>
              </a:rPr>
              <a:t>owners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53FAEB-11E5-4E07-80A0-7C482555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819150"/>
            <a:ext cx="1257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DF8"/>
                </a:solidFill>
              </a:defRPr>
            </a:pPr>
            <a:r>
              <a:rPr sz="1050" b="1">
                <a:solidFill>
                  <a:srgbClr val="FFFDF8"/>
                </a:solidFill>
              </a:rPr>
              <a:t>riesgos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655253-DC0B-4757-9183-3F9F9311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990600"/>
            <a:ext cx="1257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DBC8"/>
          </a:solidFill>
          <a:ln xmlns:a="http://schemas.openxmlformats.org/drawingml/2006/main" w="9525">
            <a:solidFill>
              <a:srgbClr val="EADBC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dashboards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95B662-3FA6-42D0-9250-83883737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D7E0EA"/>
                </a:solidFill>
              </a:defRPr>
            </a:pPr>
            <a:r>
              <a:rPr sz="900" b="0" i="0">
                <a:solidFill>
                  <a:srgbClr val="D7E0EA"/>
                </a:solidFill>
              </a:rPr>
              <a:t>Knowledge Repo 01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9515BA-0011-43C0-A75B-3B13ADB1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D7E0EA"/>
                </a:solidFill>
              </a:defRPr>
            </a:pPr>
            <a:r>
              <a:rPr sz="900" b="1" i="0">
                <a:solidFill>
                  <a:srgbClr val="D7E0EA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509853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44068B-94A3-43EC-A92C-17997B02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66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C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514E1A-BFFE-4109-AD94-EBE29CCB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C75C2A"/>
                </a:solidFill>
              </a:defRPr>
            </a:pPr>
            <a:r>
              <a:rPr sz="975" b="1" i="0">
                <a:solidFill>
                  <a:srgbClr val="C75C2A"/>
                </a:solidFill>
              </a:rPr>
              <a:t>BASELINE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E2BF71-6B81-4AC3-A2FE-CD79E94D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0" i="0">
                <a:solidFill>
                  <a:srgbClr val="0F172A"/>
                </a:solidFill>
              </a:defRPr>
            </a:pPr>
            <a:r>
              <a:rPr sz="2625" b="0" i="0">
                <a:solidFill>
                  <a:srgbClr val="0F172A"/>
                </a:solidFill>
              </a:rPr>
              <a:t>Markdown es el primer ladrillo correcto, pero no define el edificio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231DF0-7D88-4ED2-83A8-EC13708A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4762500" cy="314325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6C8B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19307B-5641-488C-9ED1-E4B677F5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9555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F172A"/>
                </a:solidFill>
              </a:defRPr>
            </a:pPr>
            <a:r>
              <a:rPr sz="1800" b="1" i="0">
                <a:solidFill>
                  <a:srgbClr val="0F172A"/>
                </a:solidFill>
              </a:rPr>
              <a:t>clientes.md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3922D-E468-43EB-B705-19CF3DAB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0"/>
            <a:ext cx="4305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9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DFD704-EA86-4128-B57E-3DB24729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19450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0F172A"/>
                </a:solidFill>
              </a:defRPr>
            </a:pPr>
            <a:r>
              <a:rPr sz="1425" b="0" i="0">
                <a:solidFill>
                  <a:srgbClr val="0F172A"/>
                </a:solidFill>
              </a:rPr>
              <a:t>descripcion: clientes activos y prospectos</a:t>
            </a:r>
          </a:p>
          <a:p xmlns:a="http://schemas.openxmlformats.org/drawingml/2006/main">
            <a:pPr>
              <a:defRPr sz="1425" b="0" i="0">
                <a:solidFill>
                  <a:srgbClr val="0F172A"/>
                </a:solidFill>
              </a:defRPr>
            </a:pPr>
            <a:r>
              <a:rPr sz="1425" b="0" i="0">
                <a:solidFill>
                  <a:srgbClr val="0F172A"/>
                </a:solidFill>
              </a:rPr>
              <a:t>columnas: cliente_id, segmento, alta, estado</a:t>
            </a:r>
          </a:p>
          <a:p xmlns:a="http://schemas.openxmlformats.org/drawingml/2006/main">
            <a:pPr>
              <a:defRPr sz="1425" b="0" i="0">
                <a:solidFill>
                  <a:srgbClr val="0F172A"/>
                </a:solidFill>
              </a:defRPr>
            </a:pPr>
            <a:r>
              <a:rPr sz="1425" b="0" i="0">
                <a:solidFill>
                  <a:srgbClr val="0F172A"/>
                </a:solidFill>
              </a:rPr>
              <a:t>usos: churn, ventas, soporte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271761-F92A-4D6A-8285-BD87D6A4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C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EB8D99-951C-4044-A458-1929BC55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479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2D6A4F"/>
                </a:solidFill>
              </a:defRPr>
            </a:pPr>
            <a:r>
              <a:rPr sz="1500" b="1" i="0">
                <a:solidFill>
                  <a:srgbClr val="2D6A4F"/>
                </a:solidFill>
              </a:rPr>
              <a:t>Aporta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425776-7E34-417B-8601-A601DAB1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2890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0F172A"/>
                </a:solidFill>
              </a:defRPr>
            </a:pPr>
            <a:r>
              <a:rPr sz="1875" b="0" i="0">
                <a:solidFill>
                  <a:srgbClr val="0F172A"/>
                </a:solidFill>
              </a:rPr>
              <a:t>portabilidad</a:t>
            </a:r>
          </a:p>
          <a:p xmlns:a="http://schemas.openxmlformats.org/drawingml/2006/main">
            <a:pPr>
              <a:defRPr sz="1875" b="0" i="0">
                <a:solidFill>
                  <a:srgbClr val="0F172A"/>
                </a:solidFill>
              </a:defRPr>
            </a:pPr>
            <a:r>
              <a:rPr sz="1875" b="0" i="0">
                <a:solidFill>
                  <a:srgbClr val="0F172A"/>
                </a:solidFill>
              </a:rPr>
              <a:t>lectura humana</a:t>
            </a:r>
          </a:p>
          <a:p xmlns:a="http://schemas.openxmlformats.org/drawingml/2006/main">
            <a:pPr>
              <a:defRPr sz="1875" b="0" i="0">
                <a:solidFill>
                  <a:srgbClr val="0F172A"/>
                </a:solidFill>
              </a:defRPr>
            </a:pPr>
            <a:r>
              <a:rPr sz="1875" b="0" i="0">
                <a:solidFill>
                  <a:srgbClr val="0F172A"/>
                </a:solidFill>
              </a:rPr>
              <a:t>versionado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9AC845-769F-454E-BA09-6886E889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386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C75C2A"/>
                </a:solidFill>
              </a:defRPr>
            </a:pPr>
            <a:r>
              <a:rPr sz="1500" b="1" i="0">
                <a:solidFill>
                  <a:srgbClr val="C75C2A"/>
                </a:solidFill>
              </a:rPr>
              <a:t>Todavia no aporta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0504DA-42FE-4FED-A791-45C060B8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1960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0F172A"/>
                </a:solidFill>
              </a:defRPr>
            </a:pPr>
            <a:r>
              <a:rPr sz="1875" b="0" i="0">
                <a:solidFill>
                  <a:srgbClr val="0F172A"/>
                </a:solidFill>
              </a:rPr>
              <a:t>ownership</a:t>
            </a:r>
          </a:p>
          <a:p xmlns:a="http://schemas.openxmlformats.org/drawingml/2006/main">
            <a:pPr>
              <a:defRPr sz="1875" b="0" i="0">
                <a:solidFill>
                  <a:srgbClr val="0F172A"/>
                </a:solidFill>
              </a:defRPr>
            </a:pPr>
            <a:r>
              <a:rPr sz="1875" b="0" i="0">
                <a:solidFill>
                  <a:srgbClr val="0F172A"/>
                </a:solidFill>
              </a:rPr>
              <a:t>vigencia</a:t>
            </a:r>
          </a:p>
          <a:p xmlns:a="http://schemas.openxmlformats.org/drawingml/2006/main">
            <a:pPr>
              <a:defRPr sz="1875" b="0" i="0">
                <a:solidFill>
                  <a:srgbClr val="0F172A"/>
                </a:solidFill>
              </a:defRPr>
            </a:pPr>
            <a:r>
              <a:rPr sz="1875" b="0" i="0">
                <a:solidFill>
                  <a:srgbClr val="0F172A"/>
                </a:solidFill>
              </a:rPr>
              <a:t>relaciones</a:t>
            </a:r>
          </a:p>
          <a:p xmlns:a="http://schemas.openxmlformats.org/drawingml/2006/main">
            <a:pPr>
              <a:defRPr sz="1875" b="0" i="0">
                <a:solidFill>
                  <a:srgbClr val="0F172A"/>
                </a:solidFill>
              </a:defRPr>
            </a:pPr>
            <a:r>
              <a:rPr sz="1875" b="0" i="0">
                <a:solidFill>
                  <a:srgbClr val="0F172A"/>
                </a:solidFill>
              </a:rPr>
              <a:t>gobierno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53D881-08D0-48ED-BE33-FA3817F7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674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475569"/>
                </a:solidFill>
              </a:defRPr>
            </a:pPr>
            <a:r>
              <a:rPr sz="1500" b="0" i="0">
                <a:solidFill>
                  <a:srgbClr val="475569"/>
                </a:solidFill>
              </a:rPr>
              <a:t>Markdown es buen formato de captura; la arquitectura aparece cuando hay contrato.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49916E-C9D6-4F91-A928-53C30731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475569"/>
                </a:solidFill>
              </a:defRPr>
            </a:pPr>
            <a:r>
              <a:rPr sz="900" b="0" i="0">
                <a:solidFill>
                  <a:srgbClr val="475569"/>
                </a:solidFill>
              </a:rPr>
              <a:t>Knowledge Repo 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686458-C2FA-4722-8AE6-D4DDCA5D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475569"/>
                </a:solidFill>
              </a:defRPr>
            </a:pPr>
            <a:r>
              <a:rPr sz="900" b="1" i="0">
                <a:solidFill>
                  <a:srgbClr val="475569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198000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9776A1-9AC6-406A-B6CE-95852381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66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C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3B086A-ABCE-48C0-8127-82AC5D8E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C75C2A"/>
                </a:solidFill>
              </a:defRPr>
            </a:pPr>
            <a:r>
              <a:rPr sz="975" b="1" i="0">
                <a:solidFill>
                  <a:srgbClr val="C75C2A"/>
                </a:solidFill>
              </a:rPr>
              <a:t>FRICCION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CAC75C-7F17-462C-8507-DF99CD84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0" i="0">
                <a:solidFill>
                  <a:srgbClr val="0F172A"/>
                </a:solidFill>
              </a:defRPr>
            </a:pPr>
            <a:r>
              <a:rPr sz="2625" b="0" i="0">
                <a:solidFill>
                  <a:srgbClr val="0F172A"/>
                </a:solidFill>
              </a:rPr>
              <a:t>El dolor real aparece cuando una pregunta cruza tablas, metricas y decisiones pasadas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9CBA1E-5390-4A32-A262-44BB886F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885950" y="2705100"/>
            <a:ext cx="421005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C75C2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613FD-E795-4130-A2A7-AD070590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885950" y="3390900"/>
            <a:ext cx="4210050" cy="1371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D6A4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E4A759-E0BA-433F-8BB2-8EBC64A3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743450" y="3390900"/>
            <a:ext cx="1352550" cy="1981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B4231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C94D94-842E-4ABB-9EC5-9FAF5C75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90900"/>
            <a:ext cx="2247900" cy="1981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E07A3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69C839-E412-4ED5-B138-84321F38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96000" y="3276600"/>
            <a:ext cx="339090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B4231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4B75C4-9CEF-4D83-9804-EBD0E725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96000" y="2228850"/>
            <a:ext cx="1828800" cy="1162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D6A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9F1633-21A2-4841-9998-389D5106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210050" y="2152650"/>
            <a:ext cx="1885950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C75C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923C08-58EB-47C9-85D9-5433694A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86000"/>
            <a:ext cx="18097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5240">
            <a:solidFill>
              <a:srgbClr val="C75C2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¿puedo joinear esto</a:t>
            </a:r>
          </a:p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con ventas?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09E5A9-4E6A-44D5-8269-9E2FC3FA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43400"/>
            <a:ext cx="18097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5240">
            <a:solidFill>
              <a:srgbClr val="2D6A4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¿quien valida</a:t>
            </a:r>
          </a:p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churn?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765742-3D2F-4B7B-BB82-6F4099D9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953000"/>
            <a:ext cx="18097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5240">
            <a:solidFill>
              <a:srgbClr val="B423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¿esta columna</a:t>
            </a:r>
          </a:p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sigue vigente?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27991A-1260-4EB9-A10C-5E45C32A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953000"/>
            <a:ext cx="18097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5240">
            <a:solidFill>
              <a:srgbClr val="E07A3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¿que dashboard</a:t>
            </a:r>
          </a:p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depende de esto?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274236-6DA8-4528-B7E2-DB6438CE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57500"/>
            <a:ext cx="18097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5240">
            <a:solidFill>
              <a:srgbClr val="B423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riesgos conocidos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D34B22-4156-4EBC-978D-3A18798E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18097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5240">
            <a:solidFill>
              <a:srgbClr val="2D6A4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joins frecuentes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B531F6-E483-4965-B198-521254BB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33550"/>
            <a:ext cx="18097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5240">
            <a:solidFill>
              <a:srgbClr val="C75C2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decisiones previas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2AB9F7-7135-4DD1-929E-2258987F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71750"/>
            <a:ext cx="2952750" cy="1638300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6C8B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053824-3566-48C7-8EB3-B85B91A3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7622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0F172A"/>
                </a:solidFill>
              </a:defRPr>
            </a:pPr>
            <a:r>
              <a:rPr sz="2100" b="1" i="0">
                <a:solidFill>
                  <a:srgbClr val="0F172A"/>
                </a:solidFill>
              </a:rPr>
              <a:t>clientes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FE92BE-2873-4577-B2AC-0024F11A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19450"/>
            <a:ext cx="2495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9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6B951A-E2C8-48D5-B124-C21A9099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290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475569"/>
                </a:solidFill>
              </a:defRPr>
            </a:pPr>
            <a:r>
              <a:rPr sz="1350" b="0" i="0">
                <a:solidFill>
                  <a:srgbClr val="475569"/>
                </a:solidFill>
              </a:rPr>
              <a:t>tabla central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D4BF79-951B-4973-9114-D321EE39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864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475569"/>
                </a:solidFill>
              </a:defRPr>
            </a:pPr>
            <a:r>
              <a:rPr sz="1500" b="0" i="0">
                <a:solidFill>
                  <a:srgbClr val="475569"/>
                </a:solidFill>
              </a:rPr>
              <a:t>La unidad de valor deja de ser la ficha; pasa a ser la red de contexto que permite decidir.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5D5A7B-DC2C-46F0-BF4A-7D1891E7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475569"/>
                </a:solidFill>
              </a:defRPr>
            </a:pPr>
            <a:r>
              <a:rPr sz="900" b="0" i="0">
                <a:solidFill>
                  <a:srgbClr val="475569"/>
                </a:solidFill>
              </a:rPr>
              <a:t>Knowledge Repo 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764CE2-40C3-4A55-8BC6-334F0065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475569"/>
                </a:solidFill>
              </a:defRPr>
            </a:pPr>
            <a:r>
              <a:rPr sz="900" b="1" i="0">
                <a:solidFill>
                  <a:srgbClr val="475569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132276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E2A0BF-423A-4503-B177-539CF62A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66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C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6405D-C235-4AFB-B630-8D147E04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C75C2A"/>
                </a:solidFill>
              </a:defRPr>
            </a:pPr>
            <a:r>
              <a:rPr sz="975" b="1" i="0">
                <a:solidFill>
                  <a:srgbClr val="C75C2A"/>
                </a:solidFill>
              </a:rPr>
              <a:t>DISTINCION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FB44CF-A095-4C16-8799-B1E2E864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0" i="0">
                <a:solidFill>
                  <a:srgbClr val="0F172A"/>
                </a:solidFill>
              </a:defRPr>
            </a:pPr>
            <a:r>
              <a:rPr sz="2625" b="0" i="0">
                <a:solidFill>
                  <a:srgbClr val="0F172A"/>
                </a:solidFill>
              </a:rPr>
              <a:t>Una wiki ayuda a encontrar conocimiento; no garantiza que ese conocimiento sea vigente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7B5AA0-C27B-49FE-B70F-BF280EC3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02A43"/>
                </a:solidFill>
              </a:defRPr>
            </a:pPr>
            <a:r>
              <a:rPr sz="2100" b="1" i="0">
                <a:solidFill>
                  <a:srgbClr val="102A43"/>
                </a:solidFill>
              </a:rPr>
              <a:t>Navegar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E2F521-D809-4F26-B6C7-0B773265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098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02A43"/>
                </a:solidFill>
              </a:defRPr>
            </a:pPr>
            <a:r>
              <a:rPr sz="2100" b="1" i="0">
                <a:solidFill>
                  <a:srgbClr val="102A43"/>
                </a:solidFill>
              </a:rPr>
              <a:t>Gobernar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AB1AA1-4DA1-42B9-953F-ED0A94F2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685925" y="3562350"/>
            <a:ext cx="647700" cy="114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CA3A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9C958F-F5A5-463F-9007-36E9C6E7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562350"/>
            <a:ext cx="1257300" cy="990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CA3A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DEFDB2-6810-4B8D-A7E2-36B40809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333625" y="3067050"/>
            <a:ext cx="70485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CA3A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7E0F57-7C02-4A04-A1EA-33E795F2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685925" y="4552950"/>
            <a:ext cx="19050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CA3A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5AE781-B66C-459A-96DA-DA413B62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685925" y="3067050"/>
            <a:ext cx="1352550" cy="1638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CA3A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911969-7806-49B2-86DC-AF0AA42C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038475" y="3067050"/>
            <a:ext cx="552450" cy="1485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CA3A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83684C-2F21-405A-89C3-85FA6716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352800"/>
            <a:ext cx="1066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FFFD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clientes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1F2D8F-EE37-455E-8015-4D41EF92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95800"/>
            <a:ext cx="1066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FFFD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ventas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D2C9D7-4392-421A-AA6E-DAEE0D68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343400"/>
            <a:ext cx="1066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FFFD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churn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E103F5-6A5E-40C0-BD1F-DA1616D8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57500"/>
            <a:ext cx="1066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FFFDF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metricas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08AAD5-0018-4FC5-8603-6531A8F3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3431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8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BA57E1-BCCC-4C81-87E7-427AD780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57500"/>
            <a:ext cx="4095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6D95B9-296E-450E-AC6D-EFFD4508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241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475569"/>
                </a:solidFill>
              </a:defRPr>
            </a:pPr>
            <a:r>
              <a:rPr sz="1125" b="1" i="0">
                <a:solidFill>
                  <a:srgbClr val="475569"/>
                </a:solidFill>
              </a:rPr>
              <a:t>owner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9245BE-2728-46E7-A08A-CD44D06B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24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F172A"/>
                </a:solidFill>
              </a:defRPr>
            </a:pPr>
            <a:r>
              <a:rPr sz="1125" b="1" i="0">
                <a:solidFill>
                  <a:srgbClr val="0F172A"/>
                </a:solidFill>
              </a:rPr>
              <a:t>growth-data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A404F5-A415-4380-ACF8-9109C437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71850"/>
            <a:ext cx="4095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2A445B-0F53-4533-8562-89ACE99A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385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475569"/>
                </a:solidFill>
              </a:defRPr>
            </a:pPr>
            <a:r>
              <a:rPr sz="1125" b="1" i="0">
                <a:solidFill>
                  <a:srgbClr val="475569"/>
                </a:solidFill>
              </a:rPr>
              <a:t>status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FF2CC4-F545-4F64-86D7-2881E569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385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F172A"/>
                </a:solidFill>
              </a:defRPr>
            </a:pPr>
            <a:r>
              <a:rPr sz="1125" b="1" i="0">
                <a:solidFill>
                  <a:srgbClr val="0F172A"/>
                </a:solidFill>
              </a:rPr>
              <a:t>vigente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3E0755-2D3F-47B4-809E-ADCCFEF3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86200"/>
            <a:ext cx="4095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D5CFD4-B5F3-4EFE-82DE-A155F68C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528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475569"/>
                </a:solidFill>
              </a:defRPr>
            </a:pPr>
            <a:r>
              <a:rPr sz="1125" b="1" i="0">
                <a:solidFill>
                  <a:srgbClr val="475569"/>
                </a:solidFill>
              </a:rPr>
              <a:t>revision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6E7BB0-CB7E-4E7C-8BB6-7D7ECD6A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9528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F172A"/>
                </a:solidFill>
              </a:defRPr>
            </a:pPr>
            <a:r>
              <a:rPr sz="1125" b="1" i="0">
                <a:solidFill>
                  <a:srgbClr val="0F172A"/>
                </a:solidFill>
              </a:rPr>
              <a:t>2026-07-04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9B00B5-15F8-4392-A706-BC7C5193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00550"/>
            <a:ext cx="4095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CB9F7D-504C-4108-ABDC-9F9B90E2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672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475569"/>
                </a:solidFill>
              </a:defRPr>
            </a:pPr>
            <a:r>
              <a:rPr sz="1125" b="1" i="0">
                <a:solidFill>
                  <a:srgbClr val="475569"/>
                </a:solidFill>
              </a:rPr>
              <a:t>fuente canonica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183F38-04B9-4EE8-9BC6-2CBAFA46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672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F172A"/>
                </a:solidFill>
              </a:defRPr>
            </a:pPr>
            <a:r>
              <a:rPr sz="1125" b="1" i="0">
                <a:solidFill>
                  <a:srgbClr val="0F172A"/>
                </a:solidFill>
              </a:rPr>
              <a:t>repo/data-docs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8A281C-9D53-4C19-AA03-645AA597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914900"/>
            <a:ext cx="4095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D098D1-6D50-4070-94A5-A41AAF96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815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475569"/>
                </a:solidFill>
              </a:defRPr>
            </a:pPr>
            <a:r>
              <a:rPr sz="1125" b="1" i="0">
                <a:solidFill>
                  <a:srgbClr val="475569"/>
                </a:solidFill>
              </a:rPr>
              <a:t>decision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DDF5A2-E802-433A-A3A4-A64D2163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9815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F172A"/>
                </a:solidFill>
              </a:defRPr>
            </a:pPr>
            <a:r>
              <a:rPr sz="1125" b="1" i="0">
                <a:solidFill>
                  <a:srgbClr val="0F172A"/>
                </a:solidFill>
              </a:rPr>
              <a:t>usa churn_v2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5CE7BC-DEFD-4559-92B0-53C96626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8645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475569"/>
                </a:solidFill>
              </a:defRPr>
            </a:pPr>
            <a:r>
              <a:rPr sz="1500" b="0" i="0">
                <a:solidFill>
                  <a:srgbClr val="475569"/>
                </a:solidFill>
              </a:rPr>
              <a:t>Links y backlinks reducen friccion; autoridad y vigencia requieren reglas operativas.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3C668E-727D-434B-AF97-3625060E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475569"/>
                </a:solidFill>
              </a:defRPr>
            </a:pPr>
            <a:r>
              <a:rPr sz="900" b="0" i="0">
                <a:solidFill>
                  <a:srgbClr val="475569"/>
                </a:solidFill>
              </a:rPr>
              <a:t>Knowledge Repo 01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90CAFC-37A9-4DA4-92B2-D385B04B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475569"/>
                </a:solidFill>
              </a:defRPr>
            </a:pPr>
            <a:r>
              <a:rPr sz="900" b="1" i="0">
                <a:solidFill>
                  <a:srgbClr val="475569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575484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DF08D3-4C27-4568-876F-A3457C21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66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C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5B286C-41CB-493F-A88B-AC15C737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C75C2A"/>
                </a:solidFill>
              </a:defRPr>
            </a:pPr>
            <a:r>
              <a:rPr sz="975" b="1" i="0">
                <a:solidFill>
                  <a:srgbClr val="C75C2A"/>
                </a:solidFill>
              </a:rPr>
              <a:t>CONTRATO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2CB0A4-DE9E-4A61-939D-A77C8BE6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0" i="0">
                <a:solidFill>
                  <a:srgbClr val="0F172A"/>
                </a:solidFill>
              </a:defRPr>
            </a:pPr>
            <a:r>
              <a:rPr sz="2625" b="0" i="0">
                <a:solidFill>
                  <a:srgbClr val="0F172A"/>
                </a:solidFill>
              </a:rPr>
              <a:t>Un knowledge repo empieza cuando cada ficha declara identidad, relaciones y responsabilidad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3C68A2-04B2-432A-8C45-BB03E1AB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47900"/>
            <a:ext cx="4095750" cy="3371850"/>
          </a:xfrm>
          <a:prstGeom xmlns:a="http://schemas.openxmlformats.org/drawingml/2006/main" prst="roundRect">
            <a:avLst>
              <a:gd name="adj" fmla="val 395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D6C8B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A1B6A6-62B8-4D69-9B17-6A19608D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38400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F172A"/>
                </a:solidFill>
              </a:defRPr>
            </a:pPr>
            <a:r>
              <a:rPr sz="1800" b="1" i="0">
                <a:solidFill>
                  <a:srgbClr val="0F172A"/>
                </a:solidFill>
              </a:rPr>
              <a:t>frontmatter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739784-C795-4B57-9A87-8FAC0EFF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95600"/>
            <a:ext cx="3638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9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0D011E-2753-4DC2-8EF0-C4775A2F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28950"/>
            <a:ext cx="34290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0F172A"/>
                </a:solidFill>
              </a:defRPr>
            </a:pPr>
            <a:r>
              <a:rPr sz="1350" b="0" i="0">
                <a:solidFill>
                  <a:srgbClr val="0F172A"/>
                </a:solidFill>
              </a:rPr>
              <a:t>id: data.clientes</a:t>
            </a:r>
          </a:p>
          <a:p xmlns:a="http://schemas.openxmlformats.org/drawingml/2006/main">
            <a:pPr>
              <a:defRPr sz="1350" b="0" i="0">
                <a:solidFill>
                  <a:srgbClr val="0F172A"/>
                </a:solidFill>
              </a:defRPr>
            </a:pPr>
            <a:r>
              <a:rPr sz="1350" b="0" i="0">
                <a:solidFill>
                  <a:srgbClr val="0F172A"/>
                </a:solidFill>
              </a:rPr>
              <a:t>owner: growth-data</a:t>
            </a:r>
          </a:p>
          <a:p xmlns:a="http://schemas.openxmlformats.org/drawingml/2006/main">
            <a:pPr>
              <a:defRPr sz="1350" b="0" i="0">
                <a:solidFill>
                  <a:srgbClr val="0F172A"/>
                </a:solidFill>
              </a:defRPr>
            </a:pPr>
            <a:r>
              <a:rPr sz="1350" b="0" i="0">
                <a:solidFill>
                  <a:srgbClr val="0F172A"/>
                </a:solidFill>
              </a:rPr>
              <a:t>domain: customer</a:t>
            </a:r>
          </a:p>
          <a:p xmlns:a="http://schemas.openxmlformats.org/drawingml/2006/main">
            <a:pPr>
              <a:defRPr sz="1350" b="0" i="0">
                <a:solidFill>
                  <a:srgbClr val="0F172A"/>
                </a:solidFill>
              </a:defRPr>
            </a:pPr>
            <a:r>
              <a:rPr sz="1350" b="0" i="0">
                <a:solidFill>
                  <a:srgbClr val="0F172A"/>
                </a:solidFill>
              </a:rPr>
              <a:t>status: active</a:t>
            </a:r>
          </a:p>
          <a:p xmlns:a="http://schemas.openxmlformats.org/drawingml/2006/main">
            <a:pPr>
              <a:defRPr sz="1350" b="0" i="0">
                <a:solidFill>
                  <a:srgbClr val="0F172A"/>
                </a:solidFill>
              </a:defRPr>
            </a:pPr>
            <a:r>
              <a:rPr sz="1350" b="0" i="0">
                <a:solidFill>
                  <a:srgbClr val="0F172A"/>
                </a:solidFill>
              </a:rPr>
              <a:t>freshness: daily</a:t>
            </a:r>
          </a:p>
          <a:p xmlns:a="http://schemas.openxmlformats.org/drawingml/2006/main">
            <a:pPr>
              <a:defRPr sz="1350" b="0" i="0">
                <a:solidFill>
                  <a:srgbClr val="0F172A"/>
                </a:solidFill>
              </a:defRPr>
            </a:pPr>
            <a:r>
              <a:rPr sz="1350" b="0" i="0">
                <a:solidFill>
                  <a:srgbClr val="0F172A"/>
                </a:solidFill>
              </a:rPr>
              <a:t>related_metrics: [churn]</a:t>
            </a:r>
          </a:p>
          <a:p xmlns:a="http://schemas.openxmlformats.org/drawingml/2006/main">
            <a:pPr>
              <a:defRPr sz="1350" b="0" i="0">
                <a:solidFill>
                  <a:srgbClr val="0F172A"/>
                </a:solidFill>
              </a:defRPr>
            </a:pPr>
            <a:r>
              <a:rPr sz="1350" b="0" i="0">
                <a:solidFill>
                  <a:srgbClr val="0F172A"/>
                </a:solidFill>
              </a:rPr>
              <a:t>consumers: [ventas]</a:t>
            </a:r>
          </a:p>
          <a:p xmlns:a="http://schemas.openxmlformats.org/drawingml/2006/main">
            <a:pPr>
              <a:defRPr sz="1350" b="0" i="0">
                <a:solidFill>
                  <a:srgbClr val="0F172A"/>
                </a:solidFill>
              </a:defRPr>
            </a:pPr>
            <a:r>
              <a:rPr sz="1350" b="0" i="0">
                <a:solidFill>
                  <a:srgbClr val="0F172A"/>
                </a:solidFill>
              </a:rPr>
              <a:t>last_reviewed: 2026-07-04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3CCE93-E0D5-47D4-A8CB-359C3602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24100"/>
            <a:ext cx="23431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33E0A7-6F47-406D-A11D-CE13660F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908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02A43"/>
                </a:solidFill>
              </a:defRPr>
            </a:pPr>
            <a:r>
              <a:rPr sz="1500" b="1" i="0">
                <a:solidFill>
                  <a:srgbClr val="102A43"/>
                </a:solidFill>
              </a:rPr>
              <a:t>cuerpo narrativo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E7B5F3-4D1E-4CA2-AACB-489AD2EF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908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75569"/>
                </a:solidFill>
              </a:defRPr>
            </a:pPr>
            <a:r>
              <a:rPr sz="1350" b="0" i="0">
                <a:solidFill>
                  <a:srgbClr val="475569"/>
                </a:solidFill>
              </a:rPr>
              <a:t>uso, decisiones,</a:t>
            </a:r>
          </a:p>
          <a:p xmlns:a="http://schemas.openxmlformats.org/drawingml/2006/main">
            <a:pPr>
              <a:defRPr sz="1350" b="0" i="0">
                <a:solidFill>
                  <a:srgbClr val="475569"/>
                </a:solidFill>
              </a:defRPr>
            </a:pPr>
            <a:r>
              <a:rPr sz="1350" b="0" i="0">
                <a:solidFill>
                  <a:srgbClr val="475569"/>
                </a:solidFill>
              </a:rPr>
              <a:t>links y criterios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820342-0924-4C7F-A23B-2E9C82A8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0"/>
            <a:ext cx="23431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DBC8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5272C3-6B6A-4B01-86DB-E44565D8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767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02A43"/>
                </a:solidFill>
              </a:defRPr>
            </a:pPr>
            <a:r>
              <a:rPr sz="1500" b="1" i="0">
                <a:solidFill>
                  <a:srgbClr val="102A43"/>
                </a:solidFill>
              </a:rPr>
              <a:t>bitacora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7A3499-91CB-4384-8E99-F8B9ECC2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767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475569"/>
                </a:solidFill>
              </a:defRPr>
            </a:pPr>
            <a:r>
              <a:rPr sz="1350" b="0" i="0">
                <a:solidFill>
                  <a:srgbClr val="475569"/>
                </a:solidFill>
              </a:rPr>
              <a:t>que cambio,</a:t>
            </a:r>
          </a:p>
          <a:p xmlns:a="http://schemas.openxmlformats.org/drawingml/2006/main">
            <a:pPr>
              <a:defRPr sz="1350" b="0" i="0">
                <a:solidFill>
                  <a:srgbClr val="475569"/>
                </a:solidFill>
              </a:defRPr>
            </a:pPr>
            <a:r>
              <a:rPr sz="1350" b="0" i="0">
                <a:solidFill>
                  <a:srgbClr val="475569"/>
                </a:solidFill>
              </a:rPr>
              <a:t>por que y quien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2C8646-1206-4284-A8C8-8112A924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62550" y="3028950"/>
            <a:ext cx="762000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5C2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277051-80E5-497D-8B35-69BD2125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76600"/>
            <a:ext cx="304800" cy="1200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D6A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DBAC77-7FAD-4564-8460-08B126F6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864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475569"/>
                </a:solidFill>
              </a:defRPr>
            </a:pPr>
            <a:r>
              <a:rPr sz="1500" b="0" i="0">
                <a:solidFill>
                  <a:srgbClr val="475569"/>
                </a:solidFill>
              </a:rPr>
              <a:t>La arquitectura vive en el contrato minimo, no en la herramienta.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3C037C-1EC4-4A60-B6E9-ACA5A4A5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475569"/>
                </a:solidFill>
              </a:defRPr>
            </a:pPr>
            <a:r>
              <a:rPr sz="900" b="0" i="0">
                <a:solidFill>
                  <a:srgbClr val="475569"/>
                </a:solidFill>
              </a:rPr>
              <a:t>Knowledge Repo 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6296A8-B765-4F07-AEC5-739F037F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475569"/>
                </a:solidFill>
              </a:defRPr>
            </a:pPr>
            <a:r>
              <a:rPr sz="900" b="1" i="0">
                <a:solidFill>
                  <a:srgbClr val="475569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91776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852F21-B3B6-42B9-94F1-8A8CA9D3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66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C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4E0C76-48DE-446A-8A8D-8350204E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C75C2A"/>
                </a:solidFill>
              </a:defRPr>
            </a:pPr>
            <a:r>
              <a:rPr sz="975" b="1" i="0">
                <a:solidFill>
                  <a:srgbClr val="C75C2A"/>
                </a:solidFill>
              </a:rPr>
              <a:t>EVIDENCIA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BCBC34-7343-4784-9110-9612E209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0" i="0">
                <a:solidFill>
                  <a:srgbClr val="0F172A"/>
                </a:solidFill>
              </a:defRPr>
            </a:pPr>
            <a:r>
              <a:rPr sz="2625" b="0" i="0">
                <a:solidFill>
                  <a:srgbClr val="0F172A"/>
                </a:solidFill>
              </a:rPr>
              <a:t>Los catalogos modernos muestran que el conocimiento de datos ya es relacional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14799D-93D3-4182-BF8D-FC03A54A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2228850" y="2657475"/>
            <a:ext cx="3867150" cy="752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D6A4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9649A5-1222-446A-87CB-6DA4ADF6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1935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6A4F"/>
          </a:solidFill>
          <a:ln xmlns:a="http://schemas.openxmlformats.org/drawingml/2006/main" w="9525">
            <a:solidFill>
              <a:srgbClr val="2D6A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DF8"/>
                </a:solidFill>
              </a:defRPr>
            </a:pPr>
            <a:r>
              <a:rPr sz="1050" b="1">
                <a:solidFill>
                  <a:srgbClr val="FFFDF8"/>
                </a:solidFill>
              </a:rPr>
              <a:t>owner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9539B3-3F4F-41A6-8EE3-38384BB4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771900" y="3409950"/>
            <a:ext cx="2324100" cy="1171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C75C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6B859E-A05D-4BCC-B971-668A1021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34340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5C2A"/>
          </a:solidFill>
          <a:ln xmlns:a="http://schemas.openxmlformats.org/drawingml/2006/main" w="9525">
            <a:solidFill>
              <a:srgbClr val="C75C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DF8"/>
                </a:solidFill>
              </a:defRPr>
            </a:pPr>
            <a:r>
              <a:rPr sz="1050" b="1">
                <a:solidFill>
                  <a:srgbClr val="FFFDF8"/>
                </a:solidFill>
              </a:rPr>
              <a:t>glossary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625CC7-75A2-4C08-9A2D-EF5C21BE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467350" y="3409950"/>
            <a:ext cx="628650" cy="1781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1632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90DBFF-203D-4552-A513-C3DB5483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5300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DF8"/>
                </a:solidFill>
              </a:defRPr>
            </a:pPr>
            <a:r>
              <a:rPr sz="1050" b="1">
                <a:solidFill>
                  <a:srgbClr val="FFFDF8"/>
                </a:solidFill>
              </a:rPr>
              <a:t>lineage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547BF1-5857-4D5C-BA2E-F9E48585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09950"/>
            <a:ext cx="1695450" cy="1781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B4231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DD312C-40C2-42BD-9092-E80387BE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5300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DF8"/>
                </a:solidFill>
              </a:defRPr>
            </a:pPr>
            <a:r>
              <a:rPr sz="1050" b="1">
                <a:solidFill>
                  <a:srgbClr val="FFFDF8"/>
                </a:solidFill>
              </a:rPr>
              <a:t>quality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5E02CB-B8D5-47B3-8282-E05162C8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09950"/>
            <a:ext cx="3352800" cy="1171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C75C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F4CF9F-7258-4DFE-9EF6-88217686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34340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5C2A"/>
          </a:solidFill>
          <a:ln xmlns:a="http://schemas.openxmlformats.org/drawingml/2006/main" w="9525">
            <a:solidFill>
              <a:srgbClr val="C75C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DF8"/>
                </a:solidFill>
              </a:defRPr>
            </a:pPr>
            <a:r>
              <a:rPr sz="1050" b="1">
                <a:solidFill>
                  <a:srgbClr val="FFFDF8"/>
                </a:solidFill>
              </a:rPr>
              <a:t>contract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5670C1-DF9B-4D40-80D2-F64FF6F9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96000" y="2657475"/>
            <a:ext cx="3562350" cy="752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D6A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4B07FC-E068-4B6B-9749-12F8F5E1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1935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6A4F"/>
          </a:solidFill>
          <a:ln xmlns:a="http://schemas.openxmlformats.org/drawingml/2006/main" w="9525">
            <a:solidFill>
              <a:srgbClr val="2D6A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DF8"/>
                </a:solidFill>
              </a:defRPr>
            </a:pPr>
            <a:r>
              <a:rPr sz="1050" b="1">
                <a:solidFill>
                  <a:srgbClr val="FFFDF8"/>
                </a:solidFill>
              </a:rPr>
              <a:t>dashboard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7E4448-FDB1-48EE-A290-4FB737A4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19800" y="2181225"/>
            <a:ext cx="76200" cy="1228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E07A3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2AAB2A-B1C6-4B7B-AE60-49591B99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94310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7A3F"/>
          </a:solidFill>
          <a:ln xmlns:a="http://schemas.openxmlformats.org/drawingml/2006/main" w="9525">
            <a:solidFill>
              <a:srgbClr val="E07A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DF8"/>
                </a:solidFill>
              </a:defRPr>
            </a:pPr>
            <a:r>
              <a:rPr sz="1050" b="1">
                <a:solidFill>
                  <a:srgbClr val="FFFDF8"/>
                </a:solidFill>
              </a:rPr>
              <a:t>version history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BCF690-930F-43A2-833B-ACA39E95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57500"/>
            <a:ext cx="238125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DF8"/>
                </a:solidFill>
              </a:defRPr>
            </a:pPr>
            <a:r>
              <a:rPr sz="1950" b="1">
                <a:solidFill>
                  <a:srgbClr val="FFFDF8"/>
                </a:solidFill>
              </a:rPr>
              <a:t>tabla / activo</a:t>
            </a:r>
          </a:p>
          <a:p xmlns:a="http://schemas.openxmlformats.org/drawingml/2006/main">
            <a:pPr algn="ctr">
              <a:defRPr sz="1950" b="1">
                <a:solidFill>
                  <a:srgbClr val="FFFDF8"/>
                </a:solidFill>
              </a:defRPr>
            </a:pPr>
            <a:r>
              <a:rPr sz="1950" b="1">
                <a:solidFill>
                  <a:srgbClr val="FFFDF8"/>
                </a:solidFill>
              </a:rPr>
              <a:t>de datos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79A26F-7A7F-4474-BDEA-F4BFE040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885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475569"/>
                </a:solidFill>
              </a:defRPr>
            </a:pPr>
            <a:r>
              <a:rPr sz="1500" b="0" i="0">
                <a:solidFill>
                  <a:srgbClr val="475569"/>
                </a:solidFill>
              </a:rPr>
              <a:t>No es burocracia nueva: es capturar en pequeno lo que DataHub, OpenMetadata y dbt exposures ya modelan a escala.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E5D195-9AB5-4CFF-AE6F-EF974736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475569"/>
                </a:solidFill>
              </a:defRPr>
            </a:pPr>
            <a:r>
              <a:rPr sz="900" b="0" i="0">
                <a:solidFill>
                  <a:srgbClr val="475569"/>
                </a:solidFill>
              </a:rPr>
              <a:t>Knowledge Repo 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2EB6F6-C700-4CA8-A518-02207DAF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475569"/>
                </a:solidFill>
              </a:defRPr>
            </a:pPr>
            <a:r>
              <a:rPr sz="900" b="1" i="0">
                <a:solidFill>
                  <a:srgbClr val="475569"/>
                </a:solidFill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E8F694-281C-4BD6-BC80-408CBD03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400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475569"/>
                </a:solidFill>
              </a:defRPr>
            </a:pPr>
            <a:r>
              <a:rPr sz="825" b="0" i="0">
                <a:solidFill>
                  <a:srgbClr val="475569"/>
                </a:solidFill>
              </a:rPr>
              <a:t>Fuentes: DataHub, OpenMetadata, dbt exposures</a:t>
            </a:r>
          </a:p>
        </p:txBody>
      </p:sp>
    </p:spTree>
    <p:extLst>
      <p:ext uri="{BB962C8B-B14F-4D97-AF65-F5344CB8AC3E}">
        <p14:creationId xmlns:p14="http://schemas.microsoft.com/office/powerpoint/2010/main" val="17191229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F82002-7080-4F97-83EA-DB2BCB0C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66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C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D89DB-155B-48B3-8C1D-91311634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C75C2A"/>
                </a:solidFill>
              </a:defRPr>
            </a:pPr>
            <a:r>
              <a:rPr sz="975" b="1" i="0">
                <a:solidFill>
                  <a:srgbClr val="C75C2A"/>
                </a:solidFill>
              </a:rPr>
              <a:t>PORTABILIDAD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71D943-8B0C-4928-BBC2-8F9D6475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0" i="0">
                <a:solidFill>
                  <a:srgbClr val="0F172A"/>
                </a:solidFill>
              </a:defRPr>
            </a:pPr>
            <a:r>
              <a:rPr sz="2625" b="0" i="0">
                <a:solidFill>
                  <a:srgbClr val="0F172A"/>
                </a:solidFill>
              </a:rPr>
              <a:t>OKF apunta a una idea util: Markdown con estructura explicita para humanos y agentes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6AFF50-E55C-4011-8916-863CFB6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34290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ADBC8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FA1DA4-6B8E-4F81-9E6A-6C574FF7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24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02A43"/>
                </a:solidFill>
              </a:defRPr>
            </a:pPr>
            <a:r>
              <a:rPr sz="1800" b="1" i="0">
                <a:solidFill>
                  <a:srgbClr val="102A43"/>
                </a:solidFill>
              </a:rPr>
              <a:t>/knowledge-bundle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180454-F76C-4FCD-9925-AAF329C4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38500"/>
            <a:ext cx="2381250" cy="2286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74387B-5096-422B-965B-28FAF46B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2575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F172A"/>
                </a:solidFill>
              </a:defRPr>
            </a:pPr>
            <a:r>
              <a:rPr sz="1125" b="0" i="0">
                <a:solidFill>
                  <a:srgbClr val="0F172A"/>
                </a:solidFill>
              </a:rPr>
              <a:t>index.md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CC921C-8486-46E7-B52C-ED933BC1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62350"/>
            <a:ext cx="2381250" cy="2286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AE44A3-188C-4CA3-86D1-734BDBBC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5814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F172A"/>
                </a:solidFill>
              </a:defRPr>
            </a:pPr>
            <a:r>
              <a:rPr sz="1125" b="0" i="0">
                <a:solidFill>
                  <a:srgbClr val="0F172A"/>
                </a:solidFill>
              </a:rPr>
              <a:t>clientes.md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6BD7AF-F459-42CD-BC06-8EE565F9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86200"/>
            <a:ext cx="2381250" cy="2286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0444BD-F425-4954-BCDC-4D30DFB9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9052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F172A"/>
                </a:solidFill>
              </a:defRPr>
            </a:pPr>
            <a:r>
              <a:rPr sz="1125" b="0" i="0">
                <a:solidFill>
                  <a:srgbClr val="0F172A"/>
                </a:solidFill>
              </a:rPr>
              <a:t>frontmatter.yaml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47966E-B79F-470C-812F-8AF84624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10050"/>
            <a:ext cx="2381250" cy="2286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B403F5-BF8B-4982-BC2C-5EF1031B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291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F172A"/>
                </a:solidFill>
              </a:defRPr>
            </a:pPr>
            <a:r>
              <a:rPr sz="1125" b="0" i="0">
                <a:solidFill>
                  <a:srgbClr val="0F172A"/>
                </a:solidFill>
              </a:rPr>
              <a:t>log.md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E71967-5FFC-43FB-9BEB-A5C22708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33900"/>
            <a:ext cx="2381250" cy="2286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47A5C0-AE2B-4E6C-B053-0802E8A4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529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0F172A"/>
                </a:solidFill>
              </a:defRPr>
            </a:pPr>
            <a:r>
              <a:rPr sz="1125" b="0" i="0">
                <a:solidFill>
                  <a:srgbClr val="0F172A"/>
                </a:solidFill>
              </a:rPr>
              <a:t>links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AE9F99-8423-4E69-8F0F-0C883C5B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62200"/>
            <a:ext cx="4095750" cy="255270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D0999B-5B2F-49AC-808C-224500A9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3333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0F172A"/>
                </a:solidFill>
              </a:defRPr>
            </a:pPr>
            <a:r>
              <a:rPr sz="1500" b="0" i="0">
                <a:solidFill>
                  <a:srgbClr val="0F172A"/>
                </a:solidFill>
              </a:rPr>
              <a:t>type: concept</a:t>
            </a:r>
          </a:p>
          <a:p xmlns:a="http://schemas.openxmlformats.org/drawingml/2006/main">
            <a:pPr>
              <a:defRPr sz="1500" b="0" i="0">
                <a:solidFill>
                  <a:srgbClr val="0F172A"/>
                </a:solidFill>
              </a:defRPr>
            </a:pPr>
            <a:r>
              <a:rPr sz="1500" b="0" i="0">
                <a:solidFill>
                  <a:srgbClr val="0F172A"/>
                </a:solidFill>
              </a:rPr>
              <a:t>title: clientes</a:t>
            </a:r>
          </a:p>
          <a:p xmlns:a="http://schemas.openxmlformats.org/drawingml/2006/main">
            <a:pPr>
              <a:defRPr sz="1500" b="0" i="0">
                <a:solidFill>
                  <a:srgbClr val="0F172A"/>
                </a:solidFill>
              </a:defRPr>
            </a:pPr>
            <a:r>
              <a:rPr sz="1500" b="0" i="0">
                <a:solidFill>
                  <a:srgbClr val="0F172A"/>
                </a:solidFill>
              </a:rPr>
              <a:t>description: fuente cliente</a:t>
            </a:r>
          </a:p>
          <a:p xmlns:a="http://schemas.openxmlformats.org/drawingml/2006/main">
            <a:pPr>
              <a:defRPr sz="1500" b="0" i="0">
                <a:solidFill>
                  <a:srgbClr val="0F172A"/>
                </a:solidFill>
              </a:defRPr>
            </a:pPr>
            <a:r>
              <a:rPr sz="1500" b="0" i="0">
                <a:solidFill>
                  <a:srgbClr val="0F172A"/>
                </a:solidFill>
              </a:rPr>
              <a:t>resource: table</a:t>
            </a:r>
          </a:p>
          <a:p xmlns:a="http://schemas.openxmlformats.org/drawingml/2006/main">
            <a:pPr>
              <a:defRPr sz="1500" b="0" i="0">
                <a:solidFill>
                  <a:srgbClr val="0F172A"/>
                </a:solidFill>
              </a:defRPr>
            </a:pPr>
            <a:r>
              <a:rPr sz="1500" b="0" i="0">
                <a:solidFill>
                  <a:srgbClr val="0F172A"/>
                </a:solidFill>
              </a:rPr>
              <a:t> tags: [customer, churn]</a:t>
            </a:r>
          </a:p>
          <a:p xmlns:a="http://schemas.openxmlformats.org/drawingml/2006/main">
            <a:pPr>
              <a:defRPr sz="1500" b="0" i="0">
                <a:solidFill>
                  <a:srgbClr val="0F172A"/>
                </a:solidFill>
              </a:defRPr>
            </a:pPr>
            <a:r>
              <a:rPr sz="1500" b="0" i="0">
                <a:solidFill>
                  <a:srgbClr val="0F172A"/>
                </a:solidFill>
              </a:rPr>
              <a:t>timestamp: 2026-06-12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952A5B-11E8-4888-A0C3-A78BD2E0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340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475569"/>
                </a:solidFill>
              </a:defRPr>
            </a:pPr>
            <a:r>
              <a:rPr sz="1500" b="0" i="0">
                <a:solidFill>
                  <a:srgbClr val="475569"/>
                </a:solidFill>
              </a:rPr>
              <a:t>Referencia emergente de formato portable; no estandar corporativo final ni plataforma completa.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5F45DE-6665-4409-8ADF-359ACD1B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475569"/>
                </a:solidFill>
              </a:defRPr>
            </a:pPr>
            <a:r>
              <a:rPr sz="900" b="0" i="0">
                <a:solidFill>
                  <a:srgbClr val="475569"/>
                </a:solidFill>
              </a:rPr>
              <a:t>Knowledge Repo 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D16E26-56B9-4E4D-B301-2ECE32FA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475569"/>
                </a:solidFill>
              </a:defRPr>
            </a:pPr>
            <a:r>
              <a:rPr sz="900" b="1" i="0">
                <a:solidFill>
                  <a:srgbClr val="475569"/>
                </a:solidFill>
              </a:rPr>
              <a:t>07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B50B18-6F61-4A86-8219-F60EE32A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400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475569"/>
                </a:solidFill>
              </a:defRPr>
            </a:pPr>
            <a:r>
              <a:rPr sz="825" b="0" i="0">
                <a:solidFill>
                  <a:srgbClr val="475569"/>
                </a:solidFill>
              </a:rPr>
              <a:t>Fuente: Google Cloud OKF, 2026-06-12; spec v0.1 draft</a:t>
            </a:r>
          </a:p>
        </p:txBody>
      </p:sp>
    </p:spTree>
    <p:extLst>
      <p:ext uri="{BB962C8B-B14F-4D97-AF65-F5344CB8AC3E}">
        <p14:creationId xmlns:p14="http://schemas.microsoft.com/office/powerpoint/2010/main" val="7283787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46733F-35AC-4F94-A719-BFE70E95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66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5C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949ADA-5779-45A0-9FD2-A5651B0C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C75C2A"/>
                </a:solidFill>
              </a:defRPr>
            </a:pPr>
            <a:r>
              <a:rPr sz="975" b="1" i="0">
                <a:solidFill>
                  <a:srgbClr val="C75C2A"/>
                </a:solidFill>
              </a:rPr>
              <a:t>AGENTES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531D-DF5B-4889-BD6D-6C566C2D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0" i="0">
                <a:solidFill>
                  <a:srgbClr val="0F172A"/>
                </a:solidFill>
              </a:defRPr>
            </a:pPr>
            <a:r>
              <a:rPr sz="2625" b="0" i="0">
                <a:solidFill>
                  <a:srgbClr val="0F172A"/>
                </a:solidFill>
              </a:rPr>
              <a:t>MCP/API abre la puerta al agente, pero no convierte desorden en memoria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BC9330-9E6D-48BA-8385-F00CCE9B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524250"/>
            <a:ext cx="457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47556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5DB0F2-F7CF-4402-BA41-93EA4EC0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24250"/>
            <a:ext cx="6953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47556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95BDE1-3280-4682-8D07-784321BB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524250"/>
            <a:ext cx="7905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47556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3E2C7C-ABBE-413A-BC2E-F149C59D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24250"/>
            <a:ext cx="838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47556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36EE54-BFD6-42C8-BC1A-B3C6C7A2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142875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9BB318-E992-41A6-9A1D-F8A9FDD0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1947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DF8"/>
                </a:solidFill>
              </a:defRPr>
            </a:pPr>
            <a:r>
              <a:rPr sz="1200" b="1" i="0">
                <a:solidFill>
                  <a:srgbClr val="FFFDF8"/>
                </a:solidFill>
              </a:rPr>
              <a:t>agente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5173E5-43AE-4279-AA86-770FED29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38500"/>
            <a:ext cx="142875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C75C2A"/>
          </a:solidFill>
          <a:ln xmlns:a="http://schemas.openxmlformats.org/drawingml/2006/main" w="9525">
            <a:solidFill>
              <a:srgbClr val="C75C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59447C-B8E0-4130-B880-26C74073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41947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DF8"/>
                </a:solidFill>
              </a:defRPr>
            </a:pPr>
            <a:r>
              <a:rPr sz="1200" b="1" i="0">
                <a:solidFill>
                  <a:srgbClr val="FFFDF8"/>
                </a:solidFill>
              </a:rPr>
              <a:t>MCP /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CAE74E-4D1A-4263-A7C2-493F419B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238500"/>
            <a:ext cx="142875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2D6A4F"/>
          </a:solidFill>
          <a:ln xmlns:a="http://schemas.openxmlformats.org/drawingml/2006/main" w="9525">
            <a:solidFill>
              <a:srgbClr val="2D6A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56A6CA-15F0-4127-BC81-704C3117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41947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DF8"/>
                </a:solidFill>
              </a:defRPr>
            </a:pPr>
            <a:r>
              <a:rPr sz="1200" b="1" i="0">
                <a:solidFill>
                  <a:srgbClr val="FFFDF8"/>
                </a:solidFill>
              </a:rPr>
              <a:t>indice curado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7F60B7-EEF9-4A5B-8821-3B940A00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38500"/>
            <a:ext cx="142875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B0FC33-F3D4-430A-BD00-03F25647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1947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DF8"/>
                </a:solidFill>
              </a:defRPr>
            </a:pPr>
            <a:r>
              <a:rPr sz="1200" b="1" i="0">
                <a:solidFill>
                  <a:srgbClr val="FFFDF8"/>
                </a:solidFill>
              </a:rPr>
              <a:t>ficha versionada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704BE2-A6E2-468C-9798-C6E35E2C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38500"/>
            <a:ext cx="142875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07A3F"/>
          </a:solidFill>
          <a:ln xmlns:a="http://schemas.openxmlformats.org/drawingml/2006/main" w="9525">
            <a:solidFill>
              <a:srgbClr val="E07A3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186837-D9B6-4E6E-8E68-CFDF8D4F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41947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DF8"/>
                </a:solidFill>
              </a:defRPr>
            </a:pPr>
            <a:r>
              <a:rPr sz="1200" b="1" i="0">
                <a:solidFill>
                  <a:srgbClr val="FFFDF8"/>
                </a:solidFill>
              </a:rPr>
              <a:t>owner + decisiones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6A8D65-CDFF-4CF1-A7FE-EEB36A42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24400"/>
            <a:ext cx="6477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6C8B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2C5E66-3B23-476F-AB5D-455EC2ED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914900"/>
            <a:ext cx="577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0F172A"/>
                </a:solidFill>
              </a:defRPr>
            </a:pPr>
            <a:r>
              <a:rPr sz="1575" b="0" i="0">
                <a:solidFill>
                  <a:srgbClr val="0F172A"/>
                </a:solidFill>
              </a:rPr>
              <a:t>Un agente no necesita leerlo todo; necesita entradas confiables y contexto ensamblable.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1936AB-6F89-42DD-AC92-7DC0151A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475569"/>
                </a:solidFill>
              </a:defRPr>
            </a:pPr>
            <a:r>
              <a:rPr sz="900" b="0" i="0">
                <a:solidFill>
                  <a:srgbClr val="475569"/>
                </a:solidFill>
              </a:rPr>
              <a:t>Knowledge Repo 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89509E-DF9B-4B8B-AE3B-DD7B40F4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475569"/>
                </a:solidFill>
              </a:defRPr>
            </a:pPr>
            <a:r>
              <a:rPr sz="900" b="1" i="0">
                <a:solidFill>
                  <a:srgbClr val="475569"/>
                </a:solidFill>
              </a:rPr>
              <a:t>08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CA8F83-FDFE-4C69-9857-8DE1B63C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4008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475569"/>
                </a:solidFill>
              </a:defRPr>
            </a:pPr>
            <a:r>
              <a:rPr sz="825" b="0" i="0">
                <a:solidFill>
                  <a:srgbClr val="475569"/>
                </a:solidFill>
              </a:rPr>
              <a:t>Fuente: Model Context Protocol specification 2025-06-18</a:t>
            </a:r>
          </a:p>
        </p:txBody>
      </p:sp>
    </p:spTree>
    <p:extLst>
      <p:ext uri="{BB962C8B-B14F-4D97-AF65-F5344CB8AC3E}">
        <p14:creationId xmlns:p14="http://schemas.microsoft.com/office/powerpoint/2010/main" val="7253503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670cd7de00432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E432BC-16DB-432F-8B44-64DCEA1E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63D82F-6D24-4795-9F6D-C24C3DAC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4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D303DE-E76C-495C-B489-8B2C41B6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EADBC8"/>
                </a:solidFill>
              </a:defRPr>
            </a:pPr>
            <a:r>
              <a:rPr sz="1050" b="1" i="0">
                <a:solidFill>
                  <a:srgbClr val="EADBC8"/>
                </a:solidFill>
              </a:rPr>
              <a:t>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E7656C-F35C-4412-8172-64D7B843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4857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0" i="0">
                <a:solidFill>
                  <a:srgbClr val="FFFDF8"/>
                </a:solidFill>
              </a:defRPr>
            </a:pPr>
            <a:r>
              <a:rPr sz="2775" b="0" i="0">
                <a:solidFill>
                  <a:srgbClr val="FFFDF8"/>
                </a:solidFill>
              </a:rPr>
              <a:t>La documentacion que escala no guarda paginas: conserva decisiones reutilizables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84B03F-3989-419F-BA95-EA73F145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14700"/>
            <a:ext cx="4476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F4F0E8"/>
                </a:solidFill>
              </a:defRPr>
            </a:pPr>
            <a:r>
              <a:rPr sz="1725" b="0" i="0">
                <a:solidFill>
                  <a:srgbClr val="F4F0E8"/>
                </a:solidFill>
              </a:rPr>
              <a:t>Antes de pedirle a un agente que entienda tus datos, dale una memoria que tu propio equipo pueda mantener.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AA7811-F629-4F48-B134-E57F0286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D7E0EA"/>
                </a:solidFill>
              </a:defRPr>
            </a:pPr>
            <a:r>
              <a:rPr sz="1350" b="0" i="0">
                <a:solidFill>
                  <a:srgbClr val="D7E0EA"/>
                </a:solidFill>
              </a:rPr>
              <a:t>Una memoria comun sirve cuando alguien que no estuvo en la decision puede continuar el razonamiento.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63A61E-D372-474F-BADC-16CE0BE8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D7E0EA"/>
                </a:solidFill>
              </a:defRPr>
            </a:pPr>
            <a:r>
              <a:rPr sz="900" b="0" i="0">
                <a:solidFill>
                  <a:srgbClr val="D7E0EA"/>
                </a:solidFill>
              </a:rPr>
              <a:t>Knowledge Repo 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D16784-5008-4AD7-9E96-1580631C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D7E0EA"/>
                </a:solidFill>
              </a:defRPr>
            </a:pPr>
            <a:r>
              <a:rPr sz="900" b="1" i="0">
                <a:solidFill>
                  <a:srgbClr val="D7E0EA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777095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8568" dir="4721404">
              <a:srgbClr val="0F172A">
                <a:alpha val="13000"/>
              </a:srgbClr>
            </a:outerShdw>
          </a:effectLst>
        </a:effectStyle>
        <a:effectStyle>
          <a:effectLst>
            <a:outerShdw blurRad="95250" dist="39273" dir="4557825">
              <a:srgbClr val="0F172A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2026-07-05T00:03:07.6090000Z</dcterms:created>
  <dcterms:modified xsi:type="dcterms:W3CDTF">2026-07-05T00:03:07.6090000Z</dcterms:modified>
</coreProperties>
</file>