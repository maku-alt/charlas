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30352"/>
            <a:ext cx="1417320" cy="73152"/>
          </a:xfrm>
          <a:prstGeom prst="rect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1005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EAD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CHARLA TÉCNICA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682496"/>
            <a:ext cx="5440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5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Documentar tablas deja de ser documentación cuando el equipo necesita memoria común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576072" y="42062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ED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salto no es escribir más archivos; es conectar y mantener lo que el equipo ya sabe.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10528" y="1207008"/>
            <a:ext cx="4754880" cy="4297680"/>
          </a:xfrm>
          <a:prstGeom prst="rect">
            <a:avLst/>
          </a:prstGeom>
          <a:solidFill>
            <a:srgbClr val="16324F"/>
          </a:solidFill>
          <a:ln w="10160">
            <a:solidFill>
              <a:srgbClr val="C75C2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03720" y="15727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memoria común /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88352" y="2450592"/>
            <a:ext cx="1737360" cy="91440"/>
          </a:xfrm>
          <a:prstGeom prst="line">
            <a:avLst/>
          </a:prstGeom>
          <a:noFill/>
          <a:ln w="13335">
            <a:solidFill>
              <a:srgbClr val="E07A3F">
                <a:alpha val="9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88352" y="2450592"/>
            <a:ext cx="1627632" cy="1591056"/>
          </a:xfrm>
          <a:prstGeom prst="line">
            <a:avLst/>
          </a:prstGeom>
          <a:noFill/>
          <a:ln w="13335">
            <a:solidFill>
              <a:srgbClr val="E07A3F">
                <a:alpha val="9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72600" y="2743200"/>
            <a:ext cx="155448" cy="1115568"/>
          </a:xfrm>
          <a:prstGeom prst="line">
            <a:avLst/>
          </a:prstGeom>
          <a:noFill/>
          <a:ln w="13335">
            <a:solidFill>
              <a:srgbClr val="E07A3F">
                <a:alpha val="9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7360920" y="4133088"/>
            <a:ext cx="1819656" cy="118872"/>
          </a:xfrm>
          <a:prstGeom prst="line">
            <a:avLst/>
          </a:prstGeom>
          <a:noFill/>
          <a:ln w="13335">
            <a:solidFill>
              <a:srgbClr val="E07A3F">
                <a:alpha val="9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59168" y="2084832"/>
            <a:ext cx="1481328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3E5B73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1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05472" y="22037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clientes.md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7205472" y="251460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AD7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AD7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vigencia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8887968" y="2267712"/>
            <a:ext cx="1572768" cy="841248"/>
          </a:xfrm>
          <a:prstGeom prst="rect">
            <a:avLst/>
          </a:prstGeom>
          <a:solidFill>
            <a:srgbClr val="FFFDF8"/>
          </a:solidFill>
          <a:ln w="12700">
            <a:solidFill>
              <a:srgbClr val="EADBC8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1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34272" y="23865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métricas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034272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retención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churn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8805672" y="3703320"/>
            <a:ext cx="1737360" cy="822960"/>
          </a:xfrm>
          <a:prstGeom prst="rect">
            <a:avLst/>
          </a:prstGeom>
          <a:solidFill>
            <a:srgbClr val="FFFDF8"/>
          </a:solidFill>
          <a:ln w="12700">
            <a:solidFill>
              <a:srgbClr val="EADBC8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1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51976" y="382219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51976" y="413308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aprobó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7178040" y="3977640"/>
            <a:ext cx="1481328" cy="768096"/>
          </a:xfrm>
          <a:prstGeom prst="rect">
            <a:avLst/>
          </a:prstGeom>
          <a:solidFill>
            <a:srgbClr val="102A43"/>
          </a:solidFill>
          <a:ln w="12700">
            <a:solidFill>
              <a:srgbClr val="3E5B73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24344" y="40965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owners.yml</a:t>
            </a:r>
            <a:endParaRPr lang="en-US" sz="770" dirty="0"/>
          </a:p>
        </p:txBody>
      </p:sp>
      <p:sp>
        <p:nvSpPr>
          <p:cNvPr id="24" name="Text 22"/>
          <p:cNvSpPr/>
          <p:nvPr/>
        </p:nvSpPr>
        <p:spPr>
          <a:xfrm>
            <a:off x="7324344" y="44074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AD7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dominio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CAD7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6912864" y="4992624"/>
            <a:ext cx="3246120" cy="283464"/>
          </a:xfrm>
          <a:prstGeom prst="roundRect">
            <a:avLst>
              <a:gd name="adj" fmla="val 12903"/>
            </a:avLst>
          </a:prstGeom>
          <a:solidFill>
            <a:srgbClr val="C75C2A"/>
          </a:solidFill>
          <a:ln w="12700">
            <a:solidFill>
              <a:srgbClr val="C75C2A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04304" y="5061204"/>
            <a:ext cx="3063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formato + navegación + gobierno + interfaz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576072" y="587044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8E0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equipos de datos que necesitan convertir fichas dispersas en conocimiento reutilizable.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356848" y="627278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E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868680" cy="7315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spc="110" kern="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11249863" y="38404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ficha Markdown por tabla resuelve el primer 20%, no el sistema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5138928"/>
            <a:ext cx="10881360" cy="1645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5376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formato base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841248" y="1828800"/>
            <a:ext cx="4251960" cy="2971800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7552" y="1947672"/>
            <a:ext cx="3959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clientes.md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87552" y="2258568"/>
            <a:ext cx="395935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---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tabla: clientes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descripcion: Maestro de clientes activos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columnas: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- cliente_id: clave estable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- fecha_alta: primera activación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usos: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- segmentación comercial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- análisis de retención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---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5806440" y="2084832"/>
            <a:ext cx="137160" cy="13716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53328" y="2011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53328" y="23408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viaja con el repo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5806440" y="2770632"/>
            <a:ext cx="137160" cy="13716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3328" y="2697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Versionable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53328" y="30266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 a Git y PRs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5532120" y="3493008"/>
            <a:ext cx="5257800" cy="1325880"/>
          </a:xfrm>
          <a:prstGeom prst="arc">
            <a:avLst/>
          </a:prstGeom>
          <a:solidFill>
            <a:srgbClr val="F4F0E8">
              <a:alpha val="0"/>
            </a:srgbClr>
          </a:solidFill>
          <a:ln w="17145">
            <a:solidFill>
              <a:srgbClr val="C75C2A">
                <a:alpha val="8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463600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7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8101584" y="1920240"/>
            <a:ext cx="987552" cy="283464"/>
          </a:xfrm>
          <a:prstGeom prst="roundRect">
            <a:avLst>
              <a:gd name="adj" fmla="val 12903"/>
            </a:avLst>
          </a:prstGeom>
          <a:solidFill>
            <a:srgbClr val="C75C2A"/>
          </a:solidFill>
          <a:ln w="12700">
            <a:solidFill>
              <a:srgbClr val="D7C5AF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93024" y="1988820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9052560" y="2578608"/>
            <a:ext cx="987552" cy="283464"/>
          </a:xfrm>
          <a:prstGeom prst="roundRect">
            <a:avLst>
              <a:gd name="adj" fmla="val 12903"/>
            </a:avLst>
          </a:prstGeom>
          <a:solidFill>
            <a:srgbClr val="EADBC8"/>
          </a:solidFill>
          <a:ln w="12700">
            <a:solidFill>
              <a:srgbClr val="D7C5AF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2647188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vigencia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8412480" y="3291840"/>
            <a:ext cx="987552" cy="283464"/>
          </a:xfrm>
          <a:prstGeom prst="roundRect">
            <a:avLst>
              <a:gd name="adj" fmla="val 12903"/>
            </a:avLst>
          </a:prstGeom>
          <a:solidFill>
            <a:srgbClr val="EADBC8"/>
          </a:solidFill>
          <a:ln w="12700">
            <a:solidFill>
              <a:srgbClr val="D7C5AF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3360420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relaciones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7178040" y="3840480"/>
            <a:ext cx="987552" cy="283464"/>
          </a:xfrm>
          <a:prstGeom prst="roundRect">
            <a:avLst>
              <a:gd name="adj" fmla="val 12903"/>
            </a:avLst>
          </a:prstGeom>
          <a:solidFill>
            <a:srgbClr val="EADBC8"/>
          </a:solidFill>
          <a:ln w="12700">
            <a:solidFill>
              <a:srgbClr val="D7C5AF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3909060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</a:t>
            </a:r>
            <a:endParaRPr lang="en-US" sz="730" dirty="0"/>
          </a:p>
        </p:txBody>
      </p:sp>
      <p:sp>
        <p:nvSpPr>
          <p:cNvPr id="27" name="Text 25"/>
          <p:cNvSpPr/>
          <p:nvPr/>
        </p:nvSpPr>
        <p:spPr>
          <a:xfrm>
            <a:off x="5806440" y="440740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ficha es el ladrillo correcto; todavía falta decidir cómo se mantiene y se conecta.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6236208"/>
            <a:ext cx="10808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Markdown es buen formato base porque es portable y versionable.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868680" cy="7315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spc="110" kern="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FRICCIÓN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11249863" y="38404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7635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dolor aparece cuando la pregunta cruza tablas, métricas y decisiones pasadas</a:t>
            </a:r>
            <a:endParaRPr lang="en-US" sz="2750" dirty="0"/>
          </a:p>
        </p:txBody>
      </p:sp>
      <p:sp>
        <p:nvSpPr>
          <p:cNvPr id="6" name="Shape 4"/>
          <p:cNvSpPr/>
          <p:nvPr/>
        </p:nvSpPr>
        <p:spPr>
          <a:xfrm>
            <a:off x="2240280" y="1682496"/>
            <a:ext cx="7178040" cy="3429000"/>
          </a:xfrm>
          <a:prstGeom prst="arc">
            <a:avLst/>
          </a:prstGeom>
          <a:solidFill>
            <a:srgbClr val="F4F0E8">
              <a:alpha val="0"/>
            </a:srgbClr>
          </a:solidFill>
          <a:ln w="13970">
            <a:solidFill>
              <a:srgbClr val="D7C5AF">
                <a:alpha val="8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3063240" y="2029968"/>
            <a:ext cx="5532120" cy="2724912"/>
          </a:xfrm>
          <a:prstGeom prst="arc">
            <a:avLst/>
          </a:prstGeom>
          <a:solidFill>
            <a:srgbClr val="F4F0E8">
              <a:alpha val="0"/>
            </a:srgbClr>
          </a:solidFill>
          <a:ln w="12700">
            <a:solidFill>
              <a:srgbClr val="E07A3F">
                <a:alpha val="8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31720" y="2688336"/>
            <a:ext cx="3831336" cy="530352"/>
          </a:xfrm>
          <a:prstGeom prst="line">
            <a:avLst/>
          </a:prstGeom>
          <a:noFill/>
          <a:ln w="9144">
            <a:solidFill>
              <a:srgbClr val="E07A3F">
                <a:alpha val="9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2542032"/>
            <a:ext cx="1005840" cy="283464"/>
          </a:xfrm>
          <a:prstGeom prst="roundRect">
            <a:avLst>
              <a:gd name="adj" fmla="val 12903"/>
            </a:avLst>
          </a:prstGeom>
          <a:solidFill>
            <a:srgbClr val="EADBC8"/>
          </a:solidFill>
          <a:ln w="12700">
            <a:solidFill>
              <a:srgbClr val="D7C5AF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61061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owner?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 flipV="1">
            <a:off x="6163056" y="2450592"/>
            <a:ext cx="2340864" cy="768096"/>
          </a:xfrm>
          <a:prstGeom prst="line">
            <a:avLst/>
          </a:prstGeom>
          <a:noFill/>
          <a:ln w="9144">
            <a:solidFill>
              <a:srgbClr val="E07A3F">
                <a:alpha val="9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0" y="2304288"/>
            <a:ext cx="1005840" cy="283464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12700">
            <a:solidFill>
              <a:srgbClr val="D7C5AF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2372868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vigencia?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 flipV="1">
            <a:off x="1673352" y="3218688"/>
            <a:ext cx="4489704" cy="905256"/>
          </a:xfrm>
          <a:prstGeom prst="line">
            <a:avLst/>
          </a:prstGeom>
          <a:noFill/>
          <a:ln w="9144">
            <a:solidFill>
              <a:srgbClr val="E07A3F">
                <a:alpha val="9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70432" y="3977640"/>
            <a:ext cx="1572768" cy="283464"/>
          </a:xfrm>
          <a:prstGeom prst="roundRect">
            <a:avLst>
              <a:gd name="adj" fmla="val 12903"/>
            </a:avLst>
          </a:prstGeom>
          <a:solidFill>
            <a:srgbClr val="EADBC8"/>
          </a:solidFill>
          <a:ln w="12700">
            <a:solidFill>
              <a:srgbClr val="D7C5AF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1872" y="4046220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joins seguros?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6163056" y="3218688"/>
            <a:ext cx="2679192" cy="786384"/>
          </a:xfrm>
          <a:prstGeom prst="line">
            <a:avLst/>
          </a:prstGeom>
          <a:noFill/>
          <a:ln w="9144">
            <a:solidFill>
              <a:srgbClr val="B42318">
                <a:alpha val="9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39328" y="3858768"/>
            <a:ext cx="1005840" cy="283464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12700">
            <a:solidFill>
              <a:srgbClr val="D7C5AF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0768" y="3927348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B423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riesgos PII?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 flipV="1">
            <a:off x="3429000" y="3218688"/>
            <a:ext cx="2734056" cy="1755648"/>
          </a:xfrm>
          <a:prstGeom prst="line">
            <a:avLst/>
          </a:prstGeom>
          <a:noFill/>
          <a:ln w="9144">
            <a:solidFill>
              <a:srgbClr val="E07A3F">
                <a:alpha val="9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0" y="4828032"/>
            <a:ext cx="1005840" cy="283464"/>
          </a:xfrm>
          <a:prstGeom prst="roundRect">
            <a:avLst>
              <a:gd name="adj" fmla="val 12903"/>
            </a:avLst>
          </a:prstGeom>
          <a:solidFill>
            <a:srgbClr val="EADBC8"/>
          </a:solidFill>
          <a:ln w="12700">
            <a:solidFill>
              <a:srgbClr val="D7C5AF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0" y="489661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dashboards?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6163056" y="3218688"/>
            <a:ext cx="649224" cy="1664208"/>
          </a:xfrm>
          <a:prstGeom prst="line">
            <a:avLst/>
          </a:prstGeom>
          <a:noFill/>
          <a:ln w="9144">
            <a:solidFill>
              <a:srgbClr val="E07A3F">
                <a:alpha val="9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4736592"/>
            <a:ext cx="1572768" cy="283464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12700">
            <a:solidFill>
              <a:srgbClr val="D7C5AF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805172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dudas resueltas?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4663440" y="2020824"/>
            <a:ext cx="1499616" cy="1197864"/>
          </a:xfrm>
          <a:prstGeom prst="line">
            <a:avLst/>
          </a:prstGeom>
          <a:noFill/>
          <a:ln w="9144">
            <a:solidFill>
              <a:srgbClr val="E07A3F">
                <a:alpha val="9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60520" y="1874520"/>
            <a:ext cx="1572768" cy="283464"/>
          </a:xfrm>
          <a:prstGeom prst="roundRect">
            <a:avLst>
              <a:gd name="adj" fmla="val 12903"/>
            </a:avLst>
          </a:prstGeom>
          <a:solidFill>
            <a:srgbClr val="EADBC8"/>
          </a:solidFill>
          <a:ln w="12700">
            <a:solidFill>
              <a:srgbClr val="D7C5AF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51960" y="1943100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métricas relacionadas?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4892040" y="2542032"/>
            <a:ext cx="2487168" cy="1353312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1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38344" y="266090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38344" y="2971800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 base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unidad suficiente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45152" y="2267712"/>
            <a:ext cx="2944368" cy="1874520"/>
          </a:xfrm>
          <a:prstGeom prst="rect">
            <a:avLst/>
          </a:prstGeom>
          <a:solidFill>
            <a:srgbClr val="F4F0E8">
              <a:alpha val="0"/>
            </a:srgbClr>
          </a:solidFill>
          <a:ln w="13970">
            <a:solidFill>
              <a:srgbClr val="C75C2A">
                <a:alpha val="82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5376672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ficha responde qué es la tabla. La red responde si puedes confiar en ella hoy.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" y="6236208"/>
            <a:ext cx="10808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unidad de valor ya no es la ficha; es la red de conocimiento.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868680" cy="7315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spc="110" kern="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DISTINCIÓN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11249863" y="38404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758952"/>
            <a:ext cx="7315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Wiki no es lo mismo que memoria operacional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0" y="1847088"/>
            <a:ext cx="6126480" cy="3611880"/>
          </a:xfrm>
          <a:prstGeom prst="rect">
            <a:avLst/>
          </a:prstGeom>
          <a:solidFill>
            <a:srgbClr val="EADBC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04688" y="1847088"/>
            <a:ext cx="1417320" cy="3611880"/>
          </a:xfrm>
          <a:prstGeom prst="chevron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847088"/>
            <a:ext cx="5742432" cy="3611880"/>
          </a:xfrm>
          <a:prstGeom prst="rect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0848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7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WIKI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1124712" y="23957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Navegación humana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892808" y="3401568"/>
            <a:ext cx="1216152" cy="914400"/>
          </a:xfrm>
          <a:prstGeom prst="line">
            <a:avLst/>
          </a:prstGeom>
          <a:noFill/>
          <a:ln w="15240">
            <a:solidFill>
              <a:srgbClr val="16324F">
                <a:alpha val="9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3108960" y="3401568"/>
            <a:ext cx="1188720" cy="914400"/>
          </a:xfrm>
          <a:prstGeom prst="line">
            <a:avLst/>
          </a:prstGeom>
          <a:noFill/>
          <a:ln w="15240">
            <a:solidFill>
              <a:srgbClr val="16324F">
                <a:alpha val="9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91640" y="3246120"/>
            <a:ext cx="329184" cy="329184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363931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926080" y="4160520"/>
            <a:ext cx="329184" cy="329184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455371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114800" y="3246120"/>
            <a:ext cx="329184" cy="329184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77640" y="363931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métrica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124712" y="495604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encontrar  /  leer  /  conectar ideas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7068312" y="20848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7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MEMORIA OPERACIONAL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7068312" y="23957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Gobierno mantenible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7315200" y="2999232"/>
            <a:ext cx="182880" cy="1828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16952" y="297180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confiar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7315200" y="3438144"/>
            <a:ext cx="182880" cy="1828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16952" y="34107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responsable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7315200" y="3877056"/>
            <a:ext cx="182880" cy="182880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16952" y="384962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vigente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7315200" y="4315968"/>
            <a:ext cx="182880" cy="182880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16952" y="4288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revisable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7068312" y="495604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confiar  /  responsable  /  vigente  /  revisable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" y="6236208"/>
            <a:ext cx="10808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Navegar conocimiento y gobernarlo son problemas distintos.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868680" cy="7315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spc="110" kern="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11249863" y="38404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78181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knowledge repo empieza cuando cada ficha declara identidad, relaciones y responsabilidad</a:t>
            </a:r>
            <a:endParaRPr lang="en-US" sz="2650" dirty="0"/>
          </a:p>
        </p:txBody>
      </p:sp>
      <p:sp>
        <p:nvSpPr>
          <p:cNvPr id="6" name="Shape 4"/>
          <p:cNvSpPr/>
          <p:nvPr/>
        </p:nvSpPr>
        <p:spPr>
          <a:xfrm>
            <a:off x="685800" y="1993392"/>
            <a:ext cx="4773168" cy="340156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1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32104" y="211226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clientes.md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32104" y="242316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---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id: data.crm.clientes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owner: crecimiento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estado: vigente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revisado: 2026-06-28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relaciones: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metricas: [retencion, churn]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dominios: [crm, growth]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consumidores: [dashboard-cx]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---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## Decisiones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cliente_id como clave estable...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053328" y="1993392"/>
            <a:ext cx="118872" cy="34015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80176" y="2121408"/>
            <a:ext cx="256032" cy="25603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28232" y="2002536"/>
            <a:ext cx="1901952" cy="283464"/>
          </a:xfrm>
          <a:prstGeom prst="roundRect">
            <a:avLst>
              <a:gd name="adj" fmla="val 12903"/>
            </a:avLst>
          </a:prstGeom>
          <a:solidFill>
            <a:srgbClr val="EADBC8"/>
          </a:solidFill>
          <a:ln w="12700">
            <a:solidFill>
              <a:srgbClr val="D7C5AF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071116"/>
            <a:ext cx="1719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Identidad estable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8613648" y="205282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canónico que no depende del título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980176" y="2871216"/>
            <a:ext cx="256032" cy="256032"/>
          </a:xfrm>
          <a:prstGeom prst="ellipse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28232" y="2752344"/>
            <a:ext cx="1901952" cy="283464"/>
          </a:xfrm>
          <a:prstGeom prst="roundRect">
            <a:avLst>
              <a:gd name="adj" fmla="val 12903"/>
            </a:avLst>
          </a:prstGeom>
          <a:solidFill>
            <a:srgbClr val="C75C2A"/>
          </a:solidFill>
          <a:ln w="12700">
            <a:solidFill>
              <a:srgbClr val="D7C5AF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2820924"/>
            <a:ext cx="1719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Responsabilidad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8613648" y="2802636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owner, estado y fecha de revisión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980176" y="3621024"/>
            <a:ext cx="256032" cy="25603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28232" y="3502152"/>
            <a:ext cx="1901952" cy="283464"/>
          </a:xfrm>
          <a:prstGeom prst="roundRect">
            <a:avLst>
              <a:gd name="adj" fmla="val 12903"/>
            </a:avLst>
          </a:prstGeom>
          <a:solidFill>
            <a:srgbClr val="EADBC8"/>
          </a:solidFill>
          <a:ln w="12700">
            <a:solidFill>
              <a:srgbClr val="D7C5AF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3570732"/>
            <a:ext cx="1719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Relaciones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8613648" y="3552444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métricas, dominios, consumidores y decisiones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980176" y="4370832"/>
            <a:ext cx="256032" cy="25603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28232" y="4251960"/>
            <a:ext cx="1901952" cy="283464"/>
          </a:xfrm>
          <a:prstGeom prst="roundRect">
            <a:avLst>
              <a:gd name="adj" fmla="val 12903"/>
            </a:avLst>
          </a:prstGeom>
          <a:solidFill>
            <a:srgbClr val="EADBC8"/>
          </a:solidFill>
          <a:ln w="12700">
            <a:solidFill>
              <a:srgbClr val="D7C5AF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9672" y="4320540"/>
            <a:ext cx="1719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8613648" y="4302252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cambios revisables, lint y links rotos visibles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400800" y="5084064"/>
            <a:ext cx="4553712" cy="365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5392" y="5193792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Contrato mínimo &gt; herramienta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6236208"/>
            <a:ext cx="10808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arquitectura vive en el contrato mínimo, no en la herramienta.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868680" cy="7315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spc="110" kern="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ECOSISTEMA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11249863" y="38404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7498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catálogos de datos modernos confirman que la metadata útil es relacional</a:t>
            </a:r>
            <a:endParaRPr lang="en-US" sz="2750" dirty="0"/>
          </a:p>
        </p:txBody>
      </p:sp>
      <p:sp>
        <p:nvSpPr>
          <p:cNvPr id="6" name="Shape 4"/>
          <p:cNvSpPr/>
          <p:nvPr/>
        </p:nvSpPr>
        <p:spPr>
          <a:xfrm>
            <a:off x="3584448" y="1700784"/>
            <a:ext cx="4343400" cy="3456432"/>
          </a:xfrm>
          <a:prstGeom prst="ellipse">
            <a:avLst/>
          </a:prstGeom>
          <a:solidFill>
            <a:srgbClr val="F7EBDD">
              <a:alpha val="92000"/>
            </a:srgbClr>
          </a:solidFill>
          <a:ln w="12700">
            <a:solidFill>
              <a:srgbClr val="D7C5A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24528" y="2084832"/>
            <a:ext cx="3063240" cy="2670048"/>
          </a:xfrm>
          <a:prstGeom prst="ellipse">
            <a:avLst/>
          </a:prstGeom>
          <a:solidFill>
            <a:srgbClr val="F4F0E8">
              <a:alpha val="0"/>
            </a:srgbClr>
          </a:solidFill>
          <a:ln w="12700">
            <a:solidFill>
              <a:srgbClr val="E07A3F">
                <a:alpha val="8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2505456"/>
            <a:ext cx="4507992" cy="621792"/>
          </a:xfrm>
          <a:prstGeom prst="line">
            <a:avLst/>
          </a:prstGeom>
          <a:noFill/>
          <a:ln w="10414">
            <a:solidFill>
              <a:srgbClr val="2D6A4F">
                <a:alpha val="9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59152"/>
            <a:ext cx="868680" cy="283464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12700">
            <a:solidFill>
              <a:srgbClr val="2D6A4F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427732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3429000" y="1993392"/>
            <a:ext cx="2679192" cy="1133856"/>
          </a:xfrm>
          <a:prstGeom prst="line">
            <a:avLst/>
          </a:prstGeom>
          <a:noFill/>
          <a:ln w="10414">
            <a:solidFill>
              <a:srgbClr val="16324F">
                <a:alpha val="9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1847088"/>
            <a:ext cx="868680" cy="283464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12700">
            <a:solidFill>
              <a:srgbClr val="16324F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915668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glossary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 flipV="1">
            <a:off x="6108192" y="2020824"/>
            <a:ext cx="2734056" cy="1106424"/>
          </a:xfrm>
          <a:prstGeom prst="line">
            <a:avLst/>
          </a:prstGeom>
          <a:noFill/>
          <a:ln w="10414">
            <a:solidFill>
              <a:srgbClr val="16324F">
                <a:alpha val="9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1874520"/>
            <a:ext cx="868680" cy="283464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12700">
            <a:solidFill>
              <a:srgbClr val="16324F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1943100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lineage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6108192" y="3127248"/>
            <a:ext cx="4160520" cy="146304"/>
          </a:xfrm>
          <a:prstGeom prst="line">
            <a:avLst/>
          </a:prstGeom>
          <a:noFill/>
          <a:ln w="10414">
            <a:solidFill>
              <a:srgbClr val="C75C2A">
                <a:alpha val="9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65792" y="3127248"/>
            <a:ext cx="868680" cy="283464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12700">
            <a:solidFill>
              <a:srgbClr val="C75C2A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57232" y="3195828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C7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6108192" y="3127248"/>
            <a:ext cx="2551176" cy="1664208"/>
          </a:xfrm>
          <a:prstGeom prst="line">
            <a:avLst/>
          </a:prstGeom>
          <a:noFill/>
          <a:ln w="10414">
            <a:solidFill>
              <a:srgbClr val="2D6A4F">
                <a:alpha val="9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6448" y="4645152"/>
            <a:ext cx="868680" cy="283464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12700">
            <a:solidFill>
              <a:srgbClr val="2D6A4F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7888" y="4713732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2D6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 flipV="1">
            <a:off x="3447288" y="3127248"/>
            <a:ext cx="2660904" cy="1792224"/>
          </a:xfrm>
          <a:prstGeom prst="line">
            <a:avLst/>
          </a:prstGeom>
          <a:noFill/>
          <a:ln w="10414">
            <a:solidFill>
              <a:srgbClr val="C75C2A">
                <a:alpha val="9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44368" y="4773168"/>
            <a:ext cx="868680" cy="283464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12700">
            <a:solidFill>
              <a:srgbClr val="C75C2A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35808" y="4841748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C7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 flipV="1">
            <a:off x="1581912" y="3127248"/>
            <a:ext cx="4526280" cy="905256"/>
          </a:xfrm>
          <a:prstGeom prst="line">
            <a:avLst/>
          </a:prstGeom>
          <a:noFill/>
          <a:ln w="10414">
            <a:solidFill>
              <a:srgbClr val="16324F">
                <a:alpha val="9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78992" y="3886200"/>
            <a:ext cx="991210" cy="283464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12700">
            <a:solidFill>
              <a:srgbClr val="16324F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70432" y="3954780"/>
            <a:ext cx="80833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consumidores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4773168" y="2414016"/>
            <a:ext cx="2670048" cy="1426464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92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1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19472" y="25328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tabla: clientes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19472" y="2843784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 central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texto aislado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777240" y="55778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Patrón visible en catalogs, lineage, dbt docs y contratos de datos.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" y="6236208"/>
            <a:ext cx="10808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estamos inventando burocracia; estamos bajando capacidades de catálogo a una escala operable.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868680" cy="7315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spc="110" kern="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AGENTES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11249863" y="38404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7863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agente no necesita leerlo todo: necesita una entrada confiable y contexto ensamblable</a:t>
            </a:r>
            <a:endParaRPr lang="en-US" sz="2650" dirty="0"/>
          </a:p>
        </p:txBody>
      </p:sp>
      <p:sp>
        <p:nvSpPr>
          <p:cNvPr id="6" name="Shape 4"/>
          <p:cNvSpPr/>
          <p:nvPr/>
        </p:nvSpPr>
        <p:spPr>
          <a:xfrm>
            <a:off x="777240" y="2487168"/>
            <a:ext cx="2377440" cy="1298448"/>
          </a:xfrm>
          <a:prstGeom prst="chevron">
            <a:avLst/>
          </a:prstGeom>
          <a:solidFill>
            <a:srgbClr val="FFFDF8"/>
          </a:solidFill>
          <a:ln w="12700">
            <a:solidFill>
              <a:srgbClr val="D7C5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78892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7552" y="31363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acotada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3456432" y="2212848"/>
            <a:ext cx="1874520" cy="1865376"/>
          </a:xfrm>
          <a:prstGeom prst="trapezoid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22192" y="27614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MCP/API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75888" y="3127248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FFE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 confiable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5989320" y="2148840"/>
            <a:ext cx="2331720" cy="20116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257860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repo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45936" y="2971800"/>
            <a:ext cx="1627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DD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memoria gobernada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6309360" y="3355848"/>
            <a:ext cx="1444752" cy="283464"/>
          </a:xfrm>
          <a:prstGeom prst="roundRect">
            <a:avLst>
              <a:gd name="adj" fmla="val 12903"/>
            </a:avLst>
          </a:prstGeom>
          <a:solidFill>
            <a:srgbClr val="2A4B66"/>
          </a:solidFill>
          <a:ln w="12700">
            <a:solidFill>
              <a:srgbClr val="2A4B66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42442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fichas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6309360" y="3630168"/>
            <a:ext cx="1444752" cy="283464"/>
          </a:xfrm>
          <a:prstGeom prst="roundRect">
            <a:avLst>
              <a:gd name="adj" fmla="val 12903"/>
            </a:avLst>
          </a:prstGeom>
          <a:solidFill>
            <a:srgbClr val="2A4B66"/>
          </a:solidFill>
          <a:ln w="12700">
            <a:solidFill>
              <a:srgbClr val="2A4B66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69874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versionado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6309360" y="3904488"/>
            <a:ext cx="1444752" cy="283464"/>
          </a:xfrm>
          <a:prstGeom prst="roundRect">
            <a:avLst>
              <a:gd name="adj" fmla="val 12903"/>
            </a:avLst>
          </a:prstGeom>
          <a:solidFill>
            <a:srgbClr val="2A4B66"/>
          </a:solidFill>
          <a:ln w="12700">
            <a:solidFill>
              <a:srgbClr val="2A4B66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97306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owners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9235440" y="2359152"/>
            <a:ext cx="2057400" cy="1600200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436608" y="2651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paquete de contexto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546336" y="3063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verificable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ensamblable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actualizable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2852928" y="3136392"/>
            <a:ext cx="640080" cy="0"/>
          </a:xfrm>
          <a:prstGeom prst="line">
            <a:avLst/>
          </a:prstGeom>
          <a:noFill/>
          <a:ln w="20320">
            <a:solidFill>
              <a:srgbClr val="C75C2A">
                <a:alpha val="9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0" y="3136392"/>
            <a:ext cx="685800" cy="0"/>
          </a:xfrm>
          <a:prstGeom prst="line">
            <a:avLst/>
          </a:prstGeom>
          <a:noFill/>
          <a:ln w="20320">
            <a:solidFill>
              <a:srgbClr val="C75C2A">
                <a:alpha val="9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3136392"/>
            <a:ext cx="914400" cy="0"/>
          </a:xfrm>
          <a:prstGeom prst="line">
            <a:avLst/>
          </a:prstGeom>
          <a:noFill/>
          <a:ln w="20320">
            <a:solidFill>
              <a:srgbClr val="C75C2A">
                <a:alpha val="9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74520" y="4709160"/>
            <a:ext cx="2331720" cy="283464"/>
          </a:xfrm>
          <a:prstGeom prst="roundRect">
            <a:avLst>
              <a:gd name="adj" fmla="val 12903"/>
            </a:avLst>
          </a:prstGeom>
          <a:solidFill>
            <a:srgbClr val="EADBC8"/>
          </a:solidFill>
          <a:ln w="12700">
            <a:solidFill>
              <a:srgbClr val="D7C5AF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65960" y="4777740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C7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MCP/API no reemplaza curaduría.</a:t>
            </a:r>
            <a:endParaRPr lang="en-US" sz="670" dirty="0"/>
          </a:p>
        </p:txBody>
      </p:sp>
      <p:sp>
        <p:nvSpPr>
          <p:cNvPr id="29" name="Shape 27"/>
          <p:cNvSpPr/>
          <p:nvPr/>
        </p:nvSpPr>
        <p:spPr>
          <a:xfrm>
            <a:off x="4617720" y="4709160"/>
            <a:ext cx="2331720" cy="283464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12700">
            <a:solidFill>
              <a:srgbClr val="D7C5AF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4777740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repo decide vigencia, owners y relaciones.</a:t>
            </a:r>
            <a:endParaRPr lang="en-US" sz="670" dirty="0"/>
          </a:p>
        </p:txBody>
      </p:sp>
      <p:sp>
        <p:nvSpPr>
          <p:cNvPr id="31" name="Shape 29"/>
          <p:cNvSpPr/>
          <p:nvPr/>
        </p:nvSpPr>
        <p:spPr>
          <a:xfrm>
            <a:off x="7360920" y="4709160"/>
            <a:ext cx="2331720" cy="283464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12700">
            <a:solidFill>
              <a:srgbClr val="D7C5AF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4777740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agente ensambla contexto, no inventa memoria.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" y="6236208"/>
            <a:ext cx="10808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Preparar memoria reduce improvisación y contexto irrelevante.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868680" cy="7315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spc="110" kern="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TRADEOFF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11249863" y="38404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decisión no es Markdown versus catálogo: es qué capa cumple cada rol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856232"/>
            <a:ext cx="1920240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039112"/>
            <a:ext cx="1719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2578608" y="1856232"/>
            <a:ext cx="1572768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9192" y="203911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Markdown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4151376" y="1856232"/>
            <a:ext cx="1508760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2039112"/>
            <a:ext cx="1307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Wiki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5660136" y="1856232"/>
            <a:ext cx="1874520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2039112"/>
            <a:ext cx="1673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 repo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7534656" y="1856232"/>
            <a:ext cx="1828800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2039112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OKF-style bundle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9363456" y="1856232"/>
            <a:ext cx="1536192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64040" y="2039112"/>
            <a:ext cx="1335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MCP/API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658368" y="2423160"/>
            <a:ext cx="1920240" cy="56692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2606040"/>
            <a:ext cx="1719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Formato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2578608" y="2423160"/>
            <a:ext cx="1572768" cy="56692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9192" y="260604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4151376" y="2423160"/>
            <a:ext cx="1508760" cy="56692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2606040"/>
            <a:ext cx="1307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medio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5660136" y="2423160"/>
            <a:ext cx="1874520" cy="566928"/>
          </a:xfrm>
          <a:prstGeom prst="rect">
            <a:avLst/>
          </a:prstGeom>
          <a:solidFill>
            <a:srgbClr val="F9F3EA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2606040"/>
            <a:ext cx="1673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C7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7534656" y="2423160"/>
            <a:ext cx="1828800" cy="56692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2606040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9363456" y="2423160"/>
            <a:ext cx="1536192" cy="56692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64040" y="2606040"/>
            <a:ext cx="1335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bajo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658368" y="2990088"/>
            <a:ext cx="1920240" cy="56692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3172968"/>
            <a:ext cx="1719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Navegación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2578608" y="2990088"/>
            <a:ext cx="1572768" cy="56692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79192" y="317296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4151376" y="2990088"/>
            <a:ext cx="1508760" cy="56692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51960" y="3172968"/>
            <a:ext cx="1307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alta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5660136" y="2990088"/>
            <a:ext cx="1874520" cy="566928"/>
          </a:xfrm>
          <a:prstGeom prst="rect">
            <a:avLst/>
          </a:prstGeom>
          <a:solidFill>
            <a:srgbClr val="F9F3EA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3172968"/>
            <a:ext cx="1673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C7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7534656" y="2990088"/>
            <a:ext cx="1828800" cy="56692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35240" y="3172968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9363456" y="2990088"/>
            <a:ext cx="1536192" cy="56692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64040" y="3172968"/>
            <a:ext cx="1335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658368" y="3557016"/>
            <a:ext cx="1920240" cy="56692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" y="3739896"/>
            <a:ext cx="1719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Gobierno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2578608" y="3557016"/>
            <a:ext cx="1572768" cy="56692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9192" y="3739896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bajo</a:t>
            </a:r>
            <a:endParaRPr lang="en-US" sz="760" dirty="0"/>
          </a:p>
        </p:txBody>
      </p:sp>
      <p:sp>
        <p:nvSpPr>
          <p:cNvPr id="46" name="Shape 44"/>
          <p:cNvSpPr/>
          <p:nvPr/>
        </p:nvSpPr>
        <p:spPr>
          <a:xfrm>
            <a:off x="4151376" y="3557016"/>
            <a:ext cx="1508760" cy="56692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51960" y="3739896"/>
            <a:ext cx="1307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5660136" y="3557016"/>
            <a:ext cx="1874520" cy="566928"/>
          </a:xfrm>
          <a:prstGeom prst="rect">
            <a:avLst/>
          </a:prstGeom>
          <a:solidFill>
            <a:srgbClr val="F9F3EA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0" y="3739896"/>
            <a:ext cx="1673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C7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7534656" y="3557016"/>
            <a:ext cx="1828800" cy="56692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35240" y="3739896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mínimo</a:t>
            </a:r>
            <a:endParaRPr lang="en-US" sz="760" dirty="0"/>
          </a:p>
        </p:txBody>
      </p:sp>
      <p:sp>
        <p:nvSpPr>
          <p:cNvPr id="52" name="Shape 50"/>
          <p:cNvSpPr/>
          <p:nvPr/>
        </p:nvSpPr>
        <p:spPr>
          <a:xfrm>
            <a:off x="9363456" y="3557016"/>
            <a:ext cx="1536192" cy="56692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64040" y="3739896"/>
            <a:ext cx="1335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aplica</a:t>
            </a:r>
            <a:endParaRPr lang="en-US" sz="760" dirty="0"/>
          </a:p>
        </p:txBody>
      </p:sp>
      <p:sp>
        <p:nvSpPr>
          <p:cNvPr id="54" name="Shape 52"/>
          <p:cNvSpPr/>
          <p:nvPr/>
        </p:nvSpPr>
        <p:spPr>
          <a:xfrm>
            <a:off x="658368" y="4123944"/>
            <a:ext cx="1920240" cy="56692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" y="4306824"/>
            <a:ext cx="1719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Operación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2578608" y="4123944"/>
            <a:ext cx="1572768" cy="56692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79192" y="4306824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</a:t>
            </a:r>
            <a:endParaRPr lang="en-US" sz="760" dirty="0"/>
          </a:p>
        </p:txBody>
      </p:sp>
      <p:sp>
        <p:nvSpPr>
          <p:cNvPr id="58" name="Shape 56"/>
          <p:cNvSpPr/>
          <p:nvPr/>
        </p:nvSpPr>
        <p:spPr>
          <a:xfrm>
            <a:off x="4151376" y="4123944"/>
            <a:ext cx="1508760" cy="56692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51960" y="4306824"/>
            <a:ext cx="1307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</a:t>
            </a:r>
            <a:endParaRPr lang="en-US" sz="760" dirty="0"/>
          </a:p>
        </p:txBody>
      </p:sp>
      <p:sp>
        <p:nvSpPr>
          <p:cNvPr id="60" name="Shape 58"/>
          <p:cNvSpPr/>
          <p:nvPr/>
        </p:nvSpPr>
        <p:spPr>
          <a:xfrm>
            <a:off x="5660136" y="4123944"/>
            <a:ext cx="1874520" cy="566928"/>
          </a:xfrm>
          <a:prstGeom prst="rect">
            <a:avLst/>
          </a:prstGeom>
          <a:solidFill>
            <a:srgbClr val="F9F3EA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60720" y="4306824"/>
            <a:ext cx="1673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C75C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+ owners</a:t>
            </a:r>
            <a:endParaRPr lang="en-US" sz="760" dirty="0"/>
          </a:p>
        </p:txBody>
      </p:sp>
      <p:sp>
        <p:nvSpPr>
          <p:cNvPr id="62" name="Shape 60"/>
          <p:cNvSpPr/>
          <p:nvPr/>
        </p:nvSpPr>
        <p:spPr>
          <a:xfrm>
            <a:off x="7534656" y="4123944"/>
            <a:ext cx="1828800" cy="56692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35240" y="4306824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bundle portable</a:t>
            </a:r>
            <a:endParaRPr lang="en-US" sz="760" dirty="0"/>
          </a:p>
        </p:txBody>
      </p:sp>
      <p:sp>
        <p:nvSpPr>
          <p:cNvPr id="64" name="Shape 62"/>
          <p:cNvSpPr/>
          <p:nvPr/>
        </p:nvSpPr>
        <p:spPr>
          <a:xfrm>
            <a:off x="9363456" y="4123944"/>
            <a:ext cx="1536192" cy="56692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92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464040" y="4306824"/>
            <a:ext cx="1335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</a:t>
            </a:r>
            <a:endParaRPr lang="en-US" sz="760" dirty="0"/>
          </a:p>
        </p:txBody>
      </p:sp>
      <p:sp>
        <p:nvSpPr>
          <p:cNvPr id="66" name="Shape 64"/>
          <p:cNvSpPr/>
          <p:nvPr/>
        </p:nvSpPr>
        <p:spPr>
          <a:xfrm>
            <a:off x="5660136" y="1737360"/>
            <a:ext cx="1874520" cy="3127248"/>
          </a:xfrm>
          <a:prstGeom prst="rect">
            <a:avLst/>
          </a:prstGeom>
          <a:solidFill>
            <a:srgbClr val="F4F0E8">
              <a:alpha val="0"/>
            </a:srgbClr>
          </a:solidFill>
          <a:ln w="17780">
            <a:solidFill>
              <a:srgbClr val="C75C2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86384" y="4901184"/>
            <a:ext cx="3703320" cy="566928"/>
          </a:xfrm>
          <a:prstGeom prst="rect">
            <a:avLst/>
          </a:prstGeom>
          <a:solidFill>
            <a:srgbClr val="EADBC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87552" y="505663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Lectura ejecutiva: asigna una responsabilidad por capa.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4800600" y="5093208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OKF aparece como referencia emergente de formato portable, no como estándar corporativo maduro.</a:t>
            </a:r>
            <a:endParaRPr lang="en-US" sz="810" dirty="0"/>
          </a:p>
        </p:txBody>
      </p:sp>
      <p:sp>
        <p:nvSpPr>
          <p:cNvPr id="70" name="Shape 6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FFFDF8"/>
          </a:solidFill>
          <a:ln w="12700">
            <a:solidFill>
              <a:srgbClr val="D7C5AF">
                <a:alpha val="8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7512" y="6236208"/>
            <a:ext cx="10808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capas evita comprar herramienta o sobrediseñar antes de tiempo.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ictor\Proyectos\2026\charlas\Knowledge Repo 01 - Cuando Documentar Tablas se Vuelve Arquitectura de Conocimiento\assets\closing-knowledge-rep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102A43">
              <a:alpha val="9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02920" y="256032"/>
            <a:ext cx="868680" cy="7315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411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spc="110" kern="0" dirty="0">
                <a:solidFill>
                  <a:srgbClr val="C9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870" dirty="0"/>
          </a:p>
        </p:txBody>
      </p:sp>
      <p:sp>
        <p:nvSpPr>
          <p:cNvPr id="6" name="Text 3"/>
          <p:cNvSpPr/>
          <p:nvPr/>
        </p:nvSpPr>
        <p:spPr>
          <a:xfrm>
            <a:off x="11249863" y="38404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02920" y="859536"/>
            <a:ext cx="5074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documentación que escala no guarda páginas: conserva decisiones reutilizables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502920" y="2807208"/>
            <a:ext cx="4901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4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documentación escala cuando deja de describir tablas y empieza a conservar decisiones.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3877056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memoria común sirve cuando alguien que no estuvo en la decisión puede continuar el razonamiento.</a:t>
            </a:r>
            <a:endParaRPr lang="en-US" sz="1520" dirty="0"/>
          </a:p>
        </p:txBody>
      </p:sp>
      <p:sp>
        <p:nvSpPr>
          <p:cNvPr id="10" name="Text 7"/>
          <p:cNvSpPr/>
          <p:nvPr/>
        </p:nvSpPr>
        <p:spPr>
          <a:xfrm>
            <a:off x="502920" y="47731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D5C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Mensaje editorial</a:t>
            </a:r>
            <a:endParaRPr lang="en-US" sz="770" dirty="0"/>
          </a:p>
        </p:txBody>
      </p:sp>
      <p:sp>
        <p:nvSpPr>
          <p:cNvPr id="11" name="Shape 8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solidFill>
            <a:srgbClr val="16324F"/>
          </a:solidFill>
          <a:ln w="12700">
            <a:solidFill>
              <a:srgbClr val="38516B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6236208"/>
            <a:ext cx="10808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memoria común vale cuando permite que otro continúe el razonamiento.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charlas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Repo 01 - Cuando Documentar Tablas se Vuelve Arquitectura de Conocimiento</dc:title>
  <dc:subject>Knowledge repo para documentación de tablas</dc:subject>
  <dc:creator>Victor</dc:creator>
  <cp:lastModifiedBy>Victor</cp:lastModifiedBy>
  <cp:revision>1</cp:revision>
  <dcterms:created xsi:type="dcterms:W3CDTF">2026-06-28T09:33:20Z</dcterms:created>
  <dcterms:modified xsi:type="dcterms:W3CDTF">2026-06-28T09:33:20Z</dcterms:modified>
</cp:coreProperties>
</file>