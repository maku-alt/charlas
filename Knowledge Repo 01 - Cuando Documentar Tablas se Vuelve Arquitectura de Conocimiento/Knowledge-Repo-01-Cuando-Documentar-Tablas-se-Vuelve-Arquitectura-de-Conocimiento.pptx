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2D">
              <a:alpha val="65000"/>
            </a:srgbClr>
          </a:solidFill>
          <a:ln w="12700">
            <a:solidFill>
              <a:srgbClr val="0B1C2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D7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QUIEBRE</a:t>
            </a:r>
            <a:endParaRPr lang="en-US" sz="830" dirty="0"/>
          </a:p>
        </p:txBody>
      </p:sp>
      <p:sp>
        <p:nvSpPr>
          <p:cNvPr id="6" name="Text 4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7E2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30352" y="914400"/>
            <a:ext cx="5623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tabla deja de estar documentada cuando nadie puede reconstruir su contexto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530352" y="281635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EADB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Pregunta conductora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530352" y="3127248"/>
            <a:ext cx="5074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b="1" dirty="0">
                <a:solidFill>
                  <a:srgbClr val="FFF4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¿Puedo usar clientes para entrenar este modelo y explicar el KPI del dashboard?</a:t>
            </a:r>
            <a:endParaRPr lang="en-US" sz="1720" dirty="0"/>
          </a:p>
        </p:txBody>
      </p:sp>
      <p:sp>
        <p:nvSpPr>
          <p:cNvPr id="10" name="Text 8"/>
          <p:cNvSpPr/>
          <p:nvPr/>
        </p:nvSpPr>
        <p:spPr>
          <a:xfrm>
            <a:off x="530352" y="48828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DCE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volumen de tablas convierte la documentación en un problema de memoria común.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6510528" y="960120"/>
            <a:ext cx="5029200" cy="4754880"/>
          </a:xfrm>
          <a:prstGeom prst="rect">
            <a:avLst/>
          </a:prstGeom>
          <a:solidFill>
            <a:srgbClr val="16324F"/>
          </a:solidFill>
          <a:ln w="12700">
            <a:solidFill>
              <a:srgbClr val="375570">
                <a:alpha val="90000"/>
              </a:srgbClr>
            </a:solidFill>
            <a:prstDash val="solid"/>
          </a:ln>
          <a:effectLst>
            <a:outerShdw sx="100000" sy="100000" kx="0" ky="0" algn="bl" rotWithShape="0" blurRad="27940" dist="12700" dir="27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31152" y="1417320"/>
            <a:ext cx="2103120" cy="1097280"/>
          </a:xfrm>
          <a:prstGeom prst="rect">
            <a:avLst/>
          </a:prstGeom>
          <a:solidFill>
            <a:srgbClr val="F8F1E8"/>
          </a:solidFill>
          <a:ln w="12700">
            <a:solidFill>
              <a:srgbClr val="E3D2B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77456" y="154533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clientes.md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077456" y="1819656"/>
            <a:ext cx="1810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descripcion</a:t>
            </a:r>
            <a:endParaRPr lang="en-US" sz="76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endParaRPr lang="en-US" sz="76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usos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 flipV="1">
            <a:off x="8001000" y="1435608"/>
            <a:ext cx="1911096" cy="539496"/>
          </a:xfrm>
          <a:prstGeom prst="line">
            <a:avLst/>
          </a:prstGeom>
          <a:noFill/>
          <a:ln w="10795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64624" y="1298448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C75C2A"/>
          </a:solidFill>
          <a:ln w="12700">
            <a:solidFill>
              <a:srgbClr val="C75C2A">
                <a:alpha val="8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6920" y="136702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8001000" y="1975104"/>
            <a:ext cx="2148840" cy="246888"/>
          </a:xfrm>
          <a:prstGeom prst="line">
            <a:avLst/>
          </a:prstGeom>
          <a:noFill/>
          <a:ln w="10795">
            <a:solidFill>
              <a:srgbClr val="2D6A4F">
                <a:alpha val="94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02368" y="2084832"/>
            <a:ext cx="1115568" cy="27432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84664" y="2153412"/>
            <a:ext cx="9509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8001000" y="1975104"/>
            <a:ext cx="1901952" cy="1115568"/>
          </a:xfrm>
          <a:prstGeom prst="line">
            <a:avLst/>
          </a:prstGeom>
          <a:noFill/>
          <a:ln w="10795">
            <a:solidFill>
              <a:srgbClr val="B42318">
                <a:alpha val="94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55480" y="2953512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B42318"/>
          </a:solidFill>
          <a:ln w="12700">
            <a:solidFill>
              <a:srgbClr val="B42318">
                <a:alpha val="8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37776" y="302209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PII</a:t>
            </a:r>
            <a:endParaRPr lang="en-US" sz="710" dirty="0"/>
          </a:p>
        </p:txBody>
      </p:sp>
      <p:sp>
        <p:nvSpPr>
          <p:cNvPr id="24" name="Shape 22"/>
          <p:cNvSpPr/>
          <p:nvPr/>
        </p:nvSpPr>
        <p:spPr>
          <a:xfrm flipV="1">
            <a:off x="7662672" y="1975104"/>
            <a:ext cx="338328" cy="1984248"/>
          </a:xfrm>
          <a:prstGeom prst="line">
            <a:avLst/>
          </a:prstGeom>
          <a:noFill/>
          <a:ln w="1079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3822192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E07A3F"/>
          </a:solidFill>
          <a:ln w="12700">
            <a:solidFill>
              <a:srgbClr val="E07A3F">
                <a:alpha val="88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97496" y="389077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KPI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8001000" y="1975104"/>
            <a:ext cx="1234440" cy="2660904"/>
          </a:xfrm>
          <a:prstGeom prst="line">
            <a:avLst/>
          </a:prstGeom>
          <a:noFill/>
          <a:ln w="10795">
            <a:solidFill>
              <a:srgbClr val="BFAE98">
                <a:alpha val="94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87968" y="4498848"/>
            <a:ext cx="822960" cy="274320"/>
          </a:xfrm>
          <a:prstGeom prst="roundRect">
            <a:avLst>
              <a:gd name="adj" fmla="val 100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70264" y="4567428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decisión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6931152" y="5074920"/>
            <a:ext cx="3913632" cy="329184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14032" y="5175504"/>
            <a:ext cx="3547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7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ficha sola ya no contiene el razonamiento.</a:t>
            </a:r>
            <a:endParaRPr lang="en-US" sz="11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FALSO AVANCE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7680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8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Escribir más fichas no arregla una memoria que no tiene contrato</a:t>
            </a:r>
            <a:endParaRPr lang="en-US" sz="2780" dirty="0"/>
          </a:p>
        </p:txBody>
      </p:sp>
      <p:sp>
        <p:nvSpPr>
          <p:cNvPr id="6" name="Text 4"/>
          <p:cNvSpPr/>
          <p:nvPr/>
        </p:nvSpPr>
        <p:spPr>
          <a:xfrm>
            <a:off x="530352" y="1783080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Markdown hace el conocimiento revisable; el contrato lo vuelve mantenible.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822960" y="2633472"/>
            <a:ext cx="2788920" cy="1828800"/>
          </a:xfrm>
          <a:prstGeom prst="rect">
            <a:avLst/>
          </a:prstGeom>
          <a:solidFill>
            <a:srgbClr val="F8F3EA"/>
          </a:solidFill>
          <a:ln w="12700">
            <a:solidFill>
              <a:srgbClr val="D7C5A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761488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clientes.md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69264" y="3035808"/>
            <a:ext cx="2496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owner: crecimiento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freshness: mensual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relaciones: --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 rot="-240000">
            <a:off x="987552" y="3941064"/>
            <a:ext cx="2194560" cy="0"/>
          </a:xfrm>
          <a:prstGeom prst="line">
            <a:avLst/>
          </a:prstGeom>
          <a:noFill/>
          <a:ln w="10160">
            <a:solidFill>
              <a:srgbClr val="D7C5AF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2331720"/>
            <a:ext cx="2788920" cy="1828800"/>
          </a:xfrm>
          <a:prstGeom prst="rect">
            <a:avLst/>
          </a:prstGeom>
          <a:solidFill>
            <a:srgbClr val="FFFDF8"/>
          </a:solidFill>
          <a:ln w="12700">
            <a:solidFill>
              <a:srgbClr val="C75C2A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61104" y="2459736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ventas.md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61104" y="2734056"/>
            <a:ext cx="2496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owner: --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freshness: diaria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decisiones: pricing-2025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 rot="120000">
            <a:off x="4279392" y="3639312"/>
            <a:ext cx="2194560" cy="0"/>
          </a:xfrm>
          <a:prstGeom prst="line">
            <a:avLst/>
          </a:prstGeom>
          <a:noFill/>
          <a:ln w="10160">
            <a:solidFill>
              <a:srgbClr val="C75C2A">
                <a:alpha val="8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0" y="2670048"/>
            <a:ext cx="2788920" cy="1828800"/>
          </a:xfrm>
          <a:prstGeom prst="rect">
            <a:avLst/>
          </a:prstGeom>
          <a:solidFill>
            <a:srgbClr val="F8F3EA"/>
          </a:solidFill>
          <a:ln w="12700">
            <a:solidFill>
              <a:srgbClr val="D7C5A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44384" y="2798064"/>
            <a:ext cx="2496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churn.md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644384" y="3072384"/>
            <a:ext cx="24963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owner: analytics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freshness: --</a:t>
            </a:r>
            <a:endParaRPr lang="en-US" sz="730" dirty="0"/>
          </a:p>
          <a:p>
            <a:pPr algn="l" indent="0" marL="0">
              <a:buNone/>
            </a:pPr>
            <a:r>
              <a:rPr lang="en-US" sz="73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relaciones: clientes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 rot="240000">
            <a:off x="7662672" y="3977640"/>
            <a:ext cx="2194560" cy="0"/>
          </a:xfrm>
          <a:prstGeom prst="line">
            <a:avLst/>
          </a:prstGeom>
          <a:noFill/>
          <a:ln w="10160">
            <a:solidFill>
              <a:srgbClr val="D7C5AF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983480"/>
            <a:ext cx="1444752" cy="274320"/>
          </a:xfrm>
          <a:prstGeom prst="roundRect">
            <a:avLst>
              <a:gd name="adj" fmla="val 10000"/>
            </a:avLst>
          </a:prstGeom>
          <a:solidFill>
            <a:srgbClr val="C75C2A"/>
          </a:solidFill>
          <a:ln w="12700">
            <a:solidFill>
              <a:srgbClr val="C75C2A">
                <a:alpha val="8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88136" y="5052060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 faltante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4206240" y="4983480"/>
            <a:ext cx="1444752" cy="274320"/>
          </a:xfrm>
          <a:prstGeom prst="roundRect">
            <a:avLst>
              <a:gd name="adj" fmla="val 100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88536" y="5052060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vigencia parcial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7406640" y="4983480"/>
            <a:ext cx="1444752" cy="274320"/>
          </a:xfrm>
          <a:prstGeom prst="roundRect">
            <a:avLst>
              <a:gd name="adj" fmla="val 100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88936" y="5052060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relaciones débiles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Markdown es buen formato base; sin contrato, solo produce inventario más prolijo.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REAL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7315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unidad de valor no es la ficha, es el camino que permite responder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7373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Documentar datos es conservar rutas de razonamiento, no solo describir objetos.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 flipV="1">
            <a:off x="1792224" y="2743200"/>
            <a:ext cx="832104" cy="731520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6704" y="2743200"/>
            <a:ext cx="722376" cy="758952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791456" y="2724912"/>
            <a:ext cx="850392" cy="777240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4224" y="2724912"/>
            <a:ext cx="923544" cy="749808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010144" y="2743200"/>
            <a:ext cx="950976" cy="731520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83496" y="2743200"/>
            <a:ext cx="676656" cy="758952"/>
          </a:xfrm>
          <a:prstGeom prst="line">
            <a:avLst/>
          </a:prstGeom>
          <a:noFill/>
          <a:ln w="1587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27248"/>
            <a:ext cx="1078992" cy="694944"/>
          </a:xfrm>
          <a:prstGeom prst="ellipse">
            <a:avLst/>
          </a:prstGeom>
          <a:solidFill>
            <a:srgbClr val="102A43"/>
          </a:solidFill>
          <a:ln w="15240">
            <a:solidFill>
              <a:srgbClr val="102A43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87552" y="3291840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</a:t>
            </a:r>
            <a:endParaRPr lang="en-US" sz="640" dirty="0"/>
          </a:p>
        </p:txBody>
      </p:sp>
      <p:sp>
        <p:nvSpPr>
          <p:cNvPr id="15" name="Text 13"/>
          <p:cNvSpPr/>
          <p:nvPr/>
        </p:nvSpPr>
        <p:spPr>
          <a:xfrm>
            <a:off x="978408" y="34838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395728" y="2395728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C75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2560320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C75C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columnas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2532888" y="275234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críticas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840480" y="3154680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2D6A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86784" y="3319272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joins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3977640" y="3511296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válidos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5413248" y="2377440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E07A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9552" y="2542032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E07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KPI</a:t>
            </a:r>
            <a:endParaRPr lang="en-US" sz="640" dirty="0"/>
          </a:p>
        </p:txBody>
      </p:sp>
      <p:sp>
        <p:nvSpPr>
          <p:cNvPr id="24" name="Text 22"/>
          <p:cNvSpPr/>
          <p:nvPr/>
        </p:nvSpPr>
        <p:spPr>
          <a:xfrm>
            <a:off x="5550408" y="2734056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retención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059168" y="3127248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16324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05472" y="3291840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640" dirty="0"/>
          </a:p>
        </p:txBody>
      </p:sp>
      <p:sp>
        <p:nvSpPr>
          <p:cNvPr id="27" name="Text 25"/>
          <p:cNvSpPr/>
          <p:nvPr/>
        </p:nvSpPr>
        <p:spPr>
          <a:xfrm>
            <a:off x="7196328" y="348386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CX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8732520" y="2395728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2D6A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78824" y="2560320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869680" y="2752344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10131552" y="3154680"/>
            <a:ext cx="1078992" cy="694944"/>
          </a:xfrm>
          <a:prstGeom prst="ellipse">
            <a:avLst/>
          </a:prstGeom>
          <a:solidFill>
            <a:srgbClr val="FFFDF8"/>
          </a:solidFill>
          <a:ln w="15240">
            <a:solidFill>
              <a:srgbClr val="C75C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77856" y="3319272"/>
            <a:ext cx="7863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40" b="1" dirty="0">
                <a:solidFill>
                  <a:srgbClr val="C75C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dudas</a:t>
            </a:r>
            <a:endParaRPr lang="en-US" sz="640" dirty="0"/>
          </a:p>
        </p:txBody>
      </p:sp>
      <p:sp>
        <p:nvSpPr>
          <p:cNvPr id="33" name="Text 31"/>
          <p:cNvSpPr/>
          <p:nvPr/>
        </p:nvSpPr>
        <p:spPr>
          <a:xfrm>
            <a:off x="10268712" y="3511296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resueltas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60120" y="4800600"/>
            <a:ext cx="10058400" cy="402336"/>
          </a:xfrm>
          <a:prstGeom prst="rect">
            <a:avLst/>
          </a:prstGeom>
          <a:solidFill>
            <a:srgbClr val="EADBC8"/>
          </a:solidFill>
          <a:ln w="12700">
            <a:solidFill>
              <a:srgbClr val="EADB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07008" y="4919472"/>
            <a:ext cx="9491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respuesta útil incluye evidencia, contexto, vigencia y alguien responsable si hay duda.</a:t>
            </a:r>
            <a:endParaRPr lang="en-US" sz="1220" dirty="0"/>
          </a:p>
        </p:txBody>
      </p:sp>
      <p:sp>
        <p:nvSpPr>
          <p:cNvPr id="36" name="Shape 34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red de conocimiento vale más que la suma de fichas aisladas.</a:t>
            </a:r>
            <a:endParaRPr lang="en-US" sz="9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CONTRATO MÍNIMO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knowledge repo empieza cuando cada tabla declara qué promete mantener</a:t>
            </a:r>
            <a:endParaRPr lang="en-US" sz="272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4709160" cy="3584448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002536"/>
            <a:ext cx="4416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clientes.md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96112" y="2276856"/>
            <a:ext cx="441655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id: data.crm.clientes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owner: growth-analytics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dominio: crm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estado: vigente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freshness: mensual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relaciones: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metricas: [retencion, churn]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dashboards: [cx-retention]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decisiones: [segmentacion-2026]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revision: 2026-09-30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10" dirty="0"/>
          </a:p>
        </p:txBody>
      </p:sp>
      <p:sp>
        <p:nvSpPr>
          <p:cNvPr id="9" name="Shape 7"/>
          <p:cNvSpPr/>
          <p:nvPr/>
        </p:nvSpPr>
        <p:spPr>
          <a:xfrm>
            <a:off x="6172200" y="2084832"/>
            <a:ext cx="201168" cy="2011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2011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Identidad estable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778240" y="2048256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 canónico que no depende del título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6172200" y="2843784"/>
            <a:ext cx="201168" cy="201168"/>
          </a:xfrm>
          <a:prstGeom prst="ellipse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27706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Responsabilidad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8778240" y="2807208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estado y fecha de revisión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72200" y="3602736"/>
            <a:ext cx="201168" cy="2011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0528" y="352958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Relaciones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8778240" y="3566160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métricas, dominios, consumidores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6172200" y="4361688"/>
            <a:ext cx="201168" cy="2011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42885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Historial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8778240" y="432511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decisiones y riesgos recuperables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6419088" y="5056632"/>
            <a:ext cx="4443984" cy="3840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968" y="5175504"/>
            <a:ext cx="4069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Convención observable &gt; herramienta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arquitectura vive en convenciones observables.</a:t>
            </a:r>
            <a:endParaRPr lang="en-US" sz="9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 OPERATIVO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8183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7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memoria común escala cuando tiene ciclo de vida, no cuando tiene más enlaces</a:t>
            </a:r>
            <a:endParaRPr lang="en-US" sz="2670" dirty="0"/>
          </a:p>
        </p:txBody>
      </p:sp>
      <p:sp>
        <p:nvSpPr>
          <p:cNvPr id="6" name="Text 4"/>
          <p:cNvSpPr/>
          <p:nvPr/>
        </p:nvSpPr>
        <p:spPr>
          <a:xfrm>
            <a:off x="530352" y="173736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Wiki y backlinks ayudan a navegar; el repo también debe decidir qué sigue vigente.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3886200" y="1920240"/>
            <a:ext cx="4389120" cy="3255264"/>
          </a:xfrm>
          <a:prstGeom prst="ellipse">
            <a:avLst/>
          </a:prstGeom>
          <a:solidFill>
            <a:srgbClr val="F8F3EA"/>
          </a:solidFill>
          <a:ln w="12700">
            <a:solidFill>
              <a:srgbClr val="D7C5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2926080"/>
            <a:ext cx="2743200" cy="640080"/>
          </a:xfrm>
          <a:prstGeom prst="line">
            <a:avLst/>
          </a:prstGeom>
          <a:noFill/>
          <a:ln w="10160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2761488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C75C2A"/>
          </a:solidFill>
          <a:ln w="12700">
            <a:solidFill>
              <a:srgbClr val="C75C2A">
                <a:alpha val="88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830068"/>
            <a:ext cx="9326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capturar</a:t>
            </a:r>
            <a:endParaRPr lang="en-US" sz="710" dirty="0"/>
          </a:p>
        </p:txBody>
      </p:sp>
      <p:sp>
        <p:nvSpPr>
          <p:cNvPr id="11" name="Shape 9"/>
          <p:cNvSpPr/>
          <p:nvPr/>
        </p:nvSpPr>
        <p:spPr>
          <a:xfrm>
            <a:off x="5394960" y="2121408"/>
            <a:ext cx="685800" cy="1444752"/>
          </a:xfrm>
          <a:prstGeom prst="line">
            <a:avLst/>
          </a:prstGeom>
          <a:noFill/>
          <a:ln w="10160">
            <a:solidFill>
              <a:srgbClr val="2D6A4F">
                <a:alpha val="94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956816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8616" y="2025396"/>
            <a:ext cx="9326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conectar</a:t>
            </a:r>
            <a:endParaRPr lang="en-US" sz="710" dirty="0"/>
          </a:p>
        </p:txBody>
      </p:sp>
      <p:sp>
        <p:nvSpPr>
          <p:cNvPr id="14" name="Shape 12"/>
          <p:cNvSpPr/>
          <p:nvPr/>
        </p:nvSpPr>
        <p:spPr>
          <a:xfrm flipV="1">
            <a:off x="6080760" y="2496312"/>
            <a:ext cx="1947672" cy="1069848"/>
          </a:xfrm>
          <a:prstGeom prst="line">
            <a:avLst/>
          </a:prstGeom>
          <a:noFill/>
          <a:ln w="10160">
            <a:solidFill>
              <a:srgbClr val="16324F">
                <a:alpha val="94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792" y="2331720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16324F"/>
          </a:solidFill>
          <a:ln w="12700">
            <a:solidFill>
              <a:srgbClr val="16324F">
                <a:alpha val="88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62088" y="2400300"/>
            <a:ext cx="9326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validar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6080760" y="3566160"/>
            <a:ext cx="2167128" cy="667512"/>
          </a:xfrm>
          <a:prstGeom prst="line">
            <a:avLst/>
          </a:prstGeom>
          <a:noFill/>
          <a:ln w="10160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9248" y="4069080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E07A3F"/>
          </a:solidFill>
          <a:ln w="12700">
            <a:solidFill>
              <a:srgbClr val="E07A3F">
                <a:alpha val="8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81544" y="4137660"/>
            <a:ext cx="9326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revisar</a:t>
            </a:r>
            <a:endParaRPr lang="en-US" sz="710" dirty="0"/>
          </a:p>
        </p:txBody>
      </p:sp>
      <p:sp>
        <p:nvSpPr>
          <p:cNvPr id="20" name="Shape 18"/>
          <p:cNvSpPr/>
          <p:nvPr/>
        </p:nvSpPr>
        <p:spPr>
          <a:xfrm flipV="1">
            <a:off x="5257800" y="3566160"/>
            <a:ext cx="822960" cy="1335024"/>
          </a:xfrm>
          <a:prstGeom prst="line">
            <a:avLst/>
          </a:prstGeom>
          <a:noFill/>
          <a:ln w="10160">
            <a:solidFill>
              <a:srgbClr val="B42318">
                <a:alpha val="9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4736592"/>
            <a:ext cx="1097280" cy="274320"/>
          </a:xfrm>
          <a:prstGeom prst="roundRect">
            <a:avLst>
              <a:gd name="adj" fmla="val 10000"/>
            </a:avLst>
          </a:prstGeom>
          <a:solidFill>
            <a:srgbClr val="B42318"/>
          </a:solidFill>
          <a:ln w="12700">
            <a:solidFill>
              <a:srgbClr val="B42318">
                <a:alpha val="88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4805172"/>
            <a:ext cx="9326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retirar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5074920" y="2852928"/>
            <a:ext cx="2011680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221224" y="2980944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ADB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221224" y="3255264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vigente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requiere revisión</a:t>
            </a:r>
            <a:endParaRPr lang="en-US" sz="780" dirty="0"/>
          </a:p>
          <a:p>
            <a:pPr algn="l" indent="0" marL="0">
              <a:buNone/>
            </a:pPr>
            <a:r>
              <a:rPr lang="en-US" sz="78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deprecated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024128" y="4572000"/>
            <a:ext cx="1051560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16324F">
                <a:alpha val="8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06424" y="4640580"/>
            <a:ext cx="886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9601200" y="4590288"/>
            <a:ext cx="1051560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83496" y="4658868"/>
            <a:ext cx="886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9144000" y="2999232"/>
            <a:ext cx="1234440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C75C2A">
                <a:alpha val="88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26296" y="3067812"/>
            <a:ext cx="10698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C75C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</a:t>
            </a:r>
            <a:endParaRPr lang="en-US" sz="710" dirty="0"/>
          </a:p>
        </p:txBody>
      </p:sp>
      <p:sp>
        <p:nvSpPr>
          <p:cNvPr id="32" name="Shape 30"/>
          <p:cNvSpPr/>
          <p:nvPr/>
        </p:nvSpPr>
        <p:spPr>
          <a:xfrm>
            <a:off x="1188720" y="2971800"/>
            <a:ext cx="1051560" cy="274320"/>
          </a:xfrm>
          <a:prstGeom prst="roundRect">
            <a:avLst>
              <a:gd name="adj" fmla="val 10000"/>
            </a:avLst>
          </a:prstGeom>
          <a:solidFill>
            <a:srgbClr val="B42318"/>
          </a:solidFill>
          <a:ln w="12700">
            <a:solidFill>
              <a:srgbClr val="B42318">
                <a:alpha val="88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71016" y="3040380"/>
            <a:ext cx="886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riesgo</a:t>
            </a:r>
            <a:endParaRPr lang="en-US" sz="710" dirty="0"/>
          </a:p>
        </p:txBody>
      </p:sp>
      <p:sp>
        <p:nvSpPr>
          <p:cNvPr id="34" name="Shape 32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Memoria operacional significa mantenimiento, no solo navegación.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 EXTERNA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7818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stacks de datos ya muestran que la metadata importante es operacional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30352" y="173736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knowledge repo traduce esa necesidad a una escala portable y complementaria.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4791456" y="2542032"/>
            <a:ext cx="2615184" cy="14173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2670048"/>
            <a:ext cx="2322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ADB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tabla: clientes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937760" y="2944368"/>
            <a:ext cx="232257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 central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texto aislado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54480" y="2587752"/>
            <a:ext cx="3236976" cy="457200"/>
          </a:xfrm>
          <a:prstGeom prst="line">
            <a:avLst/>
          </a:prstGeom>
          <a:noFill/>
          <a:ln w="10795">
            <a:solidFill>
              <a:srgbClr val="2D6A4F">
                <a:alpha val="94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450592"/>
            <a:ext cx="987552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33856" y="2519172"/>
            <a:ext cx="822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owner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3630168" y="2459736"/>
            <a:ext cx="1161288" cy="338328"/>
          </a:xfrm>
          <a:prstGeom prst="line">
            <a:avLst/>
          </a:prstGeom>
          <a:noFill/>
          <a:ln w="10795">
            <a:solidFill>
              <a:srgbClr val="16324F">
                <a:alpha val="94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27248" y="2322576"/>
            <a:ext cx="987552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16324F">
                <a:alpha val="8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9544" y="2391156"/>
            <a:ext cx="822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lineage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 flipV="1">
            <a:off x="7406640" y="1947672"/>
            <a:ext cx="1554480" cy="868680"/>
          </a:xfrm>
          <a:prstGeom prst="line">
            <a:avLst/>
          </a:prstGeom>
          <a:noFill/>
          <a:ln w="10795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1810512"/>
            <a:ext cx="1335024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C75C2A">
                <a:alpha val="88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0496" y="18790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C75C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freshness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 flipV="1">
            <a:off x="7406640" y="3108960"/>
            <a:ext cx="3136392" cy="219456"/>
          </a:xfrm>
          <a:prstGeom prst="line">
            <a:avLst/>
          </a:prstGeom>
          <a:noFill/>
          <a:ln w="10795">
            <a:solidFill>
              <a:srgbClr val="2D6A4F">
                <a:alpha val="94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0112" y="2971800"/>
            <a:ext cx="987552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22408" y="3040380"/>
            <a:ext cx="822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2D6A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7406640" y="3794760"/>
            <a:ext cx="1645920" cy="1078992"/>
          </a:xfrm>
          <a:prstGeom prst="line">
            <a:avLst/>
          </a:prstGeom>
          <a:noFill/>
          <a:ln w="10795">
            <a:solidFill>
              <a:srgbClr val="16324F">
                <a:alpha val="94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49640" y="4736592"/>
            <a:ext cx="1335024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16324F">
                <a:alpha val="88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31936" y="48051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glossary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 flipV="1">
            <a:off x="2423160" y="3767328"/>
            <a:ext cx="2368296" cy="1143000"/>
          </a:xfrm>
          <a:prstGeom prst="line">
            <a:avLst/>
          </a:prstGeom>
          <a:noFill/>
          <a:ln w="10795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4773168"/>
            <a:ext cx="1335024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E07A3F">
                <a:alpha val="88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02536" y="4841748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E07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consumidores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 flipV="1">
            <a:off x="1417320" y="3584448"/>
            <a:ext cx="3374136" cy="256032"/>
          </a:xfrm>
          <a:prstGeom prst="line">
            <a:avLst/>
          </a:prstGeom>
          <a:noFill/>
          <a:ln w="10795">
            <a:solidFill>
              <a:srgbClr val="102A43">
                <a:alpha val="94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3703320"/>
            <a:ext cx="1335024" cy="274320"/>
          </a:xfrm>
          <a:prstGeom prst="roundRect">
            <a:avLst>
              <a:gd name="adj" fmla="val 10000"/>
            </a:avLst>
          </a:prstGeom>
          <a:solidFill>
            <a:srgbClr val="FFFDF8"/>
          </a:solidFill>
          <a:ln w="12700">
            <a:solidFill>
              <a:srgbClr val="102A43">
                <a:alpha val="88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6696" y="3771900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contrato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987552" y="5504688"/>
            <a:ext cx="9966960" cy="310896"/>
          </a:xfrm>
          <a:prstGeom prst="rect">
            <a:avLst/>
          </a:prstGeom>
          <a:solidFill>
            <a:srgbClr val="EADBC8"/>
          </a:solidFill>
          <a:ln w="12700">
            <a:solidFill>
              <a:srgbClr val="EADB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25296" y="5596128"/>
            <a:ext cx="9473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reemplaza un catálogo: captura conocimiento narrativo y decisiones que suelen quedar fuera.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metadata útil describe responsabilidad, vigencia y relaciones.</a:t>
            </a:r>
            <a:endParaRPr lang="en-US" sz="9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AGENTES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80924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agente no necesita más documentos; necesita una memoria consultable con precisión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0352" y="1993392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MCP/API es una puerta de acceso; la confiabilidad viene del contrato del repo.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852928"/>
            <a:ext cx="1920240" cy="960120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9264" y="2980944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pregunta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69264" y="3255264"/>
            <a:ext cx="162763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¿puedo usar clientes?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3310128" y="2359152"/>
            <a:ext cx="2084832" cy="1975104"/>
          </a:xfrm>
          <a:prstGeom prst="trapezoid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5888" y="2880360"/>
            <a:ext cx="1325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Ventanilla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MCP/API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3547872" y="3767328"/>
            <a:ext cx="530352" cy="219456"/>
          </a:xfrm>
          <a:prstGeom prst="roundRect">
            <a:avLst>
              <a:gd name="adj" fmla="val 12500"/>
            </a:avLst>
          </a:prstGeom>
          <a:solidFill>
            <a:srgbClr val="F4B083"/>
          </a:solidFill>
          <a:ln w="12700">
            <a:solidFill>
              <a:srgbClr val="F4B083">
                <a:alpha val="8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0168" y="38359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560" dirty="0"/>
          </a:p>
        </p:txBody>
      </p:sp>
      <p:sp>
        <p:nvSpPr>
          <p:cNvPr id="14" name="Shape 12"/>
          <p:cNvSpPr/>
          <p:nvPr/>
        </p:nvSpPr>
        <p:spPr>
          <a:xfrm>
            <a:off x="4078224" y="3767328"/>
            <a:ext cx="530352" cy="219456"/>
          </a:xfrm>
          <a:prstGeom prst="roundRect">
            <a:avLst>
              <a:gd name="adj" fmla="val 12500"/>
            </a:avLst>
          </a:prstGeom>
          <a:solidFill>
            <a:srgbClr val="F4B083"/>
          </a:solidFill>
          <a:ln w="12700">
            <a:solidFill>
              <a:srgbClr val="F4B083">
                <a:alpha val="8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38359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560" dirty="0"/>
          </a:p>
        </p:txBody>
      </p:sp>
      <p:sp>
        <p:nvSpPr>
          <p:cNvPr id="16" name="Shape 14"/>
          <p:cNvSpPr/>
          <p:nvPr/>
        </p:nvSpPr>
        <p:spPr>
          <a:xfrm>
            <a:off x="4608576" y="3767328"/>
            <a:ext cx="530352" cy="219456"/>
          </a:xfrm>
          <a:prstGeom prst="roundRect">
            <a:avLst>
              <a:gd name="adj" fmla="val 12500"/>
            </a:avLst>
          </a:prstGeom>
          <a:solidFill>
            <a:srgbClr val="F4B083"/>
          </a:solidFill>
          <a:ln w="12700">
            <a:solidFill>
              <a:srgbClr val="F4B083">
                <a:alpha val="8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383590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neighbors</a:t>
            </a:r>
            <a:endParaRPr lang="en-US" sz="560" dirty="0"/>
          </a:p>
        </p:txBody>
      </p:sp>
      <p:sp>
        <p:nvSpPr>
          <p:cNvPr id="18" name="Shape 16"/>
          <p:cNvSpPr/>
          <p:nvPr/>
        </p:nvSpPr>
        <p:spPr>
          <a:xfrm>
            <a:off x="6071616" y="2450592"/>
            <a:ext cx="2377440" cy="17830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17920" y="2578608"/>
            <a:ext cx="20848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ADB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 repo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217920" y="2852928"/>
            <a:ext cx="208483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fichas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versionado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FFF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9144000" y="2770632"/>
            <a:ext cx="2157984" cy="1143000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2000"/>
              </a:srgbClr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290304" y="2898648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290304" y="3172968"/>
            <a:ext cx="18653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citable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ensamblable</a:t>
            </a:r>
            <a:endParaRPr lang="en-US" sz="860" dirty="0"/>
          </a:p>
          <a:p>
            <a:pPr algn="l" indent="0" marL="0">
              <a:buNone/>
            </a:pPr>
            <a:r>
              <a:rPr lang="en-US" sz="86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actualizable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2743200" y="3328416"/>
            <a:ext cx="566928" cy="0"/>
          </a:xfrm>
          <a:prstGeom prst="line">
            <a:avLst/>
          </a:prstGeom>
          <a:noFill/>
          <a:ln w="19050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3328416"/>
            <a:ext cx="676656" cy="0"/>
          </a:xfrm>
          <a:prstGeom prst="line">
            <a:avLst/>
          </a:prstGeom>
          <a:noFill/>
          <a:ln w="19050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9056" y="3328416"/>
            <a:ext cx="694944" cy="0"/>
          </a:xfrm>
          <a:prstGeom prst="line">
            <a:avLst/>
          </a:prstGeom>
          <a:noFill/>
          <a:ln w="19050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20240" y="4983480"/>
            <a:ext cx="8394192" cy="384048"/>
          </a:xfrm>
          <a:prstGeom prst="rect">
            <a:avLst/>
          </a:prstGeom>
          <a:solidFill>
            <a:srgbClr val="EADBC8"/>
          </a:solidFill>
          <a:ln w="12700">
            <a:solidFill>
              <a:srgbClr val="EADB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76272" y="5093208"/>
            <a:ext cx="7882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agente ensambla contexto; no inventa ownership, vigencia ni relaciones.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Preparar memoria reduce improvisación y contexto irrelevante.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" y="256032"/>
            <a:ext cx="960120" cy="73152"/>
          </a:xfrm>
          <a:prstGeom prst="rect">
            <a:avLst/>
          </a:prstGeom>
          <a:solidFill>
            <a:srgbClr val="C75C2A"/>
          </a:solidFill>
          <a:ln w="12700">
            <a:solidFill>
              <a:srgbClr val="C75C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4389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30" b="1" spc="11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DECISIÓN DE ARQUITECTURA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11277295" y="4114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30352" y="786384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Separar responsabilidades evita convertir una herramienta en estrategia</a:t>
            </a:r>
            <a:endParaRPr lang="en-US" sz="2720" dirty="0"/>
          </a:p>
        </p:txBody>
      </p:sp>
      <p:sp>
        <p:nvSpPr>
          <p:cNvPr id="6" name="Text 4"/>
          <p:cNvSpPr/>
          <p:nvPr/>
        </p:nvSpPr>
        <p:spPr>
          <a:xfrm>
            <a:off x="530352" y="173736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decisión correcta es asignar roles; no declarar un ganador universal.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1810512" y="3931920"/>
            <a:ext cx="8613648" cy="0"/>
          </a:xfrm>
          <a:prstGeom prst="line">
            <a:avLst/>
          </a:prstGeom>
          <a:noFill/>
          <a:ln w="13970">
            <a:solidFill>
              <a:srgbClr val="D7C5AF">
                <a:alpha val="9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53312" y="418795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5608" y="42565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fuente</a:t>
            </a:r>
            <a:endParaRPr lang="en-US" sz="580" dirty="0"/>
          </a:p>
        </p:txBody>
      </p:sp>
      <p:sp>
        <p:nvSpPr>
          <p:cNvPr id="10" name="Shape 8"/>
          <p:cNvSpPr/>
          <p:nvPr/>
        </p:nvSpPr>
        <p:spPr>
          <a:xfrm>
            <a:off x="3474720" y="418795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7016" y="42565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uso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5596128" y="418795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2D6A4F"/>
          </a:solidFill>
          <a:ln w="12700">
            <a:solidFill>
              <a:srgbClr val="2D6A4F">
                <a:alpha val="88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78424" y="42565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580" dirty="0"/>
          </a:p>
        </p:txBody>
      </p:sp>
      <p:sp>
        <p:nvSpPr>
          <p:cNvPr id="14" name="Shape 12"/>
          <p:cNvSpPr/>
          <p:nvPr/>
        </p:nvSpPr>
        <p:spPr>
          <a:xfrm>
            <a:off x="7717536" y="418795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9832" y="42565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paquete</a:t>
            </a:r>
            <a:endParaRPr lang="en-US" sz="580" dirty="0"/>
          </a:p>
        </p:txBody>
      </p:sp>
      <p:sp>
        <p:nvSpPr>
          <p:cNvPr id="16" name="Shape 14"/>
          <p:cNvSpPr/>
          <p:nvPr/>
        </p:nvSpPr>
        <p:spPr>
          <a:xfrm>
            <a:off x="9838944" y="4187952"/>
            <a:ext cx="822960" cy="219456"/>
          </a:xfrm>
          <a:prstGeom prst="roundRect">
            <a:avLst>
              <a:gd name="adj" fmla="val 12500"/>
            </a:avLst>
          </a:prstGeom>
          <a:solidFill>
            <a:srgbClr val="EADBC8"/>
          </a:solidFill>
          <a:ln w="12700">
            <a:solidFill>
              <a:srgbClr val="EADBC8">
                <a:alpha val="8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4256532"/>
            <a:ext cx="658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1005840" y="2816352"/>
            <a:ext cx="1572768" cy="1115568"/>
          </a:xfrm>
          <a:prstGeom prst="rect">
            <a:avLst/>
          </a:prstGeom>
          <a:solidFill>
            <a:srgbClr val="FFFDF8"/>
          </a:solidFill>
          <a:ln w="13970">
            <a:solidFill>
              <a:srgbClr val="102A43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15568" y="2990088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formato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15568" y="329184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Markdown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1792224" y="3931920"/>
            <a:ext cx="0" cy="0"/>
          </a:xfrm>
          <a:prstGeom prst="line">
            <a:avLst/>
          </a:prstGeom>
          <a:noFill/>
          <a:ln w="10160">
            <a:solidFill>
              <a:srgbClr val="102A43">
                <a:alpha val="94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63240" y="2331720"/>
            <a:ext cx="1572768" cy="1115568"/>
          </a:xfrm>
          <a:prstGeom prst="rect">
            <a:avLst/>
          </a:prstGeom>
          <a:solidFill>
            <a:srgbClr val="FFFDF8"/>
          </a:solidFill>
          <a:ln w="13970">
            <a:solidFill>
              <a:srgbClr val="E07A3F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2505456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E07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exploración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3172968" y="280720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Wiki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3849624" y="3447288"/>
            <a:ext cx="0" cy="484632"/>
          </a:xfrm>
          <a:prstGeom prst="line">
            <a:avLst/>
          </a:prstGeom>
          <a:noFill/>
          <a:ln w="10160">
            <a:solidFill>
              <a:srgbClr val="E07A3F">
                <a:alpha val="94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0" y="2761488"/>
            <a:ext cx="1828800" cy="1115568"/>
          </a:xfrm>
          <a:prstGeom prst="rect">
            <a:avLst/>
          </a:prstGeom>
          <a:solidFill>
            <a:srgbClr val="2D6A4F"/>
          </a:solidFill>
          <a:ln w="13970">
            <a:solidFill>
              <a:srgbClr val="2D6A4F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230368" y="2935224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EADB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gobierno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5230368" y="3236976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repo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877056"/>
            <a:ext cx="0" cy="54864"/>
          </a:xfrm>
          <a:prstGeom prst="line">
            <a:avLst/>
          </a:prstGeom>
          <a:noFill/>
          <a:ln w="10160">
            <a:solidFill>
              <a:srgbClr val="2D6A4F">
                <a:alpha val="94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06640" y="2331720"/>
            <a:ext cx="1572768" cy="1115568"/>
          </a:xfrm>
          <a:prstGeom prst="rect">
            <a:avLst/>
          </a:prstGeom>
          <a:solidFill>
            <a:srgbClr val="FFFDF8"/>
          </a:solidFill>
          <a:ln w="13970">
            <a:solidFill>
              <a:srgbClr val="C75C2A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516368" y="2505456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C75C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portabilidad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7516368" y="280720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OKF-style bundle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8193024" y="3447288"/>
            <a:ext cx="0" cy="484632"/>
          </a:xfrm>
          <a:prstGeom prst="line">
            <a:avLst/>
          </a:prstGeom>
          <a:noFill/>
          <a:ln w="10160">
            <a:solidFill>
              <a:srgbClr val="C75C2A">
                <a:alpha val="94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46920" y="2816352"/>
            <a:ext cx="1572768" cy="1115568"/>
          </a:xfrm>
          <a:prstGeom prst="rect">
            <a:avLst/>
          </a:prstGeom>
          <a:solidFill>
            <a:srgbClr val="FFFDF8"/>
          </a:solidFill>
          <a:ln w="13970">
            <a:solidFill>
              <a:srgbClr val="16324F"/>
            </a:solidFill>
            <a:prstDash val="solid"/>
          </a:ln>
          <a:effectLst>
            <a:outerShdw sx="100000" sy="100000" kx="0" ky="0" algn="bl" rotWithShape="0" blurRad="17780" dist="12700" dir="27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756648" y="2990088"/>
            <a:ext cx="1353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632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acceso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9756648" y="329184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MCP/API</a:t>
            </a:r>
            <a:endParaRPr lang="en-US" sz="1120" dirty="0"/>
          </a:p>
        </p:txBody>
      </p:sp>
      <p:sp>
        <p:nvSpPr>
          <p:cNvPr id="37" name="Shape 35"/>
          <p:cNvSpPr/>
          <p:nvPr/>
        </p:nvSpPr>
        <p:spPr>
          <a:xfrm>
            <a:off x="10433304" y="3931920"/>
            <a:ext cx="0" cy="0"/>
          </a:xfrm>
          <a:prstGeom prst="line">
            <a:avLst/>
          </a:prstGeom>
          <a:noFill/>
          <a:ln w="10160">
            <a:solidFill>
              <a:srgbClr val="16324F">
                <a:alpha val="94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17320" y="4956048"/>
            <a:ext cx="9372600" cy="40233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64208" y="5084064"/>
            <a:ext cx="88879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FFF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OKF se presenta como patrón emergente para bundles portables, no como estándar corporativo maduro.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0352" y="6199632"/>
            <a:ext cx="11137392" cy="347472"/>
          </a:xfrm>
          <a:prstGeom prst="rect">
            <a:avLst/>
          </a:prstGeom>
          <a:solidFill>
            <a:srgbClr val="FFFDF8"/>
          </a:solidFill>
          <a:ln w="12700">
            <a:solidFill>
              <a:srgbClr val="D7C5AF">
                <a:alpha val="9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6295644"/>
            <a:ext cx="108082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 capas evita comprar herramienta o sobrediseñar antes de tiempo.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ictor\Proyectos\2026\charlas\Knowledge Repo 01 - Cuando Documentar Tablas se Vuelve Arquitectura de Conocimiento\assets\closing-knowledge-rep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solidFill>
            <a:srgbClr val="102A43">
              <a:alpha val="92000"/>
            </a:srgbClr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30352" y="3986784"/>
            <a:ext cx="4800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40" i="1" dirty="0">
                <a:solidFill>
                  <a:srgbClr val="FFF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overriding design goal for Markdown's formatting syntax is to make it as readable as possible."</a:t>
            </a:r>
            <a:endParaRPr lang="en-US" sz="1940" dirty="0"/>
          </a:p>
        </p:txBody>
      </p:sp>
      <p:sp>
        <p:nvSpPr>
          <p:cNvPr id="6" name="Text 3"/>
          <p:cNvSpPr/>
          <p:nvPr/>
        </p:nvSpPr>
        <p:spPr>
          <a:xfrm>
            <a:off x="530352" y="4992624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D5C4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John Gruber, Markdown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charlas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Knowledge Repo 01 - Cuando Documentar Tablas se Vuelve Arquitectura de Conocimiento</dc:title>
  <dc:subject>Knowledge repo para documentacion de tablas</dc:subject>
  <dc:creator>Victor</dc:creator>
  <cp:lastModifiedBy>Victor</cp:lastModifiedBy>
  <cp:revision>1</cp:revision>
  <dcterms:created xsi:type="dcterms:W3CDTF">2026-06-29T04:50:30Z</dcterms:created>
  <dcterms:modified xsi:type="dcterms:W3CDTF">2026-06-29T04:50:30Z</dcterms:modified>
</cp:coreProperties>
</file>