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44b0487b4a9a43f7" /><Relationship Type="http://schemas.openxmlformats.org/officeDocument/2006/relationships/extended-properties" Target="/docProps/app.xml" Id="R3073830f3e1d49c6" /><Relationship Type="http://schemas.openxmlformats.org/officeDocument/2006/relationships/officeDocument" Target="/ppt/presentation.xml" Id="R9a349497e40848b8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5394fdd9220e400f"/>
  </p:sldMasterIdLst>
  <p:notesMasterIdLst>
    <p:notesMasterId xmlns:r="http://schemas.openxmlformats.org/officeDocument/2006/relationships" r:id="R0091f2b7e76345db"/>
  </p:notesMasterIdLst>
  <p:sldIdLst>
    <p:sldId xmlns:r="http://schemas.openxmlformats.org/officeDocument/2006/relationships" id="256" r:id="R84a29e7e828148d0"/>
    <p:sldId xmlns:r="http://schemas.openxmlformats.org/officeDocument/2006/relationships" id="257" r:id="R71ec1c58bd094e4c"/>
    <p:sldId xmlns:r="http://schemas.openxmlformats.org/officeDocument/2006/relationships" id="258" r:id="R7b44b9880ecc4db8"/>
    <p:sldId xmlns:r="http://schemas.openxmlformats.org/officeDocument/2006/relationships" id="259" r:id="R560d5d3d2fcc4c67"/>
    <p:sldId xmlns:r="http://schemas.openxmlformats.org/officeDocument/2006/relationships" id="260" r:id="R0fac37ddb4ae4e1f"/>
    <p:sldId xmlns:r="http://schemas.openxmlformats.org/officeDocument/2006/relationships" id="261" r:id="Racf40a4768bd46dc"/>
    <p:sldId xmlns:r="http://schemas.openxmlformats.org/officeDocument/2006/relationships" id="262" r:id="R980f190cbb23458e"/>
    <p:sldId xmlns:r="http://schemas.openxmlformats.org/officeDocument/2006/relationships" id="263" r:id="R725d8b9556cb4251"/>
    <p:sldId xmlns:r="http://schemas.openxmlformats.org/officeDocument/2006/relationships" id="264" r:id="Rb20f1f63b5dd43a1"/>
    <p:sldId xmlns:r="http://schemas.openxmlformats.org/officeDocument/2006/relationships" id="265" r:id="Rfdea5de42ce145f4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b9269bbd1db4405b" /><Relationship Type="http://schemas.openxmlformats.org/officeDocument/2006/relationships/slideMaster" Target="/ppt/slideMasters/slideMaster1.xml" Id="R5394fdd9220e400f" /><Relationship Type="http://schemas.openxmlformats.org/officeDocument/2006/relationships/notesMaster" Target="/ppt/notesMasters/notesMaster1.xml" Id="R0091f2b7e76345db" /><Relationship Type="http://schemas.openxmlformats.org/officeDocument/2006/relationships/presProps" Target="/ppt/presProps.xml" Id="R699fbbdfffa04e5a" /><Relationship Type="http://schemas.openxmlformats.org/officeDocument/2006/relationships/viewProps" Target="/ppt/viewProps.xml" Id="Rde8e45285bf5443c" /><Relationship Type="http://schemas.openxmlformats.org/officeDocument/2006/relationships/tableStyles" Target="/ppt/tableStyles.xml" Id="R6e232704f6a34e6c" /><Relationship Type="http://schemas.openxmlformats.org/officeDocument/2006/relationships/slide" Target="/ppt/slides/slide1.xml" Id="R84a29e7e828148d0" /><Relationship Type="http://schemas.openxmlformats.org/officeDocument/2006/relationships/slide" Target="/ppt/slides/slide2.xml" Id="R71ec1c58bd094e4c" /><Relationship Type="http://schemas.openxmlformats.org/officeDocument/2006/relationships/slide" Target="/ppt/slides/slide3.xml" Id="R7b44b9880ecc4db8" /><Relationship Type="http://schemas.openxmlformats.org/officeDocument/2006/relationships/slide" Target="/ppt/slides/slide4.xml" Id="R560d5d3d2fcc4c67" /><Relationship Type="http://schemas.openxmlformats.org/officeDocument/2006/relationships/slide" Target="/ppt/slides/slide5.xml" Id="R0fac37ddb4ae4e1f" /><Relationship Type="http://schemas.openxmlformats.org/officeDocument/2006/relationships/slide" Target="/ppt/slides/slide6.xml" Id="Racf40a4768bd46dc" /><Relationship Type="http://schemas.openxmlformats.org/officeDocument/2006/relationships/slide" Target="/ppt/slides/slide7.xml" Id="R980f190cbb23458e" /><Relationship Type="http://schemas.openxmlformats.org/officeDocument/2006/relationships/slide" Target="/ppt/slides/slide8.xml" Id="R725d8b9556cb4251" /><Relationship Type="http://schemas.openxmlformats.org/officeDocument/2006/relationships/slide" Target="/ppt/slides/slide9.xml" Id="Rb20f1f63b5dd43a1" /><Relationship Type="http://schemas.openxmlformats.org/officeDocument/2006/relationships/slide" Target="/ppt/slides/slide10.xml" Id="Rfdea5de42ce145f4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b8cbf6c03fb34eb2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3b39bc745955469d" /><Relationship Type="http://schemas.openxmlformats.org/officeDocument/2006/relationships/notesMaster" Target="/ppt/notesMasters/notesMaster1.xml" Id="Rf7c74b772ff94643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0a67ccde36824a00" /><Relationship Type="http://schemas.openxmlformats.org/officeDocument/2006/relationships/notesMaster" Target="/ppt/notesMasters/notesMaster1.xml" Id="R63d6e52d9b274bca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5f6753f6f0264953" /><Relationship Type="http://schemas.openxmlformats.org/officeDocument/2006/relationships/notesMaster" Target="/ppt/notesMasters/notesMaster1.xml" Id="R26d68ab1ed574d9e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471f241c6913457e" /><Relationship Type="http://schemas.openxmlformats.org/officeDocument/2006/relationships/notesMaster" Target="/ppt/notesMasters/notesMaster1.xml" Id="R00ae4d84e1f148b2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b2ca0a53ae2f45b5" /><Relationship Type="http://schemas.openxmlformats.org/officeDocument/2006/relationships/notesMaster" Target="/ppt/notesMasters/notesMaster1.xml" Id="R64d33f5218c64a42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e42555116c314001" /><Relationship Type="http://schemas.openxmlformats.org/officeDocument/2006/relationships/notesMaster" Target="/ppt/notesMasters/notesMaster1.xml" Id="Re7997acb8101497e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0fccdd47542a40a8" /><Relationship Type="http://schemas.openxmlformats.org/officeDocument/2006/relationships/notesMaster" Target="/ppt/notesMasters/notesMaster1.xml" Id="Rf9c96a948ba44533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dd573d7449094c14" /><Relationship Type="http://schemas.openxmlformats.org/officeDocument/2006/relationships/notesMaster" Target="/ppt/notesMasters/notesMaster1.xml" Id="R59fb7a6904754401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e8a70bf433a14481" /><Relationship Type="http://schemas.openxmlformats.org/officeDocument/2006/relationships/notesMaster" Target="/ppt/notesMasters/notesMaster1.xml" Id="Rf379af7e179f4327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4d4478d0e15a4cc7" /><Relationship Type="http://schemas.openxmlformats.org/officeDocument/2006/relationships/notesMaster" Target="/ppt/notesMasters/notesMaster1.xml" Id="R754a9bdb46574161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279585653b44598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6df67739f0474090" /><Relationship Type="http://schemas.openxmlformats.org/officeDocument/2006/relationships/slideLayout" Target="/ppt/slideLayouts/slideLayout1.xml" Id="R03b50072accf4bdc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3b50072accf4bdc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b63be3958d74644" /><Relationship Type="http://schemas.openxmlformats.org/officeDocument/2006/relationships/notesSlide" Target="/ppt/notesSlides/notesSlide1.xml" Id="R070788ffefe34d29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87842cddfe84295" /><Relationship Type="http://schemas.openxmlformats.org/officeDocument/2006/relationships/notesSlide" Target="/ppt/notesSlides/notesSlide2.xml" Id="Rb9d6acc0e3844097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ec5c04c213242a0" /><Relationship Type="http://schemas.openxmlformats.org/officeDocument/2006/relationships/notesSlide" Target="/ppt/notesSlides/notesSlide3.xml" Id="R2f560d100011452b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6e0fc1dae46477f" /><Relationship Type="http://schemas.openxmlformats.org/officeDocument/2006/relationships/notesSlide" Target="/ppt/notesSlides/notesSlide4.xml" Id="Rbefb4bbe72db486e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513acb5b0c74fab" /><Relationship Type="http://schemas.openxmlformats.org/officeDocument/2006/relationships/notesSlide" Target="/ppt/notesSlides/notesSlide5.xml" Id="R4fdd7416812543cb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421229cd48f46b5" /><Relationship Type="http://schemas.openxmlformats.org/officeDocument/2006/relationships/notesSlide" Target="/ppt/notesSlides/notesSlide6.xml" Id="R2011c4e449334c67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80a60bc898d4544" /><Relationship Type="http://schemas.openxmlformats.org/officeDocument/2006/relationships/notesSlide" Target="/ppt/notesSlides/notesSlide7.xml" Id="Re96d896f2f554fc0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c81e102111440a9" /><Relationship Type="http://schemas.openxmlformats.org/officeDocument/2006/relationships/notesSlide" Target="/ppt/notesSlides/notesSlide8.xml" Id="Raf1af56decca4250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f60ac55b26d4dfd" /><Relationship Type="http://schemas.openxmlformats.org/officeDocument/2006/relationships/notesSlide" Target="/ppt/notesSlides/notesSlide9.xml" Id="R98ff94d6b0684b79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df8d1e9169a4224" /><Relationship Type="http://schemas.openxmlformats.org/officeDocument/2006/relationships/image" Target="/ppt/media/image.png" Id="Ra14c7990b6f5459c" /><Relationship Type="http://schemas.openxmlformats.org/officeDocument/2006/relationships/notesSlide" Target="/ppt/notesSlides/notesSlide10.xml" Id="R4d049248f6234df2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21604ED-450B-4164-AD69-117BC032D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A43"/>
          </a:solidFill>
          <a:ln xmlns:a="http://schemas.openxmlformats.org/drawingml/2006/main" w="0">
            <a:solidFill>
              <a:srgbClr val="102A43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C016874-1228-486E-AAEF-48B34F7EAE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52450"/>
            <a:ext cx="17145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7A3F"/>
          </a:solidFill>
          <a:ln xmlns:a="http://schemas.openxmlformats.org/drawingml/2006/main" w="0">
            <a:solidFill>
              <a:srgbClr val="E07A3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DF493ED-2A27-4DA3-BC27-896F9FFC3D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81050"/>
            <a:ext cx="400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F3C8B3"/>
                </a:solidFill>
                <a:latin typeface="Aptos Mono"/>
                <a:ea typeface="Aptos Mono"/>
                <a:cs typeface="Aptos Mono"/>
              </a:defRPr>
            </a:pPr>
            <a:r>
              <a:rPr sz="1125" b="1">
                <a:solidFill>
                  <a:srgbClr val="F3C8B3"/>
                </a:solidFill>
                <a:latin typeface="Aptos Mono"/>
                <a:ea typeface="Aptos Mono"/>
                <a:cs typeface="Aptos Mono"/>
              </a:rPr>
              <a:t>CHARLA PARA DATA SCIENCE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9D36998-7EBB-4D77-A5BF-DC0FF2BB74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00150"/>
            <a:ext cx="6667500" cy="209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FFFDF8"/>
                </a:solidFill>
                <a:latin typeface="Aptos Display"/>
                <a:ea typeface="Aptos Display"/>
                <a:cs typeface="Aptos Display"/>
              </a:defRPr>
            </a:pPr>
            <a:r>
              <a:rPr sz="3600" b="1">
                <a:solidFill>
                  <a:srgbClr val="FFFDF8"/>
                </a:solidFill>
                <a:latin typeface="Aptos Display"/>
                <a:ea typeface="Aptos Display"/>
                <a:cs typeface="Aptos Display"/>
              </a:rPr>
              <a:t>Evolucion del stack</a:t>
            </a:r>
          </a:p>
          <a:p xmlns:a="http://schemas.openxmlformats.org/drawingml/2006/main">
            <a:pPr algn="l">
              <a:defRPr sz="3600" b="1">
                <a:solidFill>
                  <a:srgbClr val="FFFDF8"/>
                </a:solidFill>
                <a:latin typeface="Aptos Display"/>
                <a:ea typeface="Aptos Display"/>
                <a:cs typeface="Aptos Display"/>
              </a:defRPr>
            </a:pPr>
            <a:r>
              <a:rPr sz="3600" b="1">
                <a:solidFill>
                  <a:srgbClr val="FFFDF8"/>
                </a:solidFill>
                <a:latin typeface="Aptos Display"/>
                <a:ea typeface="Aptos Display"/>
                <a:cs typeface="Aptos Display"/>
              </a:rPr>
              <a:t>clasico de</a:t>
            </a:r>
          </a:p>
          <a:p xmlns:a="http://schemas.openxmlformats.org/drawingml/2006/main">
            <a:pPr algn="l">
              <a:defRPr sz="3600" b="1">
                <a:solidFill>
                  <a:srgbClr val="FFFDF8"/>
                </a:solidFill>
                <a:latin typeface="Aptos Display"/>
                <a:ea typeface="Aptos Display"/>
                <a:cs typeface="Aptos Display"/>
              </a:defRPr>
            </a:pPr>
            <a:r>
              <a:rPr sz="3600" b="1">
                <a:solidFill>
                  <a:srgbClr val="FFFDF8"/>
                </a:solidFill>
                <a:latin typeface="Aptos Display"/>
                <a:ea typeface="Aptos Display"/>
                <a:cs typeface="Aptos Display"/>
              </a:rPr>
              <a:t>Data Science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7A84B31-F054-42AE-B022-AA93C2E35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95700"/>
            <a:ext cx="590550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D9E2EC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D9E2EC"/>
                </a:solidFill>
                <a:latin typeface="Aptos"/>
                <a:ea typeface="Aptos"/>
                <a:cs typeface="Aptos"/>
              </a:rPr>
              <a:t>Que mejora de verdad si seguimos con Python 3.10, que desbloquea Python 3.11 y donde conviene ser conservador.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F7DCAC7-409D-430D-8DB3-3621BB39B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876300"/>
            <a:ext cx="4191000" cy="495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324F"/>
          </a:solidFill>
          <a:ln xmlns:a="http://schemas.openxmlformats.org/drawingml/2006/main" w="11430">
            <a:solidFill>
              <a:srgbClr val="35536E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EB891F3-A7AD-4B93-BBA7-EECC59149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1200150"/>
            <a:ext cx="1714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F3C8B3"/>
                </a:solidFill>
                <a:latin typeface="Aptos Mono"/>
                <a:ea typeface="Aptos Mono"/>
                <a:cs typeface="Aptos Mono"/>
              </a:defRPr>
            </a:pPr>
            <a:r>
              <a:rPr sz="1125" b="1">
                <a:solidFill>
                  <a:srgbClr val="F3C8B3"/>
                </a:solidFill>
                <a:latin typeface="Aptos Mono"/>
                <a:ea typeface="Aptos Mono"/>
                <a:cs typeface="Aptos Mono"/>
              </a:rPr>
              <a:t>TESIS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D8D2FB3-F1E9-415E-8B12-6571CE282F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1619250"/>
            <a:ext cx="3333750" cy="133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FFFDF8"/>
                </a:solidFill>
                <a:latin typeface="Aptos Display"/>
                <a:ea typeface="Aptos Display"/>
                <a:cs typeface="Aptos Display"/>
              </a:defRPr>
            </a:pPr>
            <a:r>
              <a:rPr sz="1950" b="1">
                <a:solidFill>
                  <a:srgbClr val="FFFDF8"/>
                </a:solidFill>
                <a:latin typeface="Aptos Display"/>
                <a:ea typeface="Aptos Display"/>
                <a:cs typeface="Aptos Display"/>
              </a:rPr>
              <a:t>No hace falta cambiar de paradigma para modernizarse. Primero conviene actualizar con criterio el stack que ya usamos.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3D0DED4-0034-44D8-9ECB-EFA9B3AEA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3467100"/>
            <a:ext cx="1143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FFFDF8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FFFDF8"/>
                </a:solidFill>
                <a:latin typeface="Aptos Display"/>
                <a:ea typeface="Aptos Display"/>
                <a:cs typeface="Aptos Display"/>
              </a:rPr>
              <a:t>3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952D928-6414-43AD-A0A6-1B595A5A4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3790950"/>
            <a:ext cx="1714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D9E2EC"/>
                </a:solidFill>
                <a:latin typeface="Aptos Mono"/>
                <a:ea typeface="Aptos Mono"/>
                <a:cs typeface="Aptos Mono"/>
              </a:defRPr>
            </a:pPr>
            <a:r>
              <a:rPr sz="975" b="0">
                <a:solidFill>
                  <a:srgbClr val="D9E2EC"/>
                </a:solidFill>
                <a:latin typeface="Aptos Mono"/>
                <a:ea typeface="Aptos Mono"/>
                <a:cs typeface="Aptos Mono"/>
              </a:rPr>
              <a:t>decisiones reales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6EFEA0A-01A6-445B-BAAC-5C439C46B1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3467100"/>
            <a:ext cx="1143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FFFDF8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FFFDF8"/>
                </a:solidFill>
                <a:latin typeface="Aptos Display"/>
                <a:ea typeface="Aptos Display"/>
                <a:cs typeface="Aptos Display"/>
              </a:rPr>
              <a:t>8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C270B54-DD37-4DDF-8104-64769C09D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3790950"/>
            <a:ext cx="1714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D9E2EC"/>
                </a:solidFill>
                <a:latin typeface="Aptos Mono"/>
                <a:ea typeface="Aptos Mono"/>
                <a:cs typeface="Aptos Mono"/>
              </a:defRPr>
            </a:pPr>
            <a:r>
              <a:rPr sz="975" b="0">
                <a:solidFill>
                  <a:srgbClr val="D9E2EC"/>
                </a:solidFill>
                <a:latin typeface="Aptos Mono"/>
                <a:ea typeface="Aptos Mono"/>
                <a:cs typeface="Aptos Mono"/>
              </a:rPr>
              <a:t>librerias base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191F451-3E5E-450E-971E-698474235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3467100"/>
            <a:ext cx="1143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FFFDF8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FFFDF8"/>
                </a:solidFill>
                <a:latin typeface="Aptos Display"/>
                <a:ea typeface="Aptos Display"/>
                <a:cs typeface="Aptos Display"/>
              </a:rPr>
              <a:t>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8E076BF-0055-4B04-9F4A-BF4494487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3790950"/>
            <a:ext cx="1714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D9E2EC"/>
                </a:solidFill>
                <a:latin typeface="Aptos Mono"/>
                <a:ea typeface="Aptos Mono"/>
                <a:cs typeface="Aptos Mono"/>
              </a:defRPr>
            </a:pPr>
            <a:r>
              <a:rPr sz="975" b="0">
                <a:solidFill>
                  <a:srgbClr val="D9E2EC"/>
                </a:solidFill>
                <a:latin typeface="Aptos Mono"/>
                <a:ea typeface="Aptos Mono"/>
                <a:cs typeface="Aptos Mono"/>
              </a:rPr>
              <a:t>rutas de upgrade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62567B2-162B-4CD7-BC2D-D0D1D71E8F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4248150"/>
            <a:ext cx="8001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7A3F"/>
          </a:solidFill>
          <a:ln xmlns:a="http://schemas.openxmlformats.org/drawingml/2006/main" w="0">
            <a:solidFill>
              <a:srgbClr val="E07A3F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1B55A8D-DBD1-4026-9809-DBE6DE79A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4314825"/>
            <a:ext cx="6096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02A43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102A43"/>
                </a:solidFill>
                <a:latin typeface="Aptos Mono"/>
                <a:ea typeface="Aptos Mono"/>
                <a:cs typeface="Aptos Mono"/>
              </a:rPr>
              <a:t>ACTUAL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700B397-3060-4B09-90FB-D9E1AAD54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4286250"/>
            <a:ext cx="2381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D9E2EC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D9E2EC"/>
                </a:solidFill>
                <a:latin typeface="Aptos"/>
                <a:ea typeface="Aptos"/>
                <a:cs typeface="Aptos"/>
              </a:rPr>
              <a:t>stack estable y razonable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0C6E4FC-5BAA-44AA-B3A7-9F9D3E6B69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4648200"/>
            <a:ext cx="8001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7A3F"/>
          </a:solidFill>
          <a:ln xmlns:a="http://schemas.openxmlformats.org/drawingml/2006/main" w="0">
            <a:solidFill>
              <a:srgbClr val="E07A3F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0FD66DD-8052-42F9-98EC-DEAEAE0B3E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4714875"/>
            <a:ext cx="6096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02A43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102A43"/>
                </a:solidFill>
                <a:latin typeface="Aptos Mono"/>
                <a:ea typeface="Aptos Mono"/>
                <a:cs typeface="Aptos Mono"/>
              </a:rPr>
              <a:t>3.10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9A1DFD4-67D5-40A9-B4C3-36C4A78AA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4686300"/>
            <a:ext cx="2381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D9E2EC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D9E2EC"/>
                </a:solidFill>
                <a:latin typeface="Aptos"/>
                <a:ea typeface="Aptos"/>
                <a:cs typeface="Aptos"/>
              </a:rPr>
              <a:t>modernizacion segura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792C6DE-1BB3-421C-9376-62E3160C8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5048250"/>
            <a:ext cx="8001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7A3F"/>
          </a:solidFill>
          <a:ln xmlns:a="http://schemas.openxmlformats.org/drawingml/2006/main" w="0">
            <a:solidFill>
              <a:srgbClr val="E07A3F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1FAE268-6B20-4178-8A85-016F06C19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5114925"/>
            <a:ext cx="6096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02A43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102A43"/>
                </a:solidFill>
                <a:latin typeface="Aptos Mono"/>
                <a:ea typeface="Aptos Mono"/>
                <a:cs typeface="Aptos Mono"/>
              </a:rPr>
              <a:t>3.11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D6AFA43-0C74-4105-93C6-521FB203C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5086350"/>
            <a:ext cx="2381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D9E2EC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D9E2EC"/>
                </a:solidFill>
                <a:latin typeface="Aptos"/>
                <a:ea typeface="Aptos"/>
                <a:cs typeface="Aptos"/>
              </a:rPr>
              <a:t>salto mas agresivo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51E744C-3A68-4238-8011-C3C8C0DA0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5448300"/>
            <a:ext cx="8001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7A3F"/>
          </a:solidFill>
          <a:ln xmlns:a="http://schemas.openxmlformats.org/drawingml/2006/main" w="0">
            <a:solidFill>
              <a:srgbClr val="E07A3F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23CC9E7-C1B9-45C9-A118-E12A4C8C7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5514975"/>
            <a:ext cx="6096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02A43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102A43"/>
                </a:solidFill>
                <a:latin typeface="Aptos Mono"/>
                <a:ea typeface="Aptos Mono"/>
                <a:cs typeface="Aptos Mono"/>
              </a:rPr>
              <a:t>LLM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358E32C-C29A-4953-B833-99A2A96400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5486400"/>
            <a:ext cx="2381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D9E2EC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D9E2EC"/>
                </a:solidFill>
                <a:latin typeface="Aptos"/>
                <a:ea typeface="Aptos"/>
                <a:cs typeface="Aptos"/>
              </a:rPr>
              <a:t>mejor como entorno aparte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35C497E-BAF7-4E4C-8129-5E745398A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34150"/>
            <a:ext cx="10477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B7280"/>
                </a:solidFill>
                <a:latin typeface="Aptos"/>
                <a:ea typeface="Aptos"/>
                <a:cs typeface="Aptos"/>
              </a:rPr>
              <a:t>Deck ejecutivo: stack actual, upgrade recomendado y ruta agresiva con Python 3.11.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A536DBB-F58B-4CE1-A5F4-04137DDAB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96050"/>
            <a:ext cx="381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C75C2A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C75C2A"/>
                </a:solidFill>
                <a:latin typeface="Aptos Mono"/>
                <a:ea typeface="Aptos Mono"/>
                <a:cs typeface="Aptos Mono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669330941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DC65AD2-DF58-477D-945E-93FDE596C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0E8"/>
          </a:solidFill>
          <a:ln xmlns:a="http://schemas.openxmlformats.org/drawingml/2006/main" w="0">
            <a:solidFill>
              <a:srgbClr val="F4F0E8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04A5E49-F6D4-4D5A-A605-2F3BC9D66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38150"/>
            <a:ext cx="18097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5C2A"/>
          </a:solidFill>
          <a:ln xmlns:a="http://schemas.openxmlformats.org/drawingml/2006/main" w="0">
            <a:solidFill>
              <a:srgbClr val="C75C2A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E1CFFCF-3F21-4FF3-B94A-C04E64F96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90550"/>
            <a:ext cx="3429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C75C2A"/>
                </a:solidFill>
                <a:latin typeface="Aptos Mono"/>
                <a:ea typeface="Aptos Mono"/>
                <a:cs typeface="Aptos Mono"/>
              </a:defRPr>
            </a:pPr>
            <a:r>
              <a:rPr sz="1200" b="1">
                <a:solidFill>
                  <a:srgbClr val="C75C2A"/>
                </a:solidFill>
                <a:latin typeface="Aptos Mono"/>
                <a:ea typeface="Aptos Mono"/>
                <a:cs typeface="Aptos Mono"/>
              </a:rPr>
              <a:t>BASELINE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1D6925F-F6A3-4C72-BA2C-D2F59100C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95350"/>
            <a:ext cx="857250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rPr>
              <a:t>El stack actual no esta mal. El punto es que ya existe una ruta clara para subirlo sin perder estabilidad.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FED2205-BDA7-42C4-B989-04B28CA71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019300"/>
            <a:ext cx="11068050" cy="386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DDD3C2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1D6A40C-5DD2-4DDF-93EE-42BDB1F40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266950"/>
            <a:ext cx="2476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Stack actual reportado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20FD207-F450-4AF0-BD51-CA3848EC4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705100"/>
            <a:ext cx="10668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A43"/>
          </a:solidFill>
          <a:ln xmlns:a="http://schemas.openxmlformats.org/drawingml/2006/main" w="0">
            <a:solidFill>
              <a:srgbClr val="102A4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E38F07E-4BEF-479F-AEAB-810EF0A730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762250"/>
            <a:ext cx="9144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FFFDF8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FFFDF8"/>
                </a:solidFill>
                <a:latin typeface="Aptos Mono"/>
                <a:ea typeface="Aptos Mono"/>
                <a:cs typeface="Aptos Mono"/>
              </a:rPr>
              <a:t>PYTHON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D201E03-5D2D-4539-B806-A0D651C36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76450" y="2724150"/>
            <a:ext cx="1047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rPr>
              <a:t>3.10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498EBB5-E63B-4A26-ABAC-9AF4EBEBD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724150"/>
            <a:ext cx="2476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runtime actual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814FFF3-F77B-4BF8-8925-E7ADBFBA5E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067050"/>
            <a:ext cx="10668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7A3F"/>
          </a:solidFill>
          <a:ln xmlns:a="http://schemas.openxmlformats.org/drawingml/2006/main" w="0">
            <a:solidFill>
              <a:srgbClr val="E07A3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4173BDC-D394-4CB1-8882-2F7CBCB4C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24200"/>
            <a:ext cx="9144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02A43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102A43"/>
                </a:solidFill>
                <a:latin typeface="Aptos Mono"/>
                <a:ea typeface="Aptos Mono"/>
                <a:cs typeface="Aptos Mono"/>
              </a:rPr>
              <a:t>PANDAS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EA8EC4B-D99B-4597-A520-CC8CA2E40F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76450" y="3086100"/>
            <a:ext cx="1047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rPr>
              <a:t>2.2.0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8EDA570-F0B7-470E-8D7F-2DD20B9EF1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3086100"/>
            <a:ext cx="2476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base tabular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23E2B92-E6C0-4372-995A-C20705EEA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429000"/>
            <a:ext cx="10668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7A3F"/>
          </a:solidFill>
          <a:ln xmlns:a="http://schemas.openxmlformats.org/drawingml/2006/main" w="0">
            <a:solidFill>
              <a:srgbClr val="E07A3F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C54816B-8F49-4009-AD08-7C822BC27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486150"/>
            <a:ext cx="9144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02A43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102A43"/>
                </a:solidFill>
                <a:latin typeface="Aptos Mono"/>
                <a:ea typeface="Aptos Mono"/>
                <a:cs typeface="Aptos Mono"/>
              </a:rPr>
              <a:t>SCIKIT-LEARN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B17591D-85AB-4459-85C6-BB566B2CA8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76450" y="3448050"/>
            <a:ext cx="1047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rPr>
              <a:t>1.4.2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BDE0E5B-ABC1-4F18-95DE-B21A5B4247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3448050"/>
            <a:ext cx="2476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modelado y pipelines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BED52B4-E7E8-433A-B356-D57C2932C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790950"/>
            <a:ext cx="10668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7A3F"/>
          </a:solidFill>
          <a:ln xmlns:a="http://schemas.openxmlformats.org/drawingml/2006/main" w="0">
            <a:solidFill>
              <a:srgbClr val="E07A3F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B4C9286-4C3F-4F22-B85A-EC61DF94DD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848100"/>
            <a:ext cx="9144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02A43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102A43"/>
                </a:solidFill>
                <a:latin typeface="Aptos Mono"/>
                <a:ea typeface="Aptos Mono"/>
                <a:cs typeface="Aptos Mono"/>
              </a:rPr>
              <a:t>SCIPY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2B2DF5F-E057-4B9C-97E7-28F22D534C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76450" y="3810000"/>
            <a:ext cx="1047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rPr>
              <a:t>1.10.1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3E0E29D-6DE4-4AB0-85F7-D481978D33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3810000"/>
            <a:ext cx="2476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numerico y estadistico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EA1B0B7-B00E-4D4F-AEB7-38A784742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152900"/>
            <a:ext cx="10668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7A3F"/>
          </a:solidFill>
          <a:ln xmlns:a="http://schemas.openxmlformats.org/drawingml/2006/main" w="0">
            <a:solidFill>
              <a:srgbClr val="E07A3F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D0782FE-B3F8-4050-A18D-B4A1CD43F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210050"/>
            <a:ext cx="9144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02A43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102A43"/>
                </a:solidFill>
                <a:latin typeface="Aptos Mono"/>
                <a:ea typeface="Aptos Mono"/>
                <a:cs typeface="Aptos Mono"/>
              </a:rPr>
              <a:t>FEATURE-ENGINE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AF7689F-B302-46D2-B4BC-2FD7D517F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76450" y="4171950"/>
            <a:ext cx="1047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rPr>
              <a:t>1.8.3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12A0692-A58E-494D-883A-EFFAEAB873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4171950"/>
            <a:ext cx="2476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transformacion de features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C90A731-DAED-47E9-97B2-1DDFE0473D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514850"/>
            <a:ext cx="10668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7A3F"/>
          </a:solidFill>
          <a:ln xmlns:a="http://schemas.openxmlformats.org/drawingml/2006/main" w="0">
            <a:solidFill>
              <a:srgbClr val="E07A3F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D3DB30B-3982-4D16-B616-C4F232631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572000"/>
            <a:ext cx="9144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02A43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102A43"/>
                </a:solidFill>
                <a:latin typeface="Aptos Mono"/>
                <a:ea typeface="Aptos Mono"/>
                <a:cs typeface="Aptos Mono"/>
              </a:rPr>
              <a:t>OPTBINNING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28ACA3E-F657-499F-A362-4DCC38EDEE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76450" y="4533900"/>
            <a:ext cx="1047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rPr>
              <a:t>0.18.0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81B04A2-6140-47A5-904A-99208FD94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4533900"/>
            <a:ext cx="2476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binning y scorecards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0AEF9EC-CFF0-4EF6-9C30-9E19B3C2A5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876800"/>
            <a:ext cx="10668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7A3F"/>
          </a:solidFill>
          <a:ln xmlns:a="http://schemas.openxmlformats.org/drawingml/2006/main" w="0">
            <a:solidFill>
              <a:srgbClr val="E07A3F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D526AE3-34AA-4ECF-85A6-CCE931A323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933950"/>
            <a:ext cx="9144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02A43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102A43"/>
                </a:solidFill>
                <a:latin typeface="Aptos Mono"/>
                <a:ea typeface="Aptos Mono"/>
                <a:cs typeface="Aptos Mono"/>
              </a:rPr>
              <a:t>XGBOOST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6B84418-0118-463D-8395-DDDA373099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76450" y="4895850"/>
            <a:ext cx="1047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rPr>
              <a:t>2.0.3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414FE4FB-512C-4780-806C-7E4438328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4895850"/>
            <a:ext cx="2476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boosting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D19F329-52B0-4416-8A7C-D5B3C511A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238750"/>
            <a:ext cx="10668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7A3F"/>
          </a:solidFill>
          <a:ln xmlns:a="http://schemas.openxmlformats.org/drawingml/2006/main" w="0">
            <a:solidFill>
              <a:srgbClr val="E07A3F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4E5B3993-8D36-4802-9997-A4500EB42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295900"/>
            <a:ext cx="9144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02A43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102A43"/>
                </a:solidFill>
                <a:latin typeface="Aptos Mono"/>
                <a:ea typeface="Aptos Mono"/>
                <a:cs typeface="Aptos Mono"/>
              </a:rPr>
              <a:t>LIGHTGBM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7DBACDB4-67B3-4BA4-AF91-8FE8C4EEE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76450" y="5257800"/>
            <a:ext cx="1047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rPr>
              <a:t>3.3.5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C817AFF9-4670-4326-A3E5-D33AA8BA5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5257800"/>
            <a:ext cx="2476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boosting alternativo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1AA3CBE5-C809-4109-A419-FDA82F027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2724150"/>
            <a:ext cx="4476750" cy="2057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0F172A"/>
                </a:solidFill>
                <a:latin typeface="Aptos"/>
                <a:ea typeface="Aptos"/>
                <a:cs typeface="Aptos"/>
              </a:rPr>
              <a:t>Lectura ejecutiva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0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0F172A"/>
                </a:solidFill>
                <a:latin typeface="Aptos"/>
                <a:ea typeface="Aptos"/>
                <a:cs typeface="Aptos"/>
              </a:rPr>
              <a:t>1. Es un stack coherente y productivo.</a:t>
            </a:r>
          </a:p>
          <a:p xmlns:a="http://schemas.openxmlformats.org/drawingml/2006/main">
            <a:pPr algn="l">
              <a:defRPr sz="1575" b="0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0F172A"/>
                </a:solidFill>
                <a:latin typeface="Aptos"/>
                <a:ea typeface="Aptos"/>
                <a:cs typeface="Aptos"/>
              </a:rPr>
              <a:t>2. No esta obsoleto, pero ya quedo por detras de varias mejoras de compatibilidad y mantenibilidad.</a:t>
            </a:r>
          </a:p>
          <a:p xmlns:a="http://schemas.openxmlformats.org/drawingml/2006/main">
            <a:pPr algn="l">
              <a:defRPr sz="1575" b="0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0F172A"/>
                </a:solidFill>
                <a:latin typeface="Aptos"/>
                <a:ea typeface="Aptos"/>
                <a:cs typeface="Aptos"/>
              </a:rPr>
              <a:t>3. El mayor valor incremental no esta en una libreria nueva, sino en actualizar bien las que ya sostienen casi todo el flujo.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EEA47911-DB4C-48CA-B253-1F7439879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4705350"/>
            <a:ext cx="447675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A43"/>
          </a:solidFill>
          <a:ln xmlns:a="http://schemas.openxmlformats.org/drawingml/2006/main" w="0">
            <a:solidFill>
              <a:srgbClr val="102A43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D581F1BD-FE36-42FD-A5AD-27467BD27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4933950"/>
            <a:ext cx="40005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DF8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DF8"/>
                </a:solidFill>
                <a:latin typeface="Aptos Display"/>
                <a:ea typeface="Aptos Display"/>
                <a:cs typeface="Aptos Display"/>
              </a:rPr>
              <a:t>La pregunta no es si cambiar de stack.</a:t>
            </a:r>
          </a:p>
          <a:p xmlns:a="http://schemas.openxmlformats.org/drawingml/2006/main">
            <a:pPr algn="l">
              <a:defRPr sz="1350" b="1">
                <a:solidFill>
                  <a:srgbClr val="FFFDF8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DF8"/>
                </a:solidFill>
                <a:latin typeface="Aptos Display"/>
                <a:ea typeface="Aptos Display"/>
                <a:cs typeface="Aptos Display"/>
              </a:rPr>
              <a:t>La pregunta es cuanto modernizarlo sin subir el riesgo.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CC225525-8401-4B65-9803-CFBD53802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34150"/>
            <a:ext cx="10477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B7280"/>
                </a:solidFill>
                <a:latin typeface="Aptos"/>
                <a:ea typeface="Aptos"/>
                <a:cs typeface="Aptos"/>
              </a:rPr>
              <a:t>Baseline para comparar valor, riesgo y costo de migracion.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7B1FED10-9D61-4DB4-AF78-348890912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96050"/>
            <a:ext cx="381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C75C2A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C75C2A"/>
                </a:solidFill>
                <a:latin typeface="Aptos Mono"/>
                <a:ea typeface="Aptos Mono"/>
                <a:cs typeface="Aptos Mono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375496618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AD05C3A-C83F-438C-8723-414D31A56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0E8"/>
          </a:solidFill>
          <a:ln xmlns:a="http://schemas.openxmlformats.org/drawingml/2006/main" w="0">
            <a:solidFill>
              <a:srgbClr val="F4F0E8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62C56FC-58E4-4DF1-96FB-06B82C277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38150"/>
            <a:ext cx="18097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5C2A"/>
          </a:solidFill>
          <a:ln xmlns:a="http://schemas.openxmlformats.org/drawingml/2006/main" w="0">
            <a:solidFill>
              <a:srgbClr val="C75C2A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37F502A-C2F9-4FDA-9397-EB7049A144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90550"/>
            <a:ext cx="3429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C75C2A"/>
                </a:solidFill>
                <a:latin typeface="Aptos Mono"/>
                <a:ea typeface="Aptos Mono"/>
                <a:cs typeface="Aptos Mono"/>
              </a:defRPr>
            </a:pPr>
            <a:r>
              <a:rPr sz="1200" b="1">
                <a:solidFill>
                  <a:srgbClr val="C75C2A"/>
                </a:solidFill>
                <a:latin typeface="Aptos Mono"/>
                <a:ea typeface="Aptos Mono"/>
                <a:cs typeface="Aptos Mono"/>
              </a:rPr>
              <a:t>VALIDACION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3B5CC9C-6DEB-44D2-A06D-E16F2A724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95350"/>
            <a:ext cx="857250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rPr>
              <a:t>La recomendacion no viene solo de release notes. Se valido resolucion real, instalacion limpia e imports por entorno.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2538EDA-DAC6-45D0-ADFE-A20A83AC3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114550"/>
            <a:ext cx="3390900" cy="3333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DDD3C2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66947E7-FD36-487C-8C3D-4D93DB807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43150"/>
            <a:ext cx="11430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Paso 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141E407-FEB7-4DD0-BC06-C7EABCC81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8384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7A3F"/>
          </a:solidFill>
          <a:ln xmlns:a="http://schemas.openxmlformats.org/drawingml/2006/main" w="0">
            <a:solidFill>
              <a:srgbClr val="E07A3F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6942407-CF85-437F-9053-5EE69F9520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762250"/>
            <a:ext cx="27241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Compatibilidad declarada por cada paquete.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169767E-9D83-4734-BE0D-3E97F9F01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5242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7A3F"/>
          </a:solidFill>
          <a:ln xmlns:a="http://schemas.openxmlformats.org/drawingml/2006/main" w="0">
            <a:solidFill>
              <a:srgbClr val="E07A3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4C7D583-EA7E-4248-B5A7-5B1762A996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448050"/>
            <a:ext cx="27241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Cruce de versiones tope para Python 3.10 y 3.11.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B0C765B-7413-40B6-9CE1-31BB897F59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2100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7A3F"/>
          </a:solidFill>
          <a:ln xmlns:a="http://schemas.openxmlformats.org/drawingml/2006/main" w="0">
            <a:solidFill>
              <a:srgbClr val="E07A3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FFF6E1A-0D15-445B-9DDF-0F5AD236F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133850"/>
            <a:ext cx="27241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Conflictos claros detectados temprano: pandas 3.x vs scikit-llm.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FF6C592-9E36-457E-AB68-D58BA2E0E2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2114550"/>
            <a:ext cx="3390900" cy="3333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DDD3C2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D2B9C1A-7730-42AA-AC0B-42105B3625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343150"/>
            <a:ext cx="11430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Paso 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014016F-C107-4F28-AA10-0E7D966289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28384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6A4F"/>
          </a:solidFill>
          <a:ln xmlns:a="http://schemas.openxmlformats.org/drawingml/2006/main" w="0">
            <a:solidFill>
              <a:srgbClr val="2D6A4F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91BD359-C8BA-45AA-813E-B143DF21EC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2762250"/>
            <a:ext cx="27241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Resolver real con pip para cada stack propuesto.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FD1E5E7-C791-4279-9334-43EE7BA16D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35242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6A4F"/>
          </a:solidFill>
          <a:ln xmlns:a="http://schemas.openxmlformats.org/drawingml/2006/main" w="0">
            <a:solidFill>
              <a:srgbClr val="2D6A4F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F8D62AA-21B8-4F5E-A524-7730BB8C0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3448050"/>
            <a:ext cx="27241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Entornos limpios para evitar falsos positivos locales.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3D1BEBB-A38F-4D5F-B15C-81B7612A5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42100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6A4F"/>
          </a:solidFill>
          <a:ln xmlns:a="http://schemas.openxmlformats.org/drawingml/2006/main" w="0">
            <a:solidFill>
              <a:srgbClr val="2D6A4F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322DDAB-A502-4E55-B01C-C146966A3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4133850"/>
            <a:ext cx="27241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Import check de cada libreria objetivo.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BAC0DB1-A002-4BC1-9DD5-6214AB22C7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2114550"/>
            <a:ext cx="3676650" cy="3333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DDD3C2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971BD83-65E2-49BD-95A1-027ACFF8C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343150"/>
            <a:ext cx="15240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Resultado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F3F1006-5010-4565-B658-448333CBD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781300"/>
            <a:ext cx="3048000" cy="1504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rPr>
              <a:t>Tres perfiles quedaron validados: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0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rPr>
              <a:t>Python 3.10 con stack recomendado.</a:t>
            </a:r>
          </a:p>
          <a:p xmlns:a="http://schemas.openxmlformats.org/drawingml/2006/main">
            <a:pPr algn="l">
              <a:defRPr sz="150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rPr>
              <a:t>Python 3.11 con stack agresivo.</a:t>
            </a:r>
          </a:p>
          <a:p xmlns:a="http://schemas.openxmlformats.org/drawingml/2006/main">
            <a:pPr algn="l">
              <a:defRPr sz="150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rPr>
              <a:t>Python 3.11 con scikit-llm y pandas 2.3.3.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44A263B-30CE-47BD-A436-E06EB06CE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4400550"/>
            <a:ext cx="30480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Eso permite hablar de upgrade con evidencia tecnica y no solo con entusiasmo.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D48E907-4C99-4009-969F-48C8FE8F2B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753100"/>
            <a:ext cx="110680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DBC8"/>
          </a:solidFill>
          <a:ln xmlns:a="http://schemas.openxmlformats.org/drawingml/2006/main" w="0">
            <a:solidFill>
              <a:srgbClr val="DDD3C2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363CCB2-9639-48C7-ABA5-6BA5601971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886450"/>
            <a:ext cx="10572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Mensaje clave: el riesgo no esta en "la version nueva" en abstracto; esta en la combinacion concreta del entorno.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F643BEE-AF08-483C-9B8F-F0E7AACF9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34150"/>
            <a:ext cx="10477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B7280"/>
                </a:solidFill>
                <a:latin typeface="Aptos"/>
                <a:ea typeface="Aptos"/>
                <a:cs typeface="Aptos"/>
              </a:rPr>
              <a:t>Compatibilidad revisada con resolver real e import check.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808AB78-4B4B-4A34-8FF0-4DAC895D23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96050"/>
            <a:ext cx="381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C75C2A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C75C2A"/>
                </a:solidFill>
                <a:latin typeface="Aptos Mono"/>
                <a:ea typeface="Aptos Mono"/>
                <a:cs typeface="Aptos Mono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526515037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667AE84-ED94-45EF-A9E2-0046AF3F3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0E8"/>
          </a:solidFill>
          <a:ln xmlns:a="http://schemas.openxmlformats.org/drawingml/2006/main" w="0">
            <a:solidFill>
              <a:srgbClr val="F4F0E8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C1CE3CC-E924-4A1B-AF42-37B8F9E54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38150"/>
            <a:ext cx="18097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5C2A"/>
          </a:solidFill>
          <a:ln xmlns:a="http://schemas.openxmlformats.org/drawingml/2006/main" w="0">
            <a:solidFill>
              <a:srgbClr val="C75C2A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963A9F0-1F5C-4232-AB49-59A7FD37C1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90550"/>
            <a:ext cx="3429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C75C2A"/>
                </a:solidFill>
                <a:latin typeface="Aptos Mono"/>
                <a:ea typeface="Aptos Mono"/>
                <a:cs typeface="Aptos Mono"/>
              </a:defRPr>
            </a:pPr>
            <a:r>
              <a:rPr sz="1200" b="1">
                <a:solidFill>
                  <a:srgbClr val="C75C2A"/>
                </a:solidFill>
                <a:latin typeface="Aptos Mono"/>
                <a:ea typeface="Aptos Mono"/>
                <a:cs typeface="Aptos Mono"/>
              </a:rPr>
              <a:t>RUTA RECOMENDADA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B13B59F-9622-4F40-9491-5CD56BFD2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95350"/>
            <a:ext cx="857250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rPr>
              <a:t>La mejor decision por defecto es modernizar el stack manteniendo Python 3.10.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AEE558E-5879-4744-964A-B410A85234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000250"/>
            <a:ext cx="11068050" cy="396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DDD3C2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58E32F1-B26A-4915-AFAB-B39957CE7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228850"/>
            <a:ext cx="30480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Stack recomendado en Python 3.10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111D507-A852-4031-8983-BCA472DA28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609850"/>
            <a:ext cx="1809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475569"/>
                </a:solidFill>
                <a:latin typeface="Aptos Mono"/>
                <a:ea typeface="Aptos Mono"/>
                <a:cs typeface="Aptos Mono"/>
              </a:defRPr>
            </a:pPr>
            <a:r>
              <a:rPr sz="1200" b="1">
                <a:solidFill>
                  <a:srgbClr val="475569"/>
                </a:solidFill>
                <a:latin typeface="Aptos Mono"/>
                <a:ea typeface="Aptos Mono"/>
                <a:cs typeface="Aptos Mono"/>
              </a:rPr>
              <a:t>Libreria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9714324-8FD2-4262-9EB6-6103A9351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2609850"/>
            <a:ext cx="1047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475569"/>
                </a:solidFill>
                <a:latin typeface="Aptos Mono"/>
                <a:ea typeface="Aptos Mono"/>
                <a:cs typeface="Aptos Mono"/>
              </a:defRPr>
            </a:pPr>
            <a:r>
              <a:rPr sz="1200" b="1">
                <a:solidFill>
                  <a:srgbClr val="475569"/>
                </a:solidFill>
                <a:latin typeface="Aptos Mono"/>
                <a:ea typeface="Aptos Mono"/>
                <a:cs typeface="Aptos Mono"/>
              </a:rPr>
              <a:t>Actual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8FBDCE6-B354-4DCA-84E0-92368B67BB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2609850"/>
            <a:ext cx="1428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475569"/>
                </a:solidFill>
                <a:latin typeface="Aptos Mono"/>
                <a:ea typeface="Aptos Mono"/>
                <a:cs typeface="Aptos Mono"/>
              </a:defRPr>
            </a:pPr>
            <a:r>
              <a:rPr sz="1200" b="1">
                <a:solidFill>
                  <a:srgbClr val="475569"/>
                </a:solidFill>
                <a:latin typeface="Aptos Mono"/>
                <a:ea typeface="Aptos Mono"/>
                <a:cs typeface="Aptos Mono"/>
              </a:rPr>
              <a:t>Upgrade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4D4D7D6-CB30-4D85-B36B-1842A94927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6450" y="2609850"/>
            <a:ext cx="4953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475569"/>
                </a:solidFill>
                <a:latin typeface="Aptos Mono"/>
                <a:ea typeface="Aptos Mono"/>
                <a:cs typeface="Aptos Mono"/>
              </a:defRPr>
            </a:pPr>
            <a:r>
              <a:rPr sz="1200" b="1">
                <a:solidFill>
                  <a:srgbClr val="475569"/>
                </a:solidFill>
                <a:latin typeface="Aptos Mono"/>
                <a:ea typeface="Aptos Mono"/>
                <a:cs typeface="Aptos Mono"/>
              </a:rPr>
              <a:t>Ganancia principal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6617983-2927-4033-9AF6-C483C2588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933700"/>
            <a:ext cx="10382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7F1"/>
          </a:solidFill>
          <a:ln xmlns:a="http://schemas.openxmlformats.org/drawingml/2006/main" w="0">
            <a:solidFill>
              <a:srgbClr val="FAF7F1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441FCF7-BE48-49AA-A987-F7B063C7A5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990850"/>
            <a:ext cx="1809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pandas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9E2B9C9-5AC6-4E5C-AD9E-E961752C5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2990850"/>
            <a:ext cx="1047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2.2.0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AE24340-1BD1-4AAA-BE59-6220315838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2990850"/>
            <a:ext cx="1428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D6A4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2D6A4F"/>
                </a:solidFill>
                <a:latin typeface="Aptos"/>
                <a:ea typeface="Aptos"/>
                <a:cs typeface="Aptos"/>
              </a:rPr>
              <a:t>2.3.3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A446B31-BAA4-4758-9BA9-819954C8C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6450" y="2990850"/>
            <a:ext cx="4953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mejor compatibilidad con NumPy 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2357E46-C907-4E18-949D-DE80C91938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390900"/>
            <a:ext cx="1809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scikit-learn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A870567-8EFF-4C08-903B-DD7030F7C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3390900"/>
            <a:ext cx="1047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1.4.2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374AA23-0D67-41F4-9BB9-9E5991E21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3390900"/>
            <a:ext cx="1428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D6A4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2D6A4F"/>
                </a:solidFill>
                <a:latin typeface="Aptos"/>
                <a:ea typeface="Aptos"/>
                <a:cs typeface="Aptos"/>
              </a:rPr>
              <a:t>1.7.2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CBB0EA2-29F6-4741-953E-AA31BF08B1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6450" y="3390900"/>
            <a:ext cx="4953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Array API, sparse y mejoras en MLP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0C10ABD-ED9C-4FE0-8D80-7B751725B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33800"/>
            <a:ext cx="10382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7F1"/>
          </a:solidFill>
          <a:ln xmlns:a="http://schemas.openxmlformats.org/drawingml/2006/main" w="0">
            <a:solidFill>
              <a:srgbClr val="FAF7F1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50C9CA1-9E16-457B-B9C3-21B20234F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790950"/>
            <a:ext cx="1809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scipy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C86D498-D91E-4D70-9B2D-38F183E9E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3790950"/>
            <a:ext cx="1047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1.10.1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2A2680D-21BB-4C0E-A4AE-FED3B5F0C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3790950"/>
            <a:ext cx="1428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D6A4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2D6A4F"/>
                </a:solidFill>
                <a:latin typeface="Aptos"/>
                <a:ea typeface="Aptos"/>
                <a:cs typeface="Aptos"/>
              </a:rPr>
              <a:t>1.15.3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91BCF89-5F54-43AB-BC09-35D358507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6450" y="3790950"/>
            <a:ext cx="4953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differentiate, elementwise y sparse moderno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5573FCA-8035-48CE-AC47-235352BBB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191000"/>
            <a:ext cx="1809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feature-engine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6F240FE-5F5F-4E14-9DB6-F93CD30891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4191000"/>
            <a:ext cx="1047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1.8.3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FCB9A99-FBF6-4D20-820C-9399A150F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4191000"/>
            <a:ext cx="1428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D6A4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2D6A4F"/>
                </a:solidFill>
                <a:latin typeface="Aptos"/>
                <a:ea typeface="Aptos"/>
                <a:cs typeface="Aptos"/>
              </a:rPr>
              <a:t>1.9.4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4CA0C16-FE99-43B3-B0EB-D002AFC08E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6450" y="4191000"/>
            <a:ext cx="4953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nuevos transformadores y mejor futuro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FF16555-9EA5-44A2-A856-FEFA3A7E6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533900"/>
            <a:ext cx="10382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7F1"/>
          </a:solidFill>
          <a:ln xmlns:a="http://schemas.openxmlformats.org/drawingml/2006/main" w="0">
            <a:solidFill>
              <a:srgbClr val="FAF7F1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A856A78-30D0-4052-90DB-3D7523681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591050"/>
            <a:ext cx="1809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optbinning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2EA2417-40E7-4E52-9063-DB3D64B71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4591050"/>
            <a:ext cx="1047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0.18.0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CFF7931-6431-49AF-9F59-3A5E65F78C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4591050"/>
            <a:ext cx="1428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D6A4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2D6A4F"/>
                </a:solidFill>
                <a:latin typeface="Aptos"/>
                <a:ea typeface="Aptos"/>
                <a:cs typeface="Aptos"/>
              </a:rPr>
              <a:t>0.21.0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1F087F6-1D48-4A93-BB2B-44EE28788A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6450" y="4591050"/>
            <a:ext cx="4953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scorecards y sample_weight mejor resueltos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890E96BE-3B7F-4810-B7A8-0F901BC14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991100"/>
            <a:ext cx="1809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xgboost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E45574B9-24C6-4FF5-866D-25A5F8318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4991100"/>
            <a:ext cx="1047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2.0.3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D551300E-C43E-475C-80F2-0819986FCF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4991100"/>
            <a:ext cx="1428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D6A4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2D6A4F"/>
                </a:solidFill>
                <a:latin typeface="Aptos"/>
                <a:ea typeface="Aptos"/>
                <a:cs typeface="Aptos"/>
              </a:rPr>
              <a:t>3.2.0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81822819-D04A-4862-BA11-071F452FE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6450" y="4991100"/>
            <a:ext cx="4953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performance y external memory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DD788D70-2140-4D38-AD3C-47B0CCCC9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34000"/>
            <a:ext cx="10382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7F1"/>
          </a:solidFill>
          <a:ln xmlns:a="http://schemas.openxmlformats.org/drawingml/2006/main" w="0">
            <a:solidFill>
              <a:srgbClr val="FAF7F1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172AFF13-60E1-4219-AC70-7309D10EE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391150"/>
            <a:ext cx="1809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lightgbm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F193F617-ECC4-44BA-B489-021CB37E7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5391150"/>
            <a:ext cx="1047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3.3.5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BEAF71B3-1971-4E1E-A9C5-6BAC011F1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5391150"/>
            <a:ext cx="1428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D6A4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2D6A4F"/>
                </a:solidFill>
                <a:latin typeface="Aptos"/>
                <a:ea typeface="Aptos"/>
                <a:cs typeface="Aptos"/>
              </a:rPr>
              <a:t>4.6.0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9092EF26-4268-4497-8037-2C9D53D2CB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6450" y="5391150"/>
            <a:ext cx="4953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compatibilidad actualizada con ecosistema moderno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3B9D71F9-8869-45D8-B827-CE11C99BF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72200"/>
            <a:ext cx="110680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A43"/>
          </a:solidFill>
          <a:ln xmlns:a="http://schemas.openxmlformats.org/drawingml/2006/main" w="0">
            <a:solidFill>
              <a:srgbClr val="102A43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BFF2A3D7-3ECE-48EC-915A-E7743CF5A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276975"/>
            <a:ext cx="10572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FFDF8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FFFDF8"/>
                </a:solidFill>
                <a:latin typeface="Aptos"/>
                <a:ea typeface="Aptos"/>
                <a:cs typeface="Aptos"/>
              </a:rPr>
              <a:t>Recomendacion: aprobar esta ruta como upgrade estable por defecto y dejar LLMs fuera del entorno base.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A143ACE3-536B-4199-A808-E1C55E75D7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34150"/>
            <a:ext cx="10477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B7280"/>
                </a:solidFill>
                <a:latin typeface="Aptos"/>
                <a:ea typeface="Aptos"/>
                <a:cs typeface="Aptos"/>
              </a:rPr>
              <a:t>Stack validado en entorno limpio con Python 3.10.11.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827F8B46-7F05-4888-8428-1104A1C198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96050"/>
            <a:ext cx="381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C75C2A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C75C2A"/>
                </a:solidFill>
                <a:latin typeface="Aptos Mono"/>
                <a:ea typeface="Aptos Mono"/>
                <a:cs typeface="Aptos Mono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1120835479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EE8A494-3783-4123-91EB-9453DCB75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0E8"/>
          </a:solidFill>
          <a:ln xmlns:a="http://schemas.openxmlformats.org/drawingml/2006/main" w="0">
            <a:solidFill>
              <a:srgbClr val="F4F0E8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B40A6AC-2978-4F07-BC21-2C1BC5EC6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38150"/>
            <a:ext cx="18097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5C2A"/>
          </a:solidFill>
          <a:ln xmlns:a="http://schemas.openxmlformats.org/drawingml/2006/main" w="0">
            <a:solidFill>
              <a:srgbClr val="C75C2A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BA41DD9-871F-4CA3-8676-325E14489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90550"/>
            <a:ext cx="3429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C75C2A"/>
                </a:solidFill>
                <a:latin typeface="Aptos Mono"/>
                <a:ea typeface="Aptos Mono"/>
                <a:cs typeface="Aptos Mono"/>
              </a:defRPr>
            </a:pPr>
            <a:r>
              <a:rPr sz="1200" b="1">
                <a:solidFill>
                  <a:srgbClr val="C75C2A"/>
                </a:solidFill>
                <a:latin typeface="Aptos Mono"/>
                <a:ea typeface="Aptos Mono"/>
                <a:cs typeface="Aptos Mono"/>
              </a:rPr>
              <a:t>GANANCIA REAL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C0BE257-4FB6-4D0E-80D7-F3F40EA068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95350"/>
            <a:ext cx="857250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rPr>
              <a:t>No todas las librerias aportan lo mismo: el mayor valor transversal viene de pandas, scikit-learn y scipy.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F4FFBDB-9918-43B9-B074-E35AC2F9D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038350"/>
            <a:ext cx="3543300" cy="3733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DDD3C2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8BD532F-99E0-4DE0-A57A-867F66AC30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266950"/>
            <a:ext cx="11430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pandas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13F41FB-78B9-4693-AD08-3FABC7FF9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7813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7A3F"/>
          </a:solidFill>
          <a:ln xmlns:a="http://schemas.openxmlformats.org/drawingml/2006/main" w="0">
            <a:solidFill>
              <a:srgbClr val="E07A3F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C939C18-252F-43AB-A006-3FC12FA28A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705100"/>
            <a:ext cx="27241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Menos friccion con NumPy 2 y tipos string.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205CD78-CF87-4785-9D3A-DBDEF62FF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3147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7A3F"/>
          </a:solidFill>
          <a:ln xmlns:a="http://schemas.openxmlformats.org/drawingml/2006/main" w="0">
            <a:solidFill>
              <a:srgbClr val="E07A3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498D06F-05F3-4FB4-B8F8-A4207FF93B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238500"/>
            <a:ext cx="27241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Menos errores al leer, unir y exportar tablas.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0DC9351-A8B9-40A6-ADC8-FAB7E9F72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8481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7A3F"/>
          </a:solidFill>
          <a:ln xmlns:a="http://schemas.openxmlformats.org/drawingml/2006/main" w="0">
            <a:solidFill>
              <a:srgbClr val="E07A3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985B79D-E1DB-4278-984F-97D3092DD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771900"/>
            <a:ext cx="27241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Mejor base para vectorizar y transformar features.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8F889D1-B8CD-45B7-9661-6AB85152A9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400550"/>
            <a:ext cx="272415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Impacto tecnico:</a:t>
            </a:r>
          </a:p>
          <a:p xmlns:a="http://schemas.openxmlformats.org/drawingml/2006/main">
            <a:pPr algn="l">
              <a:defRPr sz="135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menos codigo defensivo en limpieza, joins y salidas a Excel o HDF.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41E6DD0-FCC8-48DA-B956-C22D0279E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2038350"/>
            <a:ext cx="3543300" cy="3733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DDD3C2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DBA5714-C4CC-4817-AEA7-4B8CEA064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2266950"/>
            <a:ext cx="1714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scikit-learn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9631A36-D3BC-4487-B7A8-0314AC8BE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7813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6A4F"/>
          </a:solidFill>
          <a:ln xmlns:a="http://schemas.openxmlformats.org/drawingml/2006/main" w="0">
            <a:solidFill>
              <a:srgbClr val="2D6A4F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45478F1-06B0-4285-9482-3254D6797E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2705100"/>
            <a:ext cx="27241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Array API y sparse arrays mas modernos.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585F40B-6BD2-4F7E-A09E-20BA539EF1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33147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6A4F"/>
          </a:solidFill>
          <a:ln xmlns:a="http://schemas.openxmlformats.org/drawingml/2006/main" w="0">
            <a:solidFill>
              <a:srgbClr val="2D6A4F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C2A02DB-D9DA-478D-949B-7F5A4D141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3238500"/>
            <a:ext cx="27241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MLP = perceptron multicapa; ahora acepta sample_weight.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358FD48-AE5F-400B-95D5-2E31FF70AE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38481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6A4F"/>
          </a:solidFill>
          <a:ln xmlns:a="http://schemas.openxmlformats.org/drawingml/2006/main" w="0">
            <a:solidFill>
              <a:srgbClr val="2D6A4F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F59D796-F5F4-4E5A-9418-B24C3AC1C4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3771900"/>
            <a:ext cx="27241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La rama 1.9 agrega callbacks para seguir el fit.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AC832A4-32CD-4789-86A0-A0FFC21ED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4400550"/>
            <a:ext cx="272415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Impacto tecnico:</a:t>
            </a:r>
          </a:p>
          <a:p xmlns:a="http://schemas.openxmlformats.org/drawingml/2006/main">
            <a:pPr algn="l">
              <a:defRPr sz="135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pipelines mas mantenibles, mejor trazabilidad y menos wrappers custom.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9961CFC-8DAA-4DEB-912E-15394D9F9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038350"/>
            <a:ext cx="3524250" cy="3733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DDD3C2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510D3D7-039F-4000-98DB-E6E44439A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2266950"/>
            <a:ext cx="11430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scipy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EFEB10F-BE57-46E5-BF8D-87FF31404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27813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5C2A"/>
          </a:solidFill>
          <a:ln xmlns:a="http://schemas.openxmlformats.org/drawingml/2006/main" w="0">
            <a:solidFill>
              <a:srgbClr val="C75C2A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CEE929D-A5B5-4623-8294-2EEBABA47F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2705100"/>
            <a:ext cx="27241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differentiate y optimize.elementwise amplian la base numerica.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285D734-64E7-40D1-A3DB-0EDA6356D8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33147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5C2A"/>
          </a:solidFill>
          <a:ln xmlns:a="http://schemas.openxmlformats.org/drawingml/2006/main" w="0">
            <a:solidFill>
              <a:srgbClr val="C75C2A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AF641F7-4528-45AD-964A-2A237D39FE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3238500"/>
            <a:ext cx="27241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Mejor soporte Array API y batching.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6572FC2-0E2B-47EE-8B2C-03AAB290B8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38481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5C2A"/>
          </a:solidFill>
          <a:ln xmlns:a="http://schemas.openxmlformats.org/drawingml/2006/main" w="0">
            <a:solidFill>
              <a:srgbClr val="C75C2A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65D1606-4054-4595-B936-A59154002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3771900"/>
            <a:ext cx="27241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Mas consistencia para stats, sparse y spatial.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8B87BEE-B838-4E1B-9642-F288C213B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4400550"/>
            <a:ext cx="272415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Impacto tecnico:</a:t>
            </a:r>
          </a:p>
          <a:p xmlns:a="http://schemas.openxmlformats.org/drawingml/2006/main">
            <a:pPr algn="l">
              <a:defRPr sz="135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mejor base para validaciones, transformaciones y funciones propias.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0A3D848-CEB2-4A49-9E46-100B6D3F1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34150"/>
            <a:ext cx="10477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B7280"/>
                </a:solidFill>
                <a:latin typeface="Aptos"/>
                <a:ea typeface="Aptos"/>
                <a:cs typeface="Aptos"/>
              </a:rPr>
              <a:t>Estas tres librerias explican gran parte del valor del upgrade recomendado.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BB0A440-6E39-4E8D-AFF4-8B46E21D6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96050"/>
            <a:ext cx="381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C75C2A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C75C2A"/>
                </a:solidFill>
                <a:latin typeface="Aptos Mono"/>
                <a:ea typeface="Aptos Mono"/>
                <a:cs typeface="Aptos Mono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505058695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BF3FBF9-53BC-4E95-8473-A74D038B5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0E8"/>
          </a:solidFill>
          <a:ln xmlns:a="http://schemas.openxmlformats.org/drawingml/2006/main" w="0">
            <a:solidFill>
              <a:srgbClr val="F4F0E8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F365759-60DB-4EC4-8E1A-948F0EDA0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38150"/>
            <a:ext cx="18097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6A4F"/>
          </a:solidFill>
          <a:ln xmlns:a="http://schemas.openxmlformats.org/drawingml/2006/main" w="0">
            <a:solidFill>
              <a:srgbClr val="2D6A4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A9FA9C2-CEF1-495B-A97C-3E0FA9962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90550"/>
            <a:ext cx="3429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2D6A4F"/>
                </a:solidFill>
                <a:latin typeface="Aptos Mono"/>
                <a:ea typeface="Aptos Mono"/>
                <a:cs typeface="Aptos Mono"/>
              </a:defRPr>
            </a:pPr>
            <a:r>
              <a:rPr sz="1200" b="1">
                <a:solidFill>
                  <a:srgbClr val="2D6A4F"/>
                </a:solidFill>
                <a:latin typeface="Aptos Mono"/>
                <a:ea typeface="Aptos Mono"/>
                <a:cs typeface="Aptos Mono"/>
              </a:rPr>
              <a:t>RUTA AGRESIVA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55D8DC0-F675-4FC9-AF5C-1104359B8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95350"/>
            <a:ext cx="857250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rPr>
              <a:t>Python 3.11 no cambia todo el stack, pero si desbloquea los upgrades mas estructurales.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131D937-291A-439E-B267-0D1C5C8E9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019300"/>
            <a:ext cx="6858000" cy="396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DDD3C2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F90C5CA-E171-4CED-973B-6392B1DA1C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266950"/>
            <a:ext cx="4095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Comparacion directa entre la ruta 3.10 y la ruta 3.11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F66C8CA-17E9-4090-A3A8-0E1318F93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647950"/>
            <a:ext cx="1714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475569"/>
                </a:solidFill>
                <a:latin typeface="Aptos Mono"/>
                <a:ea typeface="Aptos Mono"/>
                <a:cs typeface="Aptos Mono"/>
              </a:defRPr>
            </a:pPr>
            <a:r>
              <a:rPr sz="1200" b="1">
                <a:solidFill>
                  <a:srgbClr val="475569"/>
                </a:solidFill>
                <a:latin typeface="Aptos Mono"/>
                <a:ea typeface="Aptos Mono"/>
                <a:cs typeface="Aptos Mono"/>
              </a:rPr>
              <a:t>Libreria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2FFBE35-F4B0-4DAB-8A31-7D34AC482F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2647950"/>
            <a:ext cx="1047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475569"/>
                </a:solidFill>
                <a:latin typeface="Aptos Mono"/>
                <a:ea typeface="Aptos Mono"/>
                <a:cs typeface="Aptos Mono"/>
              </a:defRPr>
            </a:pPr>
            <a:r>
              <a:rPr sz="1200" b="1">
                <a:solidFill>
                  <a:srgbClr val="475569"/>
                </a:solidFill>
                <a:latin typeface="Aptos Mono"/>
                <a:ea typeface="Aptos Mono"/>
                <a:cs typeface="Aptos Mono"/>
              </a:rPr>
              <a:t>3.10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891299D-6335-415F-BB96-C5D59FE2B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2647950"/>
            <a:ext cx="1047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475569"/>
                </a:solidFill>
                <a:latin typeface="Aptos Mono"/>
                <a:ea typeface="Aptos Mono"/>
                <a:cs typeface="Aptos Mono"/>
              </a:defRPr>
            </a:pPr>
            <a:r>
              <a:rPr sz="1200" b="1">
                <a:solidFill>
                  <a:srgbClr val="475569"/>
                </a:solidFill>
                <a:latin typeface="Aptos Mono"/>
                <a:ea typeface="Aptos Mono"/>
                <a:cs typeface="Aptos Mono"/>
              </a:rPr>
              <a:t>3.11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7B5D9DF-18C1-4429-96B3-0C11B42FD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2647950"/>
            <a:ext cx="1809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475569"/>
                </a:solidFill>
                <a:latin typeface="Aptos Mono"/>
                <a:ea typeface="Aptos Mono"/>
                <a:cs typeface="Aptos Mono"/>
              </a:defRPr>
            </a:pPr>
            <a:r>
              <a:rPr sz="1200" b="1">
                <a:solidFill>
                  <a:srgbClr val="475569"/>
                </a:solidFill>
                <a:latin typeface="Aptos Mono"/>
                <a:ea typeface="Aptos Mono"/>
                <a:cs typeface="Aptos Mono"/>
              </a:rPr>
              <a:t>Lectura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9D09ADA-42E2-4013-ABD7-952D4D553B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028950"/>
            <a:ext cx="1714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Python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ECE9245-5C67-4F99-AFE9-6D9EB95EE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3028950"/>
            <a:ext cx="1047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3.10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25A54A6-620D-4BEF-92C9-611F7E1CE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028950"/>
            <a:ext cx="1047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D6A4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2D6A4F"/>
                </a:solidFill>
                <a:latin typeface="Aptos"/>
                <a:ea typeface="Aptos"/>
                <a:cs typeface="Aptos"/>
              </a:rPr>
              <a:t>3.11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951177D-E526-490A-8211-27E493E21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3028950"/>
            <a:ext cx="1809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desbloquea ramas nuevas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F01DBEA-0CE0-41B8-BFD4-50B72256C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409950"/>
            <a:ext cx="1714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pandas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E8D3B0B-7C62-4B89-B9E7-B8927B9D0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3409950"/>
            <a:ext cx="1047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2.3.3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6767D1F-66EC-4CA2-8D3C-36F267705C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409950"/>
            <a:ext cx="1047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D6A4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2D6A4F"/>
                </a:solidFill>
                <a:latin typeface="Aptos"/>
                <a:ea typeface="Aptos"/>
                <a:cs typeface="Aptos"/>
              </a:rPr>
              <a:t>3.0.3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8EB9B7B-772C-4C6F-9FC4-6E07AD3F5C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3409950"/>
            <a:ext cx="1809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salto fuerte en tipado string y modernizacion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DB67848-98A6-4CEA-8A7F-F292C3A802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790950"/>
            <a:ext cx="1714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scikit-learn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C464D9A-2E39-4259-AF82-BB8E9FC10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3790950"/>
            <a:ext cx="1047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1.7.2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074F7F8-B4D4-42D7-9CEB-AE4AE9E0EC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790950"/>
            <a:ext cx="1047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D6A4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2D6A4F"/>
                </a:solidFill>
                <a:latin typeface="Aptos"/>
                <a:ea typeface="Aptos"/>
                <a:cs typeface="Aptos"/>
              </a:rPr>
              <a:t>1.9.0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3724F80-F12E-4AB0-BCD6-04B05577C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3790950"/>
            <a:ext cx="1809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callbacks y rama mas actual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1714046-6C77-4ADE-99A3-E5182B9389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171950"/>
            <a:ext cx="1714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scipy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C6750EE-5438-4C6C-A6BC-AF89CCA1C6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4171950"/>
            <a:ext cx="1047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1.15.3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BE7E09C-7658-4F0D-AC86-F559D4698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4171950"/>
            <a:ext cx="1047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D6A4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2D6A4F"/>
                </a:solidFill>
                <a:latin typeface="Aptos"/>
                <a:ea typeface="Aptos"/>
                <a:cs typeface="Aptos"/>
              </a:rPr>
              <a:t>1.17.1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43A94A5-0F78-480B-9956-AD3A230C44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4171950"/>
            <a:ext cx="1809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mas Array API y batching n-dimensional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DFA7E1E-71B5-4986-9FF0-4AA5EB9431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552950"/>
            <a:ext cx="1714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feature-engine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0FA078E-F7B4-455D-9724-21C4CECFA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4552950"/>
            <a:ext cx="1047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1.9.4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8FB1EFF-116C-4D68-B897-77A1C79034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4552950"/>
            <a:ext cx="1047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1.9.4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184C8C1-1462-4A87-B7C7-A4107E7E2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4552950"/>
            <a:ext cx="1809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queda estable en ambos mundos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61BF823-E667-46B2-BCE3-955C0E0ED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933950"/>
            <a:ext cx="1714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optbinning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4B0C754-7C11-46C3-83FA-41C660FEC0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4933950"/>
            <a:ext cx="1047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0.21.0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166B0AA-2324-46B3-A8E2-BD5B06A78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4933950"/>
            <a:ext cx="1047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0.21.0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D5E8D09A-4A77-492F-B564-059DEB2AE7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4933950"/>
            <a:ext cx="1809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sin cambio mayor de version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C42F6976-FA1B-4AFB-A807-D0E9574A2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314950"/>
            <a:ext cx="1714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xgboost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AFA52CA4-C8D6-47A2-80BD-F69BFBC70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5314950"/>
            <a:ext cx="1047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3.2.0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6E230D0-DC4D-487A-87EC-435A68ADA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5314950"/>
            <a:ext cx="1047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3.2.0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4FD2BEE1-1D3B-45A5-AB0E-B46FE47EFA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5314950"/>
            <a:ext cx="1809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se mantiene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EF52020C-9E54-409E-AC43-B8AED1751A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695950"/>
            <a:ext cx="1714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lightgbm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86B0DEB2-894A-4360-A336-20BFEFE70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5695950"/>
            <a:ext cx="1047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4.6.0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7261A548-8F12-4F5F-A139-289D8BE4B5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5695950"/>
            <a:ext cx="1047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4.6.0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9CF5EFE3-96EC-4EC6-854D-DB58C1ABA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5695950"/>
            <a:ext cx="1809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se mantiene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AD2EBAF9-1725-477E-8681-DA491B79E5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2019300"/>
            <a:ext cx="3905250" cy="396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7F1"/>
          </a:solidFill>
          <a:ln xmlns:a="http://schemas.openxmlformats.org/drawingml/2006/main" w="11430">
            <a:solidFill>
              <a:srgbClr val="DDD3C2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13A49C19-7372-4974-89B2-1A24673DC8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2266950"/>
            <a:ext cx="2952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Cuando si recomendaria Python 3.11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D1DC1AAE-7F5C-469B-BE95-F157F742AF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2762250"/>
            <a:ext cx="4953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6A4F"/>
          </a:solidFill>
          <a:ln xmlns:a="http://schemas.openxmlformats.org/drawingml/2006/main" w="0">
            <a:solidFill>
              <a:srgbClr val="2D6A4F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3F045EB3-235E-46D6-8698-802D57DBA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819400"/>
            <a:ext cx="3429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FFFDF8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FFFDF8"/>
                </a:solidFill>
                <a:latin typeface="Aptos Mono"/>
                <a:ea typeface="Aptos Mono"/>
                <a:cs typeface="Aptos Mono"/>
              </a:rPr>
              <a:t>SI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7257421F-6298-4D5F-9401-47CB4B7F0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2724150"/>
            <a:ext cx="25717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Quieres entrar a pandas 3.x.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69775C96-37C6-4284-8525-ABE0EAE323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3276600"/>
            <a:ext cx="4953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6A4F"/>
          </a:solidFill>
          <a:ln xmlns:a="http://schemas.openxmlformats.org/drawingml/2006/main" w="0">
            <a:solidFill>
              <a:srgbClr val="2D6A4F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05F98170-FEE2-48D3-9A4D-5432F78F29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3333750"/>
            <a:ext cx="3429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FFFDF8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FFFDF8"/>
                </a:solidFill>
                <a:latin typeface="Aptos Mono"/>
                <a:ea typeface="Aptos Mono"/>
                <a:cs typeface="Aptos Mono"/>
              </a:rPr>
              <a:t>SI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B08ACD70-59D2-479A-B8E1-9AD188BC0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3238500"/>
            <a:ext cx="25717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Quieres una rama mas actual de scikit-learn.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1175DF4C-811C-4A6E-B183-9551C1580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3790950"/>
            <a:ext cx="4953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6A4F"/>
          </a:solidFill>
          <a:ln xmlns:a="http://schemas.openxmlformats.org/drawingml/2006/main" w="0">
            <a:solidFill>
              <a:srgbClr val="2D6A4F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464DF42D-D846-41B8-9C5D-C6C166223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3848100"/>
            <a:ext cx="3429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FFFDF8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FFFDF8"/>
                </a:solidFill>
                <a:latin typeface="Aptos Mono"/>
                <a:ea typeface="Aptos Mono"/>
                <a:cs typeface="Aptos Mono"/>
              </a:rPr>
              <a:t>SI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A318A287-00AF-4F76-86E8-7DEA7EB5A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3752850"/>
            <a:ext cx="2571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Puedes absorber retesting de notebooks y pipelines.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E62B75C5-F6F5-46B3-A935-2A6651181B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4514850"/>
            <a:ext cx="4953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2318"/>
          </a:solidFill>
          <a:ln xmlns:a="http://schemas.openxmlformats.org/drawingml/2006/main" w="0">
            <a:solidFill>
              <a:srgbClr val="B42318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D31A96CE-241A-43FA-A885-48EC13267F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4572000"/>
            <a:ext cx="3429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FFFDF8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FFFDF8"/>
                </a:solidFill>
                <a:latin typeface="Aptos Mono"/>
                <a:ea typeface="Aptos Mono"/>
                <a:cs typeface="Aptos Mono"/>
              </a:rPr>
              <a:t>NO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8C0DE87B-8612-4587-8410-F6ACA08AC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4476750"/>
            <a:ext cx="2571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Si el objetivo inmediato es solo estabilidad sin tocar runtime.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3A6E2BFC-FF41-4E51-A653-A32B9103F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34150"/>
            <a:ext cx="10477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B7280"/>
                </a:solidFill>
                <a:latin typeface="Aptos"/>
                <a:ea typeface="Aptos"/>
                <a:cs typeface="Aptos"/>
              </a:rPr>
              <a:t>Python 3.11 vale la pena cuando se quiere desbloquear modernizacion estructural.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57DE8E2A-1964-48DE-8F15-21440BDF3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96050"/>
            <a:ext cx="381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C75C2A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C75C2A"/>
                </a:solidFill>
                <a:latin typeface="Aptos Mono"/>
                <a:ea typeface="Aptos Mono"/>
                <a:cs typeface="Aptos Mono"/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543760889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52300D3-F2A2-4156-833E-73B931B49F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0E8"/>
          </a:solidFill>
          <a:ln xmlns:a="http://schemas.openxmlformats.org/drawingml/2006/main" w="0">
            <a:solidFill>
              <a:srgbClr val="F4F0E8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BA145C9-60DD-44BA-A95E-1611644D9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38150"/>
            <a:ext cx="18097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2318"/>
          </a:solidFill>
          <a:ln xmlns:a="http://schemas.openxmlformats.org/drawingml/2006/main" w="0">
            <a:solidFill>
              <a:srgbClr val="B42318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4787A1D-9338-43DE-8DE1-C2EDA12D55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90550"/>
            <a:ext cx="3429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B42318"/>
                </a:solidFill>
                <a:latin typeface="Aptos Mono"/>
                <a:ea typeface="Aptos Mono"/>
                <a:cs typeface="Aptos Mono"/>
              </a:defRPr>
            </a:pPr>
            <a:r>
              <a:rPr sz="1200" b="1">
                <a:solidFill>
                  <a:srgbClr val="B42318"/>
                </a:solidFill>
                <a:latin typeface="Aptos Mono"/>
                <a:ea typeface="Aptos Mono"/>
                <a:cs typeface="Aptos Mono"/>
              </a:rPr>
              <a:t>TRADEOFF REAL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08DAB7B-CDD8-405E-9212-3AE5F382D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95350"/>
            <a:ext cx="857250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rPr>
              <a:t>El punto donde aparece conflicto no es el boosting. Es la convivencia entre pandas 3.x y scikit-llm.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02985B6-AAEC-4DE7-BD59-F2340D1E5A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114550"/>
            <a:ext cx="5143500" cy="3352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DDD3C2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1A3014C-3340-44EE-9007-B1C0B6726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43150"/>
            <a:ext cx="2476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Lo que si se pudo validar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CC13CB4-D7E4-4A0F-926E-455E8C3082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8765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6A4F"/>
          </a:solidFill>
          <a:ln xmlns:a="http://schemas.openxmlformats.org/drawingml/2006/main" w="0">
            <a:solidFill>
              <a:srgbClr val="2D6A4F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227DF92-9CA5-4101-ACF3-B1D87D7AA8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800350"/>
            <a:ext cx="40957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Python 3.11 + pandas 3.0.3 + scikit-learn 1.9.0 instala e importa bien.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3990C9C-76E2-47DE-B483-DCC19AF40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5242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6A4F"/>
          </a:solidFill>
          <a:ln xmlns:a="http://schemas.openxmlformats.org/drawingml/2006/main" w="0">
            <a:solidFill>
              <a:srgbClr val="2D6A4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D534124-A7C2-4F23-A1BD-AB4280F683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448050"/>
            <a:ext cx="40957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Python 3.11 + scikit-llm 1.4.3 instala e importa bien si se queda en pandas 2.3.3.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8209159-1AA2-4F73-8E48-803AA0631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1719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6A4F"/>
          </a:solidFill>
          <a:ln xmlns:a="http://schemas.openxmlformats.org/drawingml/2006/main" w="0">
            <a:solidFill>
              <a:srgbClr val="2D6A4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C7AEE01-EC4E-4CBD-8476-6E1319D28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095750"/>
            <a:ext cx="40957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Python 3.10 sigue siendo una ruta completamente viable y estable.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CEE337C-BDC8-4CBA-82C5-69447C5BA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2114550"/>
            <a:ext cx="5619750" cy="3352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7F5"/>
          </a:solidFill>
          <a:ln xmlns:a="http://schemas.openxmlformats.org/drawingml/2006/main" w="11430">
            <a:solidFill>
              <a:srgbClr val="F2C2B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AF50190-0F8D-4653-99A3-EC3E1A208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2343150"/>
            <a:ext cx="2095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B42318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B42318"/>
                </a:solidFill>
                <a:latin typeface="Aptos"/>
                <a:ea typeface="Aptos"/>
                <a:cs typeface="Aptos"/>
              </a:rPr>
              <a:t>Lo que no convive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900E5B8-2CA9-4348-AFAA-511E098D6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800350"/>
            <a:ext cx="476250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rPr>
              <a:t>scikit-llm 1.4.3 depende de pandas &lt; 3.0.0.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80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rPr>
              <a:t>Eso impide mezclarlo con la ruta agresiva basada en pandas 3.x dentro del mismo entorno.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992A17E-928D-4FD7-8B5E-F635DB3B67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114800"/>
            <a:ext cx="47625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Ademas, en la prueba real el entorno con scikit-llm cambio dependencias transitivas del stack base. No rompe todo, pero vuelve el entorno menos limpio y mas pesado.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39D6214-365C-45C9-9653-2D3E01BA4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753100"/>
            <a:ext cx="110680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A43"/>
          </a:solidFill>
          <a:ln xmlns:a="http://schemas.openxmlformats.org/drawingml/2006/main" w="0">
            <a:solidFill>
              <a:srgbClr val="102A43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35B8D15-8D07-4EF4-82F8-01C5BAA92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905500"/>
            <a:ext cx="10572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FFDF8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FFFDF8"/>
                </a:solidFill>
                <a:latin typeface="Aptos Display"/>
                <a:ea typeface="Aptos Display"/>
                <a:cs typeface="Aptos Display"/>
              </a:rPr>
              <a:t>Recomendacion operativa: separar el entorno base DS del entorno opcional LLM.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71073FE-9A31-4A18-AC29-FB55178AD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34150"/>
            <a:ext cx="10477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B7280"/>
                </a:solidFill>
                <a:latin typeface="Aptos"/>
                <a:ea typeface="Aptos"/>
                <a:cs typeface="Aptos"/>
              </a:rPr>
              <a:t>La mejor convivencia tecnica es separar stack base y stack LLM.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DCF5C8A-0990-4F8F-B798-119CC116B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96050"/>
            <a:ext cx="381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C75C2A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C75C2A"/>
                </a:solidFill>
                <a:latin typeface="Aptos Mono"/>
                <a:ea typeface="Aptos Mono"/>
                <a:cs typeface="Aptos Mono"/>
              </a:rPr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2061043336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3066570-6F60-4BF8-9B25-0DA96171F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0E8"/>
          </a:solidFill>
          <a:ln xmlns:a="http://schemas.openxmlformats.org/drawingml/2006/main" w="0">
            <a:solidFill>
              <a:srgbClr val="F4F0E8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228DE2B-B7D3-4221-B0BE-D052659B9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38150"/>
            <a:ext cx="18097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6A4F"/>
          </a:solidFill>
          <a:ln xmlns:a="http://schemas.openxmlformats.org/drawingml/2006/main" w="0">
            <a:solidFill>
              <a:srgbClr val="2D6A4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6834563-013E-42CE-8A67-A4888A06F3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90550"/>
            <a:ext cx="3429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2D6A4F"/>
                </a:solidFill>
                <a:latin typeface="Aptos Mono"/>
                <a:ea typeface="Aptos Mono"/>
                <a:cs typeface="Aptos Mono"/>
              </a:defRPr>
            </a:pPr>
            <a:r>
              <a:rPr sz="1200" b="1">
                <a:solidFill>
                  <a:srgbClr val="2D6A4F"/>
                </a:solidFill>
                <a:latin typeface="Aptos Mono"/>
                <a:ea typeface="Aptos Mono"/>
                <a:cs typeface="Aptos Mono"/>
              </a:rPr>
              <a:t>CAPAS LLM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3E545BA-E350-45E4-8CEB-3C19B2ACFA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95350"/>
            <a:ext cx="857250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rPr>
              <a:t>Las librerias LLM utiles no reemplazan el stack clasico. Entran como capas opcionales y con reglas distintas.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08C6E56-84F7-4C4B-963B-8EEF563114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038350"/>
            <a:ext cx="3543300" cy="3733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DDD3C2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167A98B-7D67-4769-B87E-241FC0728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266950"/>
            <a:ext cx="1714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scikit-llm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600483F-6CBC-4121-8199-53D7CE6E8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7813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6A4F"/>
          </a:solidFill>
          <a:ln xmlns:a="http://schemas.openxmlformats.org/drawingml/2006/main" w="0">
            <a:solidFill>
              <a:srgbClr val="2D6A4F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980A48C-9674-44F0-B343-FEFA9DD33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705100"/>
            <a:ext cx="27241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Estimadores estilo sklearn para tareas de texto con LLM.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4E73C58-47FA-409F-B942-22702B9EE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3147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6A4F"/>
          </a:solidFill>
          <a:ln xmlns:a="http://schemas.openxmlformats.org/drawingml/2006/main" w="0">
            <a:solidFill>
              <a:srgbClr val="2D6A4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88FC661-55E0-499E-B2BC-94A9A972FC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238500"/>
            <a:ext cx="27241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Ganancia: interfaz familiar para equipos que ya viven en pipelines sklearn.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85712E5-272E-439F-892F-2CB82F13A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8481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6A4F"/>
          </a:solidFill>
          <a:ln xmlns:a="http://schemas.openxmlformats.org/drawingml/2006/main" w="0">
            <a:solidFill>
              <a:srgbClr val="2D6A4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F487B1B-E86B-47D0-BC0D-7621A4D760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771900"/>
            <a:ext cx="27241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Tradeoff: obliga a quedarse en pandas 2.x y trae dependencias cloud pesadas.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D66043F-C7E7-4F0D-B44B-DA2605E9B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457700"/>
            <a:ext cx="27241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Lectura:</a:t>
            </a:r>
          </a:p>
          <a:p xmlns:a="http://schemas.openxmlformats.org/drawingml/2006/main">
            <a:pPr algn="l">
              <a:defRPr sz="135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si se quiere probar, conviene dejarlo en un entorno LLM separado del base DS.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2B4BB32-2D0E-4627-B6AC-7980C224A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2038350"/>
            <a:ext cx="3543300" cy="3733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DDD3C2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7459190-F39D-471B-B66B-18C03F1ADF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2266950"/>
            <a:ext cx="15240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PandasAI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74EB6D2-097F-4F2F-A6D4-B6D20EDF9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7813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7A3F"/>
          </a:solidFill>
          <a:ln xmlns:a="http://schemas.openxmlformats.org/drawingml/2006/main" w="0">
            <a:solidFill>
              <a:srgbClr val="E07A3F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8CDA86A-9811-4694-9170-0CFA4C72AD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2705100"/>
            <a:ext cx="27241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Capa conversacional sobre dataframes para analisis en lenguaje natural.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E5767B8-1E5A-4BFC-A7FA-F12E268003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33147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7A3F"/>
          </a:solidFill>
          <a:ln xmlns:a="http://schemas.openxmlformats.org/drawingml/2006/main" w="0">
            <a:solidFill>
              <a:srgbClr val="E07A3F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8BF0F08-908E-4A43-B0F2-92CBFDDCC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3238500"/>
            <a:ext cx="27241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Ganancia: baja barrera para exploracion ad hoc y autoservicio.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8779D56-60C3-4A55-9E2A-C521D45678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38481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7A3F"/>
          </a:solidFill>
          <a:ln xmlns:a="http://schemas.openxmlformats.org/drawingml/2006/main" w="0">
            <a:solidFill>
              <a:srgbClr val="E07A3F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18398ED-6C32-43B3-82A9-1ED5DC4525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3771900"/>
            <a:ext cx="27241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Tradeoff real: pandasai 3.0.0 fija scipy 1.10.1 y choca con el stack moderno.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4F62FF7-FEAD-46EC-9D06-1E3FA3E9B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4457700"/>
            <a:ext cx="27241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Lectura:</a:t>
            </a:r>
          </a:p>
          <a:p xmlns:a="http://schemas.openxmlformats.org/drawingml/2006/main">
            <a:pPr algn="l">
              <a:defRPr sz="135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interesante para demos o analisis guiado, no para meterlo hoy al entorno base.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203C6BD-483F-4ED5-BB8E-1A9181FAFB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038350"/>
            <a:ext cx="3524250" cy="3733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DDD3C2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DB038C5-6C12-4FF7-ABE9-B12825BE2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2266950"/>
            <a:ext cx="1333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Optuna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A82377B-90C1-4F0C-904B-FCF1DCE4AA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27813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A43"/>
          </a:solidFill>
          <a:ln xmlns:a="http://schemas.openxmlformats.org/drawingml/2006/main" w="0">
            <a:solidFill>
              <a:srgbClr val="102A43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9B46442-03C5-4E41-A956-B99A52B452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2705100"/>
            <a:ext cx="27241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No es libreria LLM, pero si sirve para tunear prompts, thresholds y retrieval.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40DCAE4-80CD-4A86-B16C-DCD03D5CF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33147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A43"/>
          </a:solidFill>
          <a:ln xmlns:a="http://schemas.openxmlformats.org/drawingml/2006/main" w="0">
            <a:solidFill>
              <a:srgbClr val="102A43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4AB8456-5A0F-4A46-8490-DD2E64830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3238500"/>
            <a:ext cx="27241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Ganancia: convierte heuristicas de workflow LLM en experimentos reproducibles.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1E26D81-8D69-4794-8578-8B425F21F2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38481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A43"/>
          </a:solidFill>
          <a:ln xmlns:a="http://schemas.openxmlformats.org/drawingml/2006/main" w="0">
            <a:solidFill>
              <a:srgbClr val="102A43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2B0EB36-4E00-432D-9152-09A384A383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3771900"/>
            <a:ext cx="27241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Tradeoff: exige metricas objetivas; no resuelve grounding por si sola.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12611EB-60B3-47A8-B953-36D71923C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4457700"/>
            <a:ext cx="2724150" cy="1009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Ejemplo DS:</a:t>
            </a:r>
          </a:p>
          <a:p xmlns:a="http://schemas.openxmlformats.org/drawingml/2006/main">
            <a:pPr algn="l">
              <a:defRPr sz="1275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clasificar transcripciones de llamadas ajustando prompt template, temperatura y threshold contra etiquetas historicas.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1B10EE3-6FCD-4543-95FF-9E610845B0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00750"/>
            <a:ext cx="110680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DBC8"/>
          </a:solidFill>
          <a:ln xmlns:a="http://schemas.openxmlformats.org/drawingml/2006/main" w="0">
            <a:solidFill>
              <a:srgbClr val="DDD3C2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55FA5FA-302C-4398-A654-1F2C0E1E9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105525"/>
            <a:ext cx="10572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Mensaje clave: la oportunidad real no es meter todo en un solo entorno; es aislar la capa LLM y medir su valor.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40D079A-0C47-451E-B316-BC5AE8CAE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34150"/>
            <a:ext cx="10477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B7280"/>
                </a:solidFill>
                <a:latin typeface="Aptos"/>
                <a:ea typeface="Aptos"/>
                <a:cs typeface="Aptos"/>
              </a:rPr>
              <a:t>Capas LLM evaluadas como opcionales, no como reemplazo del stack base.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09250BDE-E916-4429-B2E3-01C00D51ED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96050"/>
            <a:ext cx="381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C75C2A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C75C2A"/>
                </a:solidFill>
                <a:latin typeface="Aptos Mono"/>
                <a:ea typeface="Aptos Mono"/>
                <a:cs typeface="Aptos Mono"/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1537468161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7BE3947-D45C-4943-87C2-FB6ABE6F8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0E8"/>
          </a:solidFill>
          <a:ln xmlns:a="http://schemas.openxmlformats.org/drawingml/2006/main" w="0">
            <a:solidFill>
              <a:srgbClr val="F4F0E8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41F85C0-2598-42D9-A234-B1BD271AD8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38150"/>
            <a:ext cx="18097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5C2A"/>
          </a:solidFill>
          <a:ln xmlns:a="http://schemas.openxmlformats.org/drawingml/2006/main" w="0">
            <a:solidFill>
              <a:srgbClr val="C75C2A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1E37E1B-AA16-4248-A8B9-863FEB9AD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90550"/>
            <a:ext cx="3429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C75C2A"/>
                </a:solidFill>
                <a:latin typeface="Aptos Mono"/>
                <a:ea typeface="Aptos Mono"/>
                <a:cs typeface="Aptos Mono"/>
              </a:defRPr>
            </a:pPr>
            <a:r>
              <a:rPr sz="1200" b="1">
                <a:solidFill>
                  <a:srgbClr val="C75C2A"/>
                </a:solidFill>
                <a:latin typeface="Aptos Mono"/>
                <a:ea typeface="Aptos Mono"/>
                <a:cs typeface="Aptos Mono"/>
              </a:rPr>
              <a:t>RECOMENDACION FINAL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5C99FA7-F3B6-42E6-82A6-451E8400DD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95350"/>
            <a:ext cx="857250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rPr>
              <a:t>La decision correcta depende del apetito de cambio, pero la ruta por defecto deberia ser clara.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4965D36-9DF4-4D53-A88F-AE6B41EF1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66950"/>
            <a:ext cx="3295650" cy="3238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A43"/>
          </a:solidFill>
          <a:ln xmlns:a="http://schemas.openxmlformats.org/drawingml/2006/main" w="11430">
            <a:solidFill>
              <a:srgbClr val="35536E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EE6B73E-A58A-4863-8C91-919E10F81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514600"/>
            <a:ext cx="1047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7A3F"/>
          </a:solidFill>
          <a:ln xmlns:a="http://schemas.openxmlformats.org/drawingml/2006/main" w="0">
            <a:solidFill>
              <a:srgbClr val="E07A3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591922C-A079-45AD-80F2-1322F5C24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571750"/>
            <a:ext cx="8953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02A43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102A43"/>
                </a:solidFill>
                <a:latin typeface="Aptos Mono"/>
                <a:ea typeface="Aptos Mono"/>
                <a:cs typeface="Aptos Mono"/>
              </a:rPr>
              <a:t>RECOMENDADO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890DA3A-8A1C-498E-89F9-49ECA1ED7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009900"/>
            <a:ext cx="22860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FFFDF8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FFFDF8"/>
                </a:solidFill>
                <a:latin typeface="Aptos"/>
                <a:ea typeface="Aptos"/>
                <a:cs typeface="Aptos"/>
              </a:rPr>
              <a:t>Camino seguro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C987458-EF13-481F-B499-F15AB5AD40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524250"/>
            <a:ext cx="2762250" cy="1466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D9E2EC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D9E2EC"/>
                </a:solidFill>
                <a:latin typeface="Aptos"/>
                <a:ea typeface="Aptos"/>
                <a:cs typeface="Aptos"/>
              </a:rPr>
              <a:t>Mantener Python 3.10.</a:t>
            </a:r>
          </a:p>
          <a:p xmlns:a="http://schemas.openxmlformats.org/drawingml/2006/main">
            <a:pPr algn="l">
              <a:defRPr sz="1575" b="0">
                <a:solidFill>
                  <a:srgbClr val="D9E2EC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D9E2EC"/>
                </a:solidFill>
                <a:latin typeface="Aptos"/>
                <a:ea typeface="Aptos"/>
                <a:cs typeface="Aptos"/>
              </a:rPr>
              <a:t>Subir a pandas 2.3.3, scikit-learn 1.7.2, scipy 1.15.3 y el resto del stack validado.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0">
                <a:solidFill>
                  <a:srgbClr val="D9E2EC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D9E2EC"/>
                </a:solidFill>
                <a:latin typeface="Aptos"/>
                <a:ea typeface="Aptos"/>
                <a:cs typeface="Aptos"/>
              </a:rPr>
              <a:t>Beneficio: modernizacion real con riesgo acotado.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901A09B-8C64-4C66-BB24-2B2AAC7B8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2266950"/>
            <a:ext cx="3295650" cy="3238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DDD3C2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4981E25-7C73-4252-91DD-028A5189F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514600"/>
            <a:ext cx="1047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6A4F"/>
          </a:solidFill>
          <a:ln xmlns:a="http://schemas.openxmlformats.org/drawingml/2006/main" w="0">
            <a:solidFill>
              <a:srgbClr val="2D6A4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8215E2E-26C1-4B58-88B9-C4E2893F0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2571750"/>
            <a:ext cx="8953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FFFDF8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FFFDF8"/>
                </a:solidFill>
                <a:latin typeface="Aptos Mono"/>
                <a:ea typeface="Aptos Mono"/>
                <a:cs typeface="Aptos Mono"/>
              </a:rPr>
              <a:t>AGRESIVO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E0EDA86-6080-480F-BE58-28827646E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3009900"/>
            <a:ext cx="22860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Camino estrategico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108B3AA-1F1D-4A44-BFED-C1393F6B8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3524250"/>
            <a:ext cx="2762250" cy="1466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Migrar a Python 3.11.</a:t>
            </a:r>
          </a:p>
          <a:p xmlns:a="http://schemas.openxmlformats.org/drawingml/2006/main">
            <a:pPr algn="l">
              <a:defRPr sz="1575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Entrar a pandas 3.0.3, scikit-learn 1.9.0 y scipy 1.17.1.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Beneficio: alinearse con el stack moderno del ecosistema.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FC2C487-55AA-4D0D-94F4-B1A7DC1618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2266950"/>
            <a:ext cx="3295650" cy="3238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7F1"/>
          </a:solidFill>
          <a:ln xmlns:a="http://schemas.openxmlformats.org/drawingml/2006/main" w="11430">
            <a:solidFill>
              <a:srgbClr val="DDD3C2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EA8FFA6-A437-483F-AF97-662A2D88F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514600"/>
            <a:ext cx="1047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2318"/>
          </a:solidFill>
          <a:ln xmlns:a="http://schemas.openxmlformats.org/drawingml/2006/main" w="0">
            <a:solidFill>
              <a:srgbClr val="B4231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92D6FB9-E426-4F68-91B7-09D047E8F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571750"/>
            <a:ext cx="8953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FFFDF8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FFFDF8"/>
                </a:solidFill>
                <a:latin typeface="Aptos Mono"/>
                <a:ea typeface="Aptos Mono"/>
                <a:cs typeface="Aptos Mono"/>
              </a:rPr>
              <a:t>LLM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3DB8738-8C3F-4208-90EE-C5D72E2CE4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3009900"/>
            <a:ext cx="22860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Camino hibrido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CF5A28C-AF46-4517-AE1F-24879E4562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3524250"/>
            <a:ext cx="2762250" cy="1466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Separar entorno base y entorno LLM.</a:t>
            </a:r>
          </a:p>
          <a:p xmlns:a="http://schemas.openxmlformats.org/drawingml/2006/main">
            <a:pPr algn="l">
              <a:defRPr sz="1575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Dejar scikit-llm fuera del stack principal.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Beneficio: menos conflicto, menos peso y mejor gobernanza del entorno.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34276C6-D822-4B8A-93D5-13E96F956F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924550"/>
            <a:ext cx="110680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DBC8"/>
          </a:solidFill>
          <a:ln xmlns:a="http://schemas.openxmlformats.org/drawingml/2006/main" w="0">
            <a:solidFill>
              <a:srgbClr val="DDD3C2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FEA3314-ADFF-4A2F-B311-45147031D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057900"/>
            <a:ext cx="10572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rPr>
              <a:t>Mi recomendacion: aprobar ya la modernizacion de Python 3.10 y tratar Python 3.11 como siguiente paso estrategico.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89E66E4-9177-46D4-B58A-C5FC48BBA0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34150"/>
            <a:ext cx="10477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B7280"/>
                </a:solidFill>
                <a:latin typeface="Aptos"/>
                <a:ea typeface="Aptos"/>
                <a:cs typeface="Aptos"/>
              </a:rPr>
              <a:t>Primero upgrade estable. Luego, si hay apetito, salto de runtime.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4760D6E-D527-480E-83F2-AFB9F4774D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96050"/>
            <a:ext cx="381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C75C2A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C75C2A"/>
                </a:solidFill>
                <a:latin typeface="Aptos Mono"/>
                <a:ea typeface="Aptos Mono"/>
                <a:cs typeface="Aptos Mono"/>
              </a:rPr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611091721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14c7990b6f5459c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BBDBE39-18DC-4D39-BBDA-85967DCB2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66675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1321">
              <a:alpha val="80000"/>
            </a:srgbClr>
          </a:solidFill>
          <a:ln xmlns:a="http://schemas.openxmlformats.org/drawingml/2006/main" w="0">
            <a:solidFill>
              <a:srgbClr val="081321">
                <a:alpha val="8000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7BB9349-C351-4FFF-AEB1-7AE90AAA3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00100"/>
            <a:ext cx="2476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F3C8B3"/>
                </a:solidFill>
                <a:latin typeface="Aptos Mono"/>
                <a:ea typeface="Aptos Mono"/>
                <a:cs typeface="Aptos Mono"/>
              </a:defRPr>
            </a:pPr>
            <a:r>
              <a:rPr sz="1125" b="1">
                <a:solidFill>
                  <a:srgbClr val="F3C8B3"/>
                </a:solidFill>
                <a:latin typeface="Aptos Mono"/>
                <a:ea typeface="Aptos Mono"/>
                <a:cs typeface="Aptos Mono"/>
              </a:rPr>
              <a:t>CIERRE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BD27C8D-EF94-4D23-8EF8-CB0450A17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90650"/>
            <a:ext cx="4953000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FFFDF8"/>
                </a:solidFill>
                <a:latin typeface="Aptos Display"/>
                <a:ea typeface="Aptos Display"/>
                <a:cs typeface="Aptos Display"/>
              </a:defRPr>
            </a:pPr>
            <a:r>
              <a:rPr sz="3300" b="1">
                <a:solidFill>
                  <a:srgbClr val="FFFDF8"/>
                </a:solidFill>
                <a:latin typeface="Aptos Display"/>
                <a:ea typeface="Aptos Display"/>
                <a:cs typeface="Aptos Display"/>
              </a:rPr>
              <a:t>Although practicality beats purity.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A3E19A4-B51E-4670-AB73-3CEBF42C55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448050"/>
            <a:ext cx="495300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D9E2EC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D9E2EC"/>
                </a:solidFill>
                <a:latin typeface="Aptos"/>
                <a:ea typeface="Aptos"/>
                <a:cs typeface="Aptos"/>
              </a:rPr>
              <a:t>La mejor evolucion del stack no es perseguir la version mas nueva por reflejo. Es elegir el cambio que entrega mas valor con el riesgo correcto.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C0E65DD-71B5-4AAD-9C60-15EB43BEA6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143500"/>
            <a:ext cx="4953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3C8B3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F3C8B3"/>
                </a:solidFill>
                <a:latin typeface="Aptos"/>
                <a:ea typeface="Aptos"/>
                <a:cs typeface="Aptos"/>
              </a:rPr>
              <a:t>Tim Peters, The Zen of Python (PEP 20)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80E3B27-5BE6-47B2-9328-89A204E88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34150"/>
            <a:ext cx="10477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B7280"/>
                </a:solidFill>
                <a:latin typeface="Aptos"/>
                <a:ea typeface="Aptos"/>
                <a:cs typeface="Aptos"/>
              </a:rPr>
              <a:t>Cita verificada en PEP 20: The Zen of Python.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C3F67CF-EB31-46D8-8D78-DE276F6ED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96050"/>
            <a:ext cx="381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C75C2A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C75C2A"/>
                </a:solidFill>
                <a:latin typeface="Aptos Mono"/>
                <a:ea typeface="Aptos Mono"/>
                <a:cs typeface="Aptos Mono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8100607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2026-06-02T18:14:17.7350000Z</dcterms:created>
  <dcterms:modified xsi:type="dcterms:W3CDTF">2026-06-02T18:14:17.7350000Z</dcterms:modified>
</coreProperties>
</file>